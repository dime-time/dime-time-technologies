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84367" y="1828800"/>
            <a:ext cx="822960" cy="822960"/>
          </a:xfrm>
          <a:prstGeom prst="ellips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84367" y="182880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Inter"/>
              </a:rPr>
              <a:t>$</a:t>
            </a:r>
          </a:p>
        </p:txBody>
      </p:sp>
      <p:sp>
        <p:nvSpPr>
          <p:cNvPr id="4" name="Oval 3"/>
          <p:cNvSpPr/>
          <p:nvPr/>
        </p:nvSpPr>
        <p:spPr>
          <a:xfrm>
            <a:off x="5565495" y="1664208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94678" y="1664208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spc="4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spc="600">
                <a:solidFill>
                  <a:srgbClr val="FFFFFF"/>
                </a:solidFill>
                <a:latin typeface="Inter"/>
              </a:rPr>
              <a:t>PATENT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4846320"/>
            <a:ext cx="2286000" cy="12700"/>
          </a:xfrm>
          <a:prstGeom prst="rect">
            <a:avLst/>
          </a:prstGeom>
          <a:solidFill>
            <a:srgbClr val="E6E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E6E5FA"/>
                </a:solidFill>
                <a:latin typeface="Inter"/>
              </a:rPr>
              <a:t>Investor summary of the Dime Time provisional patent.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Tim Carlisle  ·  Founder &amp; CEO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spc="200">
                <a:solidFill>
                  <a:srgbClr val="E6E5FA"/>
                </a:solidFill>
                <a:latin typeface="Inter"/>
              </a:rPr>
              <a:t>dime-time.com  ·  tim@dime-time.com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THE INVENTION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Dual-Split, Multi-Destination Round-Up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USPTO provisional patent — drafted and ready for filing.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57600"/>
            <a:ext cx="3611880" cy="2011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A financial automation engine that splits transaction round-ups across multiple destinations.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657600"/>
            <a:ext cx="3611880" cy="2011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39776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WHO IT'S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43484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Consumers carrying debt who also want to build long-term assets — without changing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3657600"/>
            <a:ext cx="3611880" cy="2011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9776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434840"/>
            <a:ext cx="2880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Inter"/>
              </a:rPr>
              <a:t>First system to convert everyday spending into simultaneous debt reduction and asset acquisition.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Consumers Are Forced to Choose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Existing tools handle one financial goal at a time. Real life isn't that simple.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337560"/>
            <a:ext cx="5394960" cy="26974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47548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E6E5FA"/>
                </a:solidFill>
                <a:latin typeface="Inter"/>
              </a:rPr>
              <a:t>•  Round-up apps send change to one place — savings or stocks.</a:t>
            </a:r>
          </a:p>
          <a:p>
            <a:pPr algn="l"/>
            <a:r>
              <a:rPr sz="1400" b="0">
                <a:solidFill>
                  <a:srgbClr val="E6E5FA"/>
                </a:solidFill>
                <a:latin typeface="Inter"/>
              </a:rPr>
              <a:t>•  Debt apps focus only on payoff — assets are ignored.</a:t>
            </a:r>
          </a:p>
          <a:p>
            <a:pPr algn="l"/>
            <a:r>
              <a:rPr sz="1400" b="0">
                <a:solidFill>
                  <a:srgbClr val="E6E5FA"/>
                </a:solidFill>
                <a:latin typeface="Inter"/>
              </a:rPr>
              <a:t>•  Crypto apps ignore the debt sitting on the credit card.</a:t>
            </a:r>
          </a:p>
          <a:p>
            <a:pPr algn="l"/>
            <a:r>
              <a:rPr sz="1400" b="0">
                <a:solidFill>
                  <a:srgbClr val="E6E5FA"/>
                </a:solidFill>
                <a:latin typeface="Inter"/>
              </a:rPr>
              <a:t>•  Users must pick one — and usually pick neither.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37560"/>
            <a:ext cx="5394960" cy="26974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6118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WHAT'S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114800"/>
            <a:ext cx="47548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Inter"/>
              </a:rPr>
              <a:t>•  A single engine that splits round-ups across destinations.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Inter"/>
              </a:rPr>
              <a:t>•  User-controlled allocation across debt AND assets.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Inter"/>
              </a:rPr>
              <a:t>•  Real-time orchestration with idempotent execution.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Inter"/>
              </a:rPr>
              <a:t>•  A reconciliation ledger tracking every micro-transfer.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THE 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One Engine. Two Goals. Every Transaction.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The patent covers a system that turns spare change into simultaneous debt reduction and asset growth.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3337560"/>
            <a:ext cx="9262872" cy="219456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703320"/>
            <a:ext cx="81655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A computerized microallocation system that detects user transactions, calculates round-up amounts,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applies a user-controlled allocation vector, and routes the resulting funds across multiple</a:t>
            </a:r>
          </a:p>
          <a:p>
            <a:pPr algn="ctr"/>
            <a:r>
              <a:rPr sz="1800" b="0">
                <a:solidFill>
                  <a:srgbClr val="FFFFFF"/>
                </a:solidFill>
                <a:latin typeface="Inter"/>
              </a:rPr>
              <a:t>financial destinations — including debt repayment and digital asset acquisition —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From Coffee to Capital in Four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The engine runs passively in the background — no behavior change required.</a:t>
            </a:r>
          </a:p>
        </p:txBody>
      </p:sp>
      <p:sp>
        <p:nvSpPr>
          <p:cNvPr id="6" name="Oval 5"/>
          <p:cNvSpPr/>
          <p:nvPr/>
        </p:nvSpPr>
        <p:spPr>
          <a:xfrm>
            <a:off x="1348740" y="32918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8740" y="3291840"/>
            <a:ext cx="777240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6F6CD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Transaction 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5488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6E5FA"/>
                </a:solidFill>
                <a:latin typeface="Inter"/>
              </a:rPr>
              <a:t>Plaid streams every purchase as it posts.</a:t>
            </a:r>
          </a:p>
        </p:txBody>
      </p:sp>
      <p:sp>
        <p:nvSpPr>
          <p:cNvPr id="10" name="Oval 9"/>
          <p:cNvSpPr/>
          <p:nvPr/>
        </p:nvSpPr>
        <p:spPr>
          <a:xfrm>
            <a:off x="4253484" y="32918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3484" y="3291840"/>
            <a:ext cx="777240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6F6CD9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384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Round-Up Calculated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3384" y="475488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6E5FA"/>
                </a:solidFill>
                <a:latin typeface="Inter"/>
              </a:rPr>
              <a:t>Engine computes delta to next whole dollar.</a:t>
            </a:r>
          </a:p>
        </p:txBody>
      </p:sp>
      <p:sp>
        <p:nvSpPr>
          <p:cNvPr id="14" name="Oval 13"/>
          <p:cNvSpPr/>
          <p:nvPr/>
        </p:nvSpPr>
        <p:spPr>
          <a:xfrm>
            <a:off x="7158228" y="32918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8228" y="3291840"/>
            <a:ext cx="777240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6F6CD9"/>
                </a:solidFill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8128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Allocation Applied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8128" y="475488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6E5FA"/>
                </a:solidFill>
                <a:latin typeface="Inter"/>
              </a:rPr>
              <a:t>User's vector splits the round-up — e.g., 80/20.</a:t>
            </a:r>
          </a:p>
        </p:txBody>
      </p:sp>
      <p:sp>
        <p:nvSpPr>
          <p:cNvPr id="18" name="Oval 17"/>
          <p:cNvSpPr/>
          <p:nvPr/>
        </p:nvSpPr>
        <p:spPr>
          <a:xfrm>
            <a:off x="10062972" y="3291840"/>
            <a:ext cx="777240" cy="7772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62972" y="3291840"/>
            <a:ext cx="777240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6F6CD9"/>
                </a:solidFill>
                <a:latin typeface="Inter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Inter"/>
              </a:rPr>
              <a:t>Routed to Destinations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4754880"/>
            <a:ext cx="2377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6E5FA"/>
                </a:solidFill>
                <a:latin typeface="Inter"/>
              </a:rPr>
              <a:t>ACH to debt, Coinbase to crypto. Logged in ledger.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94560.0" y="3680460.0"/>
            <a:ext cx="1990344.0" cy="0.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99304.0" y="3680460.0"/>
            <a:ext cx="1990344.0" cy="0.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04048.0" y="3680460.0"/>
            <a:ext cx="1990344.0" cy="0.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Idempotent orchestration — no duplicate executions, no missed transfers.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The End-to-End Allocation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Mobile app → backend engines → external rails. Every layer is patent-claimed.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MOBILE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User interface, allocation slider,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3291840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345643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INGESTION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3794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Plaid webhooks + transaction normalization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18704" y="3291840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345643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ROUND-UP CALCULATOR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3794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Delta-to-next-dollar computation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5312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1772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ALLOCATION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560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Vector applied to round-up — split into N portions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33672" y="445312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61772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ROUTING + ORCHESTRATION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49560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ACH, Mercury, Coinbase — idempotent execution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45312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4617720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RECONCILIATION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4" y="49560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6E5FA"/>
                </a:solidFill>
                <a:latin typeface="Inter"/>
              </a:rPr>
              <a:t>Every state, every transfer, fully tracked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2356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E6E5FA"/>
                </a:solidFill>
                <a:latin typeface="Inter"/>
              </a:rPr>
              <a:t>EXTERNAL INTEGRATIONS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7044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Inter"/>
              </a:rPr>
              <a:t>Plaid  ·  Mercury  ·  Coinbase  ·  ACH network  ·  Loan servicers  ·  Card issuers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A $4.35 Coffee Becomes Two Investments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Every transaction triggers a split. Below: a single round-up at an 80/20 vector.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7448" y="310896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3200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TRANSACTION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4930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$4.35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.5" y="3749040"/>
            <a:ext cx="0.0" cy="27432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27448" y="406908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4160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Inter"/>
              </a:rPr>
              <a:t>ROUND-UP  ($5.00 − $4.35)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445312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Inter"/>
              </a:rPr>
              <a:t>$0.65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5847.5" y="4709160"/>
            <a:ext cx="0.0" cy="274320"/>
          </a:xfrm>
          <a:prstGeom prst="line">
            <a:avLst/>
          </a:prstGeom>
          <a:ln w="19050">
            <a:solidFill>
              <a:srgbClr val="E6E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60320" y="4983480"/>
            <a:ext cx="7040880" cy="0"/>
          </a:xfrm>
          <a:prstGeom prst="line">
            <a:avLst/>
          </a:prstGeom>
          <a:ln w="19050">
            <a:solidFill>
              <a:srgbClr val="E6E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560320" y="4983480"/>
            <a:ext cx="0" cy="36576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601200" y="4983480"/>
            <a:ext cx="0" cy="36576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" y="52578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4223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300">
                <a:solidFill>
                  <a:srgbClr val="FFFFFF"/>
                </a:solidFill>
                <a:latin typeface="Inter"/>
              </a:rPr>
              <a:t>DEBT  · 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4184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161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ACH → credit card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52578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542239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300">
                <a:solidFill>
                  <a:srgbClr val="FFFFFF"/>
                </a:solidFill>
                <a:latin typeface="Inter"/>
              </a:rPr>
              <a:t>BITCOIN  ·  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64184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Inter"/>
              </a:rPr>
              <a:t>$0.13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9161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Coinbase market buy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DUAL-DESTINATION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Debt and Bitcoin — From the Same Round-Up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The core embodiment: one allocation vector, two simultaneous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7448" y="32918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3429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300">
                <a:solidFill>
                  <a:srgbClr val="FFFFFF"/>
                </a:solidFill>
                <a:latin typeface="Inter"/>
              </a:rPr>
              <a:t>ROUND-UP 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7448" y="3703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E6E5FA"/>
                </a:solidFill>
                <a:latin typeface="Inter"/>
              </a:rPr>
              <a:t>Allocation Vector V = [D, A]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.5" y="4023360"/>
            <a:ext cx="0.0" cy="365760"/>
          </a:xfrm>
          <a:prstGeom prst="line">
            <a:avLst/>
          </a:prstGeom>
          <a:ln w="19050">
            <a:solidFill>
              <a:srgbClr val="E6E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743200" y="4389120"/>
            <a:ext cx="6702552" cy="0"/>
          </a:xfrm>
          <a:prstGeom prst="line">
            <a:avLst/>
          </a:prstGeom>
          <a:ln w="19050">
            <a:solidFill>
              <a:srgbClr val="E6E5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4389120"/>
            <a:ext cx="0" cy="36576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45752" y="4389120"/>
            <a:ext cx="0" cy="36576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4400" y="4709160"/>
            <a:ext cx="3657600" cy="6858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737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300">
                <a:solidFill>
                  <a:srgbClr val="FFFFFF"/>
                </a:solidFill>
                <a:latin typeface="Inter"/>
              </a:rPr>
              <a:t>DEBT REPAYMENT 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5FA"/>
                </a:solidFill>
                <a:latin typeface="Inter"/>
              </a:rPr>
              <a:t>Idempotent  ·  reconciled  ·  retried on failure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5394960"/>
            <a:ext cx="0" cy="18288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14400" y="5577840"/>
            <a:ext cx="3657600" cy="68580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24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Credit card  /  Loan servicer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6952" y="4709160"/>
            <a:ext cx="3657600" cy="6858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6952" y="48737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300">
                <a:solidFill>
                  <a:srgbClr val="FFFFFF"/>
                </a:solidFill>
                <a:latin typeface="Inter"/>
              </a:rPr>
              <a:t>DIGITAL ASSET 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6952" y="5166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6E5FA"/>
                </a:solidFill>
                <a:latin typeface="Inter"/>
              </a:rPr>
              <a:t>Idempotent  ·  reconciled  ·  retried on failure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45752" y="5394960"/>
            <a:ext cx="0" cy="182880"/>
          </a:xfrm>
          <a:prstGeom prst="line">
            <a:avLst/>
          </a:prstGeom>
          <a:ln w="19050">
            <a:solidFill>
              <a:srgbClr val="E6E5F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16952" y="5577840"/>
            <a:ext cx="3657600" cy="685800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16952" y="5824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Coinbase  /  Custodial wallet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N-DESTINATION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The Vector Extends to Any Number of Destinations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V = [w₁, w₂, w₃, ... wₙ]   —   Σwₙ = 100%. Future destinations are protected by claim.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246120"/>
            <a:ext cx="8531352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493008"/>
            <a:ext cx="8531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Inter"/>
              </a:rPr>
              <a:t>ALLOCATION VECTOR  V = [50% debt,  20% Bitcoin,  20% savings,  10% charity]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5196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CREDIT 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Highest-interest debt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5778" y="425196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8658" y="4480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8658" y="48920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Long-term store of value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2916" y="425196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5796" y="4480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5796" y="48920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Emergency reserve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0054" y="425196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2934" y="4480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INVESTMENT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2934" y="48920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Brokerage / index funds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4251960"/>
            <a:ext cx="2103120" cy="137160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20072" y="44805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300">
                <a:solidFill>
                  <a:srgbClr val="FFFFFF"/>
                </a:solidFill>
                <a:latin typeface="Inter"/>
              </a:rPr>
              <a:t>DESTINATION 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48920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6E5FA"/>
                </a:solidFill>
                <a:latin typeface="Inter"/>
              </a:rPr>
              <a:t>Future: yield, charity, refinance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The patent claims cover the N-dimensional model — not just two destinations.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USER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One Slider. Total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Continuous 0–100% allocation. The user picks the mix. The engine handles the rest.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Inter"/>
              </a:rPr>
              <a:t>Debt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Bitcoin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3410712"/>
            <a:ext cx="7589520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65376" y="332841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Inter"/>
              </a:rPr>
              <a:t>Debt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3931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Bitcoin 20%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050792"/>
            <a:ext cx="7589520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83280" y="396849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Inter"/>
              </a:rPr>
              <a:t>Debt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4572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Bitcoin 50%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690872"/>
            <a:ext cx="7589520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0136" y="460857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Inter"/>
              </a:rPr>
              <a:t>Debt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5212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Bitcoin 100%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330952"/>
            <a:ext cx="7589520" cy="128016"/>
          </a:xfrm>
          <a:prstGeom prst="roundRect">
            <a:avLst>
              <a:gd name="adj" fmla="val 50000"/>
            </a:avLst>
          </a:prstGeom>
          <a:solidFill>
            <a:srgbClr val="FFFFFF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54896" y="5248656"/>
            <a:ext cx="292608" cy="29260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080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Allocation vector is stored, versioned, and applied to every future round-up.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WHAT'S PROTECTED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Five Claims That Build the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Plain-English summary of the strongest claims in the provisional filing.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6E5FA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20040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Inter"/>
              </a:rPr>
              <a:t>DUAL-SPLIT ROUND-UPS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0040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Splitting a single round-up across debt repayment AND digital asset acquisition — in one transaction.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82060"/>
            <a:ext cx="11091672" cy="635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6E5FA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794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Inter"/>
              </a:rPr>
              <a:t>CONTINUOUS 0–100% VECTOR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9476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Any user-selectable ratio across the full 0–100% range, including fractional values.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6420"/>
            <a:ext cx="11091672" cy="635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6E5FA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38912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Inter"/>
              </a:rPr>
              <a:t>N-DESTINATION EXTENSION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38912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Beyond two — credit cards, loans, savings, investments, crypto, charity, or any future endpoint.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70780"/>
            <a:ext cx="11091672" cy="635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6E5FA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8348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Inter"/>
              </a:rPr>
              <a:t>DYNAMIC ADJUSTMENT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98348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Allocation that adapts to APR, balances, market conditions, cash flow, or risk preference.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65140"/>
            <a:ext cx="11091672" cy="635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640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E6E5FA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5778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spc="300">
                <a:solidFill>
                  <a:srgbClr val="FFFFFF"/>
                </a:solidFill>
                <a:latin typeface="Inter"/>
              </a:rPr>
              <a:t>IDEMPOTENT EXECUTION +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57784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No duplicate transfers. Every state — created → settled → reconciled — is tracked end-to-end.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159500"/>
            <a:ext cx="11091672" cy="6350"/>
          </a:xfrm>
          <a:prstGeom prst="rect">
            <a:avLst/>
          </a:prstGeom>
          <a:solidFill>
            <a:srgbClr val="C9C8F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918EF4"/>
            </a:gs>
            <a:gs pos="100000">
              <a:srgbClr val="6F6CD9"/>
            </a:gs>
          </a:gsLst>
          <a:lin ang="2700000" scaled="0"/>
        </a:gra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400">
                <a:solidFill>
                  <a:srgbClr val="E6E5FA"/>
                </a:solidFill>
                <a:latin typeface="Inter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1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Defensible. Extensible. Licensable.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6E5FA"/>
                </a:solidFill>
                <a:latin typeface="Inter"/>
              </a:rPr>
              <a:t>The patent isn't just protection — it's a platform for everything Dime Time builds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11091672" cy="868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649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DEFENSIBILITY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177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First-to-file on the dual-split round-up engine. Replicating requires re-engineering core IP plus 6–12 months of integration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1672" cy="868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708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LICENSING POTENTIAL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177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Any neobank, lender, or crypto app could license the allocation engine via API to add Dime Time-style functionality.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FFFF"/>
                </a:solidFill>
                <a:latin typeface="Inter"/>
              </a:rPr>
              <a:t>EXTENSIBILITY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101772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E6E5FA"/>
                </a:solidFill>
                <a:latin typeface="Inter"/>
              </a:rPr>
              <a:t>Forward-claimed: AI-driven allocation optimization, yield destinations, refinancing tools, and credit optimization.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080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spc="200">
                <a:solidFill>
                  <a:srgbClr val="FFFFFF"/>
                </a:solidFill>
                <a:latin typeface="Inter"/>
              </a:rPr>
              <a:t>USPTO provisional drafted  ·  Full utility in progress  ·  tim@dime-time.com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492240"/>
            <a:ext cx="457200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6355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300">
                <a:solidFill>
                  <a:srgbClr val="FFFFFF"/>
                </a:solidFill>
                <a:latin typeface="Inter"/>
              </a:rPr>
              <a:t>DIME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35508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spc="300">
                <a:solidFill>
                  <a:srgbClr val="E6E5FA"/>
                </a:solidFill>
                <a:latin typeface="Inter"/>
              </a:rPr>
              <a:t>PATENT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35508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spc="200">
                <a:solidFill>
                  <a:srgbClr val="E6E5FA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