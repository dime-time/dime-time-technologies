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9CBDB0-8DED-4710-8B3E-5F543B61E6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332C2E-6D64-4886-9E01-50A89BA0DF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FFB98F8-95F8-4632-873F-6BC3F4DE64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7F928F2-AC5A-4DAA-811F-09E8C84977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D408B56-7C03-468B-A66C-93A7BBD419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15E30117-9643-4358-A029-B61ED5444B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C0D7705-0FF3-437E-ADDF-8CAB7139FA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E27DA2C6-9D23-45ED-AACF-73E2A3994A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BF5325BF-6C33-4F8B-9477-9E7B0D3895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49D883B-053D-4AF7-B540-74729137A2F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2DF2635-F874-4A42-BF37-432315FA5E0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4F9030-4BB9-4DC4-8167-95000641C7C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73660C-5C10-4591-BCDB-BCA36A0B522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DE72C4-6A3D-4B59-9028-EE3CFF004AE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A8F1F7B-0B9C-4BEF-AF9A-DF35E05E03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E47778-8AEC-4EEE-AC13-85E469FFB8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F35122-ACA8-4FDA-808F-AF6CCB445D8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A3600A-67E7-479A-A290-CB49CE644E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95DC24-E164-4CAC-ACEE-8FA97388F82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A07C7E-EFEF-45C4-82F3-753B7376E4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D8A60E-9724-4917-9798-96829E061D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7B8638-7C00-4E17-80DC-3BB9F95BA9D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_logo_transparent.png"/>
          <p:cNvPicPr/>
          <p:nvPr/>
        </p:nvPicPr>
        <p:blipFill>
          <a:blip r:embed="rId1"/>
          <a:stretch/>
        </p:blipFill>
        <p:spPr>
          <a:xfrm>
            <a:off x="4998600" y="1280160"/>
            <a:ext cx="2194200" cy="2194200"/>
          </a:xfrm>
          <a:prstGeom prst="rect">
            <a:avLst/>
          </a:prstGeom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0" y="3657600"/>
            <a:ext cx="121914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200" spc="398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7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0" y="4709160"/>
            <a:ext cx="12191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599" strike="noStrike">
                <a:solidFill>
                  <a:srgbClr val="ffffff"/>
                </a:solidFill>
                <a:latin typeface="Inter"/>
              </a:rPr>
              <a:t>PATENT OVERVIEW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0" name="Rectangle 4"/>
          <p:cNvSpPr/>
          <p:nvPr/>
        </p:nvSpPr>
        <p:spPr>
          <a:xfrm>
            <a:off x="4937760" y="5349240"/>
            <a:ext cx="2285640" cy="12240"/>
          </a:xfrm>
          <a:prstGeom prst="rect">
            <a:avLst/>
          </a:prstGeom>
          <a:solidFill>
            <a:srgbClr val="e6e5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2400" bIns="-32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0" y="5486400"/>
            <a:ext cx="12191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e6e5fa"/>
                </a:solidFill>
                <a:latin typeface="Inter"/>
              </a:rPr>
              <a:t>Investor summary of the Dime Time provisional patent.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0" y="5989320"/>
            <a:ext cx="12191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Tim Carlisle  ·  Founder &amp; CEO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0" y="6327720"/>
            <a:ext cx="12191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199" strike="noStrike">
                <a:solidFill>
                  <a:srgbClr val="e6e5fa"/>
                </a:solidFill>
                <a:latin typeface="Inter"/>
              </a:rPr>
              <a:t>dime-time.com  ·  tim@dime-time.com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548640" y="50292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01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548640" y="7772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THE INVENTION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548640" y="1143000"/>
            <a:ext cx="1109124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Dual-Split, Multi-Destination Round-Up System</a:t>
            </a:r>
            <a:endParaRPr b="0" lang="en-US" sz="4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548640" y="2606040"/>
            <a:ext cx="10058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5fa"/>
                </a:solidFill>
                <a:latin typeface="Inter"/>
              </a:rPr>
              <a:t>USPTO provisional patent — drafted and ready for filing.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8" name="Rounded Rectangle 5"/>
          <p:cNvSpPr/>
          <p:nvPr/>
        </p:nvSpPr>
        <p:spPr>
          <a:xfrm>
            <a:off x="548640" y="3657600"/>
            <a:ext cx="3611520" cy="201132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914400" y="3977640"/>
            <a:ext cx="28800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WHAT IT IS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914400" y="4434840"/>
            <a:ext cx="288000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Inter"/>
              </a:rPr>
              <a:t>A financial automation engine that splits transaction round-ups across multiple destinations.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1" name="Rounded Rectangle 8"/>
          <p:cNvSpPr/>
          <p:nvPr/>
        </p:nvSpPr>
        <p:spPr>
          <a:xfrm>
            <a:off x="4343400" y="3657600"/>
            <a:ext cx="3611520" cy="201132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9"/>
          <p:cNvSpPr/>
          <p:nvPr/>
        </p:nvSpPr>
        <p:spPr>
          <a:xfrm>
            <a:off x="4709160" y="3977640"/>
            <a:ext cx="28800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WHO IT'S FOR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4709160" y="4434840"/>
            <a:ext cx="288000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Inter"/>
              </a:rPr>
              <a:t>Consumers carrying debt who also want to build long-term assets — without changing behavior.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4" name="Rounded Rectangle 11"/>
          <p:cNvSpPr/>
          <p:nvPr/>
        </p:nvSpPr>
        <p:spPr>
          <a:xfrm>
            <a:off x="8138160" y="3657600"/>
            <a:ext cx="3611520" cy="201132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8503920" y="3977640"/>
            <a:ext cx="28800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WHY IT MATTERS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6" name="TextBox 13"/>
          <p:cNvSpPr/>
          <p:nvPr/>
        </p:nvSpPr>
        <p:spPr>
          <a:xfrm>
            <a:off x="8503920" y="4434840"/>
            <a:ext cx="2880000" cy="9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ffffff"/>
                </a:solidFill>
                <a:latin typeface="Inter"/>
              </a:rPr>
              <a:t>First system to convert everyday spending into simultaneous debt reduction and asset acquisition.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7" name="Rectangle 14"/>
          <p:cNvSpPr/>
          <p:nvPr/>
        </p:nvSpPr>
        <p:spPr>
          <a:xfrm>
            <a:off x="457200" y="6492240"/>
            <a:ext cx="456840" cy="1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15"/>
          <p:cNvSpPr/>
          <p:nvPr/>
        </p:nvSpPr>
        <p:spPr>
          <a:xfrm>
            <a:off x="960120" y="6355080"/>
            <a:ext cx="2285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9" name="TextBox 16"/>
          <p:cNvSpPr/>
          <p:nvPr/>
        </p:nvSpPr>
        <p:spPr>
          <a:xfrm>
            <a:off x="0" y="6355080"/>
            <a:ext cx="12191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299" strike="noStrike">
                <a:solidFill>
                  <a:srgbClr val="e6e5fa"/>
                </a:solidFill>
                <a:latin typeface="Inter"/>
              </a:rPr>
              <a:t>PATENT OVERVIEW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0" name="TextBox 17"/>
          <p:cNvSpPr/>
          <p:nvPr/>
        </p:nvSpPr>
        <p:spPr>
          <a:xfrm>
            <a:off x="0" y="6355080"/>
            <a:ext cx="1173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199" strike="noStrike">
                <a:solidFill>
                  <a:srgbClr val="e6e5fa"/>
                </a:solidFill>
                <a:latin typeface="Inter"/>
              </a:rPr>
              <a:t>02 / 12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548640" y="50292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02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548640" y="7772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THE PROBLEM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548640" y="1143000"/>
            <a:ext cx="110912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Consumers Are Forced to Choose</a:t>
            </a:r>
            <a:endParaRPr b="0" lang="en-US" sz="4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548640" y="2606040"/>
            <a:ext cx="10058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5fa"/>
                </a:solidFill>
                <a:latin typeface="Inter"/>
              </a:rPr>
              <a:t>Existing tools handle one financial goal at a time. Real life isn't that simple.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5" name="Rounded Rectangle 5"/>
          <p:cNvSpPr/>
          <p:nvPr/>
        </p:nvSpPr>
        <p:spPr>
          <a:xfrm>
            <a:off x="548640" y="3337560"/>
            <a:ext cx="5394600" cy="269712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868680" y="3611880"/>
            <a:ext cx="47545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TODAY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868680" y="4114800"/>
            <a:ext cx="4754520" cy="14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6e5fa"/>
                </a:solidFill>
                <a:latin typeface="Inter"/>
              </a:rPr>
              <a:t>•  </a:t>
            </a:r>
            <a:r>
              <a:rPr b="0" lang="en-US" sz="1400" spc="-1" strike="noStrike">
                <a:solidFill>
                  <a:srgbClr val="e6e5fa"/>
                </a:solidFill>
                <a:latin typeface="Inter"/>
              </a:rPr>
              <a:t>Round-up apps send change to one place — savings or stocks.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6e5fa"/>
                </a:solidFill>
                <a:latin typeface="Inter"/>
              </a:rPr>
              <a:t>•  </a:t>
            </a:r>
            <a:r>
              <a:rPr b="0" lang="en-US" sz="1400" spc="-1" strike="noStrike">
                <a:solidFill>
                  <a:srgbClr val="e6e5fa"/>
                </a:solidFill>
                <a:latin typeface="Inter"/>
              </a:rPr>
              <a:t>Debt apps focus only on payoff — assets are ignored.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6e5fa"/>
                </a:solidFill>
                <a:latin typeface="Inter"/>
              </a:rPr>
              <a:t>•  </a:t>
            </a:r>
            <a:r>
              <a:rPr b="0" lang="en-US" sz="1400" spc="-1" strike="noStrike">
                <a:solidFill>
                  <a:srgbClr val="e6e5fa"/>
                </a:solidFill>
                <a:latin typeface="Inter"/>
              </a:rPr>
              <a:t>Crypto apps ignore the debt sitting on the credit card.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6e5fa"/>
                </a:solidFill>
                <a:latin typeface="Inter"/>
              </a:rPr>
              <a:t>•  </a:t>
            </a:r>
            <a:r>
              <a:rPr b="0" lang="en-US" sz="1400" spc="-1" strike="noStrike">
                <a:solidFill>
                  <a:srgbClr val="e6e5fa"/>
                </a:solidFill>
                <a:latin typeface="Inter"/>
              </a:rPr>
              <a:t>Users must pick one — and usually pick neither.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8" name="Rounded Rectangle 8"/>
          <p:cNvSpPr/>
          <p:nvPr/>
        </p:nvSpPr>
        <p:spPr>
          <a:xfrm>
            <a:off x="6263640" y="3337560"/>
            <a:ext cx="5394600" cy="269712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6583680" y="3611880"/>
            <a:ext cx="475452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WHAT'S MISSING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6583680" y="4114800"/>
            <a:ext cx="4754520" cy="14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Inter"/>
              </a:rPr>
              <a:t>•  </a:t>
            </a:r>
            <a:r>
              <a:rPr b="0" lang="en-US" sz="1400" spc="-1" strike="noStrike">
                <a:solidFill>
                  <a:srgbClr val="ffffff"/>
                </a:solidFill>
                <a:latin typeface="Inter"/>
              </a:rPr>
              <a:t>A single engine that splits round-ups across destinations.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Inter"/>
              </a:rPr>
              <a:t>•  </a:t>
            </a:r>
            <a:r>
              <a:rPr b="0" lang="en-US" sz="1400" spc="-1" strike="noStrike">
                <a:solidFill>
                  <a:srgbClr val="ffffff"/>
                </a:solidFill>
                <a:latin typeface="Inter"/>
              </a:rPr>
              <a:t>User-controlled allocation across debt AND assets.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Inter"/>
              </a:rPr>
              <a:t>•  </a:t>
            </a:r>
            <a:r>
              <a:rPr b="0" lang="en-US" sz="1400" spc="-1" strike="noStrike">
                <a:solidFill>
                  <a:srgbClr val="ffffff"/>
                </a:solidFill>
                <a:latin typeface="Inter"/>
              </a:rPr>
              <a:t>Real-time orchestration with idempotent execution.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ffffff"/>
                </a:solidFill>
                <a:latin typeface="Inter"/>
              </a:rPr>
              <a:t>•  </a:t>
            </a:r>
            <a:r>
              <a:rPr b="0" lang="en-US" sz="1400" spc="-1" strike="noStrike">
                <a:solidFill>
                  <a:srgbClr val="ffffff"/>
                </a:solidFill>
                <a:latin typeface="Inter"/>
              </a:rPr>
              <a:t>A reconciliation ledger tracking every micro-transfer.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1" name="Rectangle 11"/>
          <p:cNvSpPr/>
          <p:nvPr/>
        </p:nvSpPr>
        <p:spPr>
          <a:xfrm>
            <a:off x="457200" y="6492240"/>
            <a:ext cx="456840" cy="1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960120" y="6355080"/>
            <a:ext cx="2285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3" name="TextBox 13"/>
          <p:cNvSpPr/>
          <p:nvPr/>
        </p:nvSpPr>
        <p:spPr>
          <a:xfrm>
            <a:off x="0" y="6355080"/>
            <a:ext cx="12191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299" strike="noStrike">
                <a:solidFill>
                  <a:srgbClr val="e6e5fa"/>
                </a:solidFill>
                <a:latin typeface="Inter"/>
              </a:rPr>
              <a:t>PATENT OVERVIEW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4" name="TextBox 14"/>
          <p:cNvSpPr/>
          <p:nvPr/>
        </p:nvSpPr>
        <p:spPr>
          <a:xfrm>
            <a:off x="0" y="6355080"/>
            <a:ext cx="1173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199" strike="noStrike">
                <a:solidFill>
                  <a:srgbClr val="e6e5fa"/>
                </a:solidFill>
                <a:latin typeface="Inter"/>
              </a:rPr>
              <a:t>03 / 12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548640" y="50292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03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548640" y="7772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THE BREAKTHROUGH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548640" y="1143000"/>
            <a:ext cx="1109124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One Engine. Two Goals. Every Transaction.</a:t>
            </a:r>
            <a:endParaRPr b="0" lang="en-US" sz="4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548640" y="2606040"/>
            <a:ext cx="100580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5fa"/>
                </a:solidFill>
                <a:latin typeface="Inter"/>
              </a:rPr>
              <a:t>The patent covers a system that turns spare change into simultaneous debt reduction and asset growth.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9" name="Rounded Rectangle 5"/>
          <p:cNvSpPr/>
          <p:nvPr/>
        </p:nvSpPr>
        <p:spPr>
          <a:xfrm>
            <a:off x="1463040" y="3337560"/>
            <a:ext cx="9262440" cy="21942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6"/>
          <p:cNvSpPr/>
          <p:nvPr/>
        </p:nvSpPr>
        <p:spPr>
          <a:xfrm>
            <a:off x="2011680" y="3703320"/>
            <a:ext cx="8165160" cy="16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Inter"/>
              </a:rPr>
              <a:t>A computerized microallocation system that detects user transactions, calculates round-up amounts,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Inter"/>
              </a:rPr>
              <a:t>applies a user-controlled allocation vector, and routes the resulting funds across multiple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Inter"/>
              </a:rPr>
              <a:t>financial destinations — including debt repayment and digital asset acquisition — in real time.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1" name="Rectangle 7"/>
          <p:cNvSpPr/>
          <p:nvPr/>
        </p:nvSpPr>
        <p:spPr>
          <a:xfrm>
            <a:off x="457200" y="6492240"/>
            <a:ext cx="456840" cy="1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TextBox 8"/>
          <p:cNvSpPr/>
          <p:nvPr/>
        </p:nvSpPr>
        <p:spPr>
          <a:xfrm>
            <a:off x="960120" y="6355080"/>
            <a:ext cx="2285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0" y="6355080"/>
            <a:ext cx="12191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299" strike="noStrike">
                <a:solidFill>
                  <a:srgbClr val="e6e5fa"/>
                </a:solidFill>
                <a:latin typeface="Inter"/>
              </a:rPr>
              <a:t>PATENT OVERVIEW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0" y="6355080"/>
            <a:ext cx="1173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199" strike="noStrike">
                <a:solidFill>
                  <a:srgbClr val="e6e5fa"/>
                </a:solidFill>
                <a:latin typeface="Inter"/>
              </a:rPr>
              <a:t>04 / 12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548640" y="50292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04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548640" y="7772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HOW IT WORKS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548640" y="1143000"/>
            <a:ext cx="110912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From Coffee to Capital in Four Steps</a:t>
            </a:r>
            <a:endParaRPr b="0" lang="en-US" sz="4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548640" y="2606040"/>
            <a:ext cx="10058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5fa"/>
                </a:solidFill>
                <a:latin typeface="Inter"/>
              </a:rPr>
              <a:t>The engine runs passively in the background — no behavior change required.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9" name="Oval 5"/>
          <p:cNvSpPr/>
          <p:nvPr/>
        </p:nvSpPr>
        <p:spPr>
          <a:xfrm>
            <a:off x="1348920" y="3291840"/>
            <a:ext cx="776880" cy="776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6"/>
          <p:cNvSpPr/>
          <p:nvPr/>
        </p:nvSpPr>
        <p:spPr>
          <a:xfrm>
            <a:off x="1613160" y="3466440"/>
            <a:ext cx="24804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6f6cd9"/>
                </a:solidFill>
                <a:latin typeface="Inter"/>
              </a:rPr>
              <a:t>1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548640" y="4343400"/>
            <a:ext cx="23770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Transaction Detected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2" name="TextBox 8"/>
          <p:cNvSpPr/>
          <p:nvPr/>
        </p:nvSpPr>
        <p:spPr>
          <a:xfrm>
            <a:off x="548640" y="4754880"/>
            <a:ext cx="23770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e6e5fa"/>
                </a:solidFill>
                <a:latin typeface="Inter"/>
              </a:rPr>
              <a:t>Plaid streams every purchase as it posts.</a:t>
            </a: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3" name="Oval 9"/>
          <p:cNvSpPr/>
          <p:nvPr/>
        </p:nvSpPr>
        <p:spPr>
          <a:xfrm>
            <a:off x="4253400" y="3291840"/>
            <a:ext cx="776880" cy="776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4517640" y="3466440"/>
            <a:ext cx="24804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6f6cd9"/>
                </a:solidFill>
                <a:latin typeface="Inter"/>
              </a:rPr>
              <a:t>2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5" name="TextBox 11"/>
          <p:cNvSpPr/>
          <p:nvPr/>
        </p:nvSpPr>
        <p:spPr>
          <a:xfrm>
            <a:off x="3453480" y="4343400"/>
            <a:ext cx="23770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Round-Up Calculated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6" name="TextBox 12"/>
          <p:cNvSpPr/>
          <p:nvPr/>
        </p:nvSpPr>
        <p:spPr>
          <a:xfrm>
            <a:off x="3453480" y="4754880"/>
            <a:ext cx="23770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e6e5fa"/>
                </a:solidFill>
                <a:latin typeface="Inter"/>
              </a:rPr>
              <a:t>Engine computes delta to next whole dollar.</a:t>
            </a: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7" name="Oval 13"/>
          <p:cNvSpPr/>
          <p:nvPr/>
        </p:nvSpPr>
        <p:spPr>
          <a:xfrm>
            <a:off x="7158240" y="3291840"/>
            <a:ext cx="776880" cy="776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14"/>
          <p:cNvSpPr/>
          <p:nvPr/>
        </p:nvSpPr>
        <p:spPr>
          <a:xfrm>
            <a:off x="7422480" y="3466440"/>
            <a:ext cx="24804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6f6cd9"/>
                </a:solidFill>
                <a:latin typeface="Inter"/>
              </a:rPr>
              <a:t>3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6357960" y="4343400"/>
            <a:ext cx="237708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Allocation Applied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0" name="TextBox 16"/>
          <p:cNvSpPr/>
          <p:nvPr/>
        </p:nvSpPr>
        <p:spPr>
          <a:xfrm>
            <a:off x="6357960" y="4754880"/>
            <a:ext cx="23770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e6e5fa"/>
                </a:solidFill>
                <a:latin typeface="Inter"/>
              </a:rPr>
              <a:t>User's vector splits the round-up — e.g., 80/20.</a:t>
            </a: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1" name="Oval 17"/>
          <p:cNvSpPr/>
          <p:nvPr/>
        </p:nvSpPr>
        <p:spPr>
          <a:xfrm>
            <a:off x="10063080" y="3291840"/>
            <a:ext cx="776880" cy="776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18"/>
          <p:cNvSpPr/>
          <p:nvPr/>
        </p:nvSpPr>
        <p:spPr>
          <a:xfrm>
            <a:off x="10327320" y="3466440"/>
            <a:ext cx="24804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6f6cd9"/>
                </a:solidFill>
                <a:latin typeface="Inter"/>
              </a:rPr>
              <a:t>4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3" name="TextBox 19"/>
          <p:cNvSpPr/>
          <p:nvPr/>
        </p:nvSpPr>
        <p:spPr>
          <a:xfrm>
            <a:off x="9262800" y="4343400"/>
            <a:ext cx="2377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Inter"/>
              </a:rPr>
              <a:t>Routed to Destinations</a:t>
            </a:r>
            <a:endParaRPr b="0" lang="en-US" sz="15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4" name="TextBox 20"/>
          <p:cNvSpPr/>
          <p:nvPr/>
        </p:nvSpPr>
        <p:spPr>
          <a:xfrm>
            <a:off x="9262800" y="4754880"/>
            <a:ext cx="23770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e6e5fa"/>
                </a:solidFill>
                <a:latin typeface="Inter"/>
              </a:rPr>
              <a:t>ACH to debt, Coinbase to crypto. Logged in ledger.</a:t>
            </a: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cxnSp>
        <p:nvCxnSpPr>
          <p:cNvPr id="135" name="Connector 21"/>
          <p:cNvCxnSpPr/>
          <p:nvPr/>
        </p:nvCxnSpPr>
        <p:spPr>
          <a:xfrm>
            <a:off x="2194560" y="3680280"/>
            <a:ext cx="1990440" cy="360"/>
          </a:xfrm>
          <a:prstGeom prst="straightConnector1">
            <a:avLst/>
          </a:prstGeom>
          <a:ln w="19050">
            <a:solidFill>
              <a:srgbClr val="e6e5fa"/>
            </a:solidFill>
            <a:prstDash val="dash"/>
            <a:round/>
            <a:tailEnd len="med" type="triangle" w="med"/>
          </a:ln>
        </p:spPr>
      </p:cxnSp>
      <p:cxnSp>
        <p:nvCxnSpPr>
          <p:cNvPr id="136" name="Connector 22"/>
          <p:cNvCxnSpPr/>
          <p:nvPr/>
        </p:nvCxnSpPr>
        <p:spPr>
          <a:xfrm>
            <a:off x="5099040" y="3680280"/>
            <a:ext cx="1990800" cy="360"/>
          </a:xfrm>
          <a:prstGeom prst="straightConnector1">
            <a:avLst/>
          </a:prstGeom>
          <a:ln w="19050">
            <a:solidFill>
              <a:srgbClr val="e6e5fa"/>
            </a:solidFill>
            <a:prstDash val="dash"/>
            <a:round/>
            <a:tailEnd len="med" type="triangle" w="med"/>
          </a:ln>
        </p:spPr>
      </p:cxnSp>
      <p:cxnSp>
        <p:nvCxnSpPr>
          <p:cNvPr id="137" name="Connector 23"/>
          <p:cNvCxnSpPr/>
          <p:nvPr/>
        </p:nvCxnSpPr>
        <p:spPr>
          <a:xfrm>
            <a:off x="8003880" y="3680280"/>
            <a:ext cx="1990800" cy="360"/>
          </a:xfrm>
          <a:prstGeom prst="straightConnector1">
            <a:avLst/>
          </a:prstGeom>
          <a:ln w="19050">
            <a:solidFill>
              <a:srgbClr val="e6e5fa"/>
            </a:solidFill>
            <a:prstDash val="dash"/>
            <a:round/>
            <a:tailEnd len="med" type="triangle" w="med"/>
          </a:ln>
        </p:spPr>
      </p:cxnSp>
      <p:sp>
        <p:nvSpPr>
          <p:cNvPr id="138" name="TextBox 24"/>
          <p:cNvSpPr/>
          <p:nvPr/>
        </p:nvSpPr>
        <p:spPr>
          <a:xfrm>
            <a:off x="0" y="5760720"/>
            <a:ext cx="1219140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Inter"/>
              </a:rPr>
              <a:t>Idempotent orchestration — no duplicate executions, no missed transfers.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9" name="Rectangle 25"/>
          <p:cNvSpPr/>
          <p:nvPr/>
        </p:nvSpPr>
        <p:spPr>
          <a:xfrm>
            <a:off x="457200" y="6492240"/>
            <a:ext cx="456840" cy="1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26"/>
          <p:cNvSpPr/>
          <p:nvPr/>
        </p:nvSpPr>
        <p:spPr>
          <a:xfrm>
            <a:off x="960120" y="6355080"/>
            <a:ext cx="2285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1" name="TextBox 27"/>
          <p:cNvSpPr/>
          <p:nvPr/>
        </p:nvSpPr>
        <p:spPr>
          <a:xfrm>
            <a:off x="0" y="6355080"/>
            <a:ext cx="12191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299" strike="noStrike">
                <a:solidFill>
                  <a:srgbClr val="e6e5fa"/>
                </a:solidFill>
                <a:latin typeface="Inter"/>
              </a:rPr>
              <a:t>PATENT OVERVIEW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2" name="TextBox 28"/>
          <p:cNvSpPr/>
          <p:nvPr/>
        </p:nvSpPr>
        <p:spPr>
          <a:xfrm>
            <a:off x="0" y="6355080"/>
            <a:ext cx="1173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199" strike="noStrike">
                <a:solidFill>
                  <a:srgbClr val="e6e5fa"/>
                </a:solidFill>
                <a:latin typeface="Inter"/>
              </a:rPr>
              <a:t>05 / 12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548640" y="50292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05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548640" y="7772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SYSTEM ARCHITECTURE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548640" y="1143000"/>
            <a:ext cx="110912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The End-to-End Allocation Pipeline</a:t>
            </a:r>
            <a:endParaRPr b="0" lang="en-US" sz="4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6" name="TextBox 4"/>
          <p:cNvSpPr/>
          <p:nvPr/>
        </p:nvSpPr>
        <p:spPr>
          <a:xfrm>
            <a:off x="548640" y="2606040"/>
            <a:ext cx="10058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5fa"/>
                </a:solidFill>
                <a:latin typeface="Inter"/>
              </a:rPr>
              <a:t>Mobile app → backend engines → external rails. Every layer is patent-claimed.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7" name="Rounded Rectangle 5"/>
          <p:cNvSpPr/>
          <p:nvPr/>
        </p:nvSpPr>
        <p:spPr>
          <a:xfrm>
            <a:off x="548640" y="3291840"/>
            <a:ext cx="3520080" cy="95976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822960" y="3456360"/>
            <a:ext cx="29714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MOBILE APP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9" name="TextBox 7"/>
          <p:cNvSpPr/>
          <p:nvPr/>
        </p:nvSpPr>
        <p:spPr>
          <a:xfrm>
            <a:off x="822960" y="379476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e6e5fa"/>
                </a:solidFill>
                <a:latin typeface="Inter"/>
              </a:rPr>
              <a:t>User interface, allocation slider, dashboard</a:t>
            </a: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0" name="Rounded Rectangle 8"/>
          <p:cNvSpPr/>
          <p:nvPr/>
        </p:nvSpPr>
        <p:spPr>
          <a:xfrm>
            <a:off x="4233600" y="3291840"/>
            <a:ext cx="3520080" cy="95976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TextBox 9"/>
          <p:cNvSpPr/>
          <p:nvPr/>
        </p:nvSpPr>
        <p:spPr>
          <a:xfrm>
            <a:off x="4507920" y="3456360"/>
            <a:ext cx="29714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INGESTION ENGINE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4507920" y="379476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e6e5fa"/>
                </a:solidFill>
                <a:latin typeface="Inter"/>
              </a:rPr>
              <a:t>Plaid webhooks + transaction normalization</a:t>
            </a: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3" name="Rounded Rectangle 11"/>
          <p:cNvSpPr/>
          <p:nvPr/>
        </p:nvSpPr>
        <p:spPr>
          <a:xfrm>
            <a:off x="7918560" y="3291840"/>
            <a:ext cx="3520080" cy="95976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12"/>
          <p:cNvSpPr/>
          <p:nvPr/>
        </p:nvSpPr>
        <p:spPr>
          <a:xfrm>
            <a:off x="8192880" y="3456360"/>
            <a:ext cx="29714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ROUND-UP CALCULATOR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5" name="TextBox 13"/>
          <p:cNvSpPr/>
          <p:nvPr/>
        </p:nvSpPr>
        <p:spPr>
          <a:xfrm>
            <a:off x="8192880" y="3794760"/>
            <a:ext cx="2971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e6e5fa"/>
                </a:solidFill>
                <a:latin typeface="Inter"/>
              </a:rPr>
              <a:t>Delta-to-next-dollar computation</a:t>
            </a: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6" name="Rounded Rectangle 14"/>
          <p:cNvSpPr/>
          <p:nvPr/>
        </p:nvSpPr>
        <p:spPr>
          <a:xfrm>
            <a:off x="548640" y="4453200"/>
            <a:ext cx="3520080" cy="95976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7" name="TextBox 15"/>
          <p:cNvSpPr/>
          <p:nvPr/>
        </p:nvSpPr>
        <p:spPr>
          <a:xfrm>
            <a:off x="822960" y="4617720"/>
            <a:ext cx="29714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ALLOCATION ENGINE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8" name="TextBox 16"/>
          <p:cNvSpPr/>
          <p:nvPr/>
        </p:nvSpPr>
        <p:spPr>
          <a:xfrm>
            <a:off x="822960" y="495612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e6e5fa"/>
                </a:solidFill>
                <a:latin typeface="Inter"/>
              </a:rPr>
              <a:t>Vector applied to round-up — split into N portions</a:t>
            </a: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9" name="Rounded Rectangle 17"/>
          <p:cNvSpPr/>
          <p:nvPr/>
        </p:nvSpPr>
        <p:spPr>
          <a:xfrm>
            <a:off x="4233600" y="4453200"/>
            <a:ext cx="3520080" cy="95976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0" name="TextBox 18"/>
          <p:cNvSpPr/>
          <p:nvPr/>
        </p:nvSpPr>
        <p:spPr>
          <a:xfrm>
            <a:off x="4507920" y="4617720"/>
            <a:ext cx="29714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ROUTING + ORCHESTRATION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1" name="TextBox 19"/>
          <p:cNvSpPr/>
          <p:nvPr/>
        </p:nvSpPr>
        <p:spPr>
          <a:xfrm>
            <a:off x="4507920" y="495612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e6e5fa"/>
                </a:solidFill>
                <a:latin typeface="Inter"/>
              </a:rPr>
              <a:t>ACH, Mercury, Coinbase — idempotent execution</a:t>
            </a: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2" name="Rounded Rectangle 20"/>
          <p:cNvSpPr/>
          <p:nvPr/>
        </p:nvSpPr>
        <p:spPr>
          <a:xfrm>
            <a:off x="7918560" y="4453200"/>
            <a:ext cx="3520080" cy="95976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21"/>
          <p:cNvSpPr/>
          <p:nvPr/>
        </p:nvSpPr>
        <p:spPr>
          <a:xfrm>
            <a:off x="8192880" y="4617720"/>
            <a:ext cx="29714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RECONCILIATION LEDGER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4" name="TextBox 22"/>
          <p:cNvSpPr/>
          <p:nvPr/>
        </p:nvSpPr>
        <p:spPr>
          <a:xfrm>
            <a:off x="8192880" y="4956120"/>
            <a:ext cx="297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e6e5fa"/>
                </a:solidFill>
                <a:latin typeface="Inter"/>
              </a:rPr>
              <a:t>Every state, every transfer, fully tracked</a:t>
            </a:r>
            <a:endParaRPr b="0" lang="en-US" sz="1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5" name="TextBox 23"/>
          <p:cNvSpPr/>
          <p:nvPr/>
        </p:nvSpPr>
        <p:spPr>
          <a:xfrm>
            <a:off x="548640" y="5623560"/>
            <a:ext cx="109724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e6e5fa"/>
                </a:solidFill>
                <a:latin typeface="Inter"/>
              </a:rPr>
              <a:t>EXTERNAL INTEGRATIONS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6" name="TextBox 24"/>
          <p:cNvSpPr/>
          <p:nvPr/>
        </p:nvSpPr>
        <p:spPr>
          <a:xfrm>
            <a:off x="548640" y="5870520"/>
            <a:ext cx="109724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Inter"/>
              </a:rPr>
              <a:t>Plaid  ·  Mercury  ·  Coinbase  ·  ACH network  ·  Loan servicers  ·  Card issuers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7" name="Rectangle 25"/>
          <p:cNvSpPr/>
          <p:nvPr/>
        </p:nvSpPr>
        <p:spPr>
          <a:xfrm>
            <a:off x="457200" y="6492240"/>
            <a:ext cx="456840" cy="1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8" name="TextBox 26"/>
          <p:cNvSpPr/>
          <p:nvPr/>
        </p:nvSpPr>
        <p:spPr>
          <a:xfrm>
            <a:off x="960120" y="6355080"/>
            <a:ext cx="2285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9" name="TextBox 27"/>
          <p:cNvSpPr/>
          <p:nvPr/>
        </p:nvSpPr>
        <p:spPr>
          <a:xfrm>
            <a:off x="0" y="6355080"/>
            <a:ext cx="12191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299" strike="noStrike">
                <a:solidFill>
                  <a:srgbClr val="e6e5fa"/>
                </a:solidFill>
                <a:latin typeface="Inter"/>
              </a:rPr>
              <a:t>PATENT OVERVIEW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0" name="TextBox 28"/>
          <p:cNvSpPr/>
          <p:nvPr/>
        </p:nvSpPr>
        <p:spPr>
          <a:xfrm>
            <a:off x="0" y="6355080"/>
            <a:ext cx="1173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199" strike="noStrike">
                <a:solidFill>
                  <a:srgbClr val="e6e5fa"/>
                </a:solidFill>
                <a:latin typeface="Inter"/>
              </a:rPr>
              <a:t>06 / 12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1"/>
          <p:cNvSpPr/>
          <p:nvPr/>
        </p:nvSpPr>
        <p:spPr>
          <a:xfrm>
            <a:off x="548640" y="50292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06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548640" y="7772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WORKED EXAMPLE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3" name="TextBox 3"/>
          <p:cNvSpPr/>
          <p:nvPr/>
        </p:nvSpPr>
        <p:spPr>
          <a:xfrm>
            <a:off x="548640" y="1143000"/>
            <a:ext cx="1109124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A $4.35 Coffee Becomes Two Investments</a:t>
            </a:r>
            <a:endParaRPr b="0" lang="en-US" sz="4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548640" y="2606040"/>
            <a:ext cx="10058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5fa"/>
                </a:solidFill>
                <a:latin typeface="Inter"/>
              </a:rPr>
              <a:t>Every transaction triggers a split. Below: a single round-up at an 80/20 vector.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5" name="Rounded Rectangle 5"/>
          <p:cNvSpPr/>
          <p:nvPr/>
        </p:nvSpPr>
        <p:spPr>
          <a:xfrm>
            <a:off x="4727520" y="3108960"/>
            <a:ext cx="2742840" cy="63972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4727520" y="3200400"/>
            <a:ext cx="27428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TRANSACTION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7" name="TextBox 7"/>
          <p:cNvSpPr/>
          <p:nvPr/>
        </p:nvSpPr>
        <p:spPr>
          <a:xfrm>
            <a:off x="4727520" y="3493080"/>
            <a:ext cx="27428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Inter"/>
              </a:rPr>
              <a:t>$4.35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</p:txBody>
      </p:sp>
      <p:cxnSp>
        <p:nvCxnSpPr>
          <p:cNvPr id="178" name="Connector 8"/>
          <p:cNvCxnSpPr/>
          <p:nvPr/>
        </p:nvCxnSpPr>
        <p:spPr>
          <a:xfrm>
            <a:off x="6095520" y="3749040"/>
            <a:ext cx="360" cy="274680"/>
          </a:xfrm>
          <a:prstGeom prst="straightConnector1">
            <a:avLst/>
          </a:prstGeom>
          <a:ln w="19050">
            <a:solidFill>
              <a:srgbClr val="e6e5fa"/>
            </a:solidFill>
            <a:prstDash val="dash"/>
            <a:round/>
            <a:tailEnd len="med" type="triangle" w="med"/>
          </a:ln>
        </p:spPr>
      </p:cxnSp>
      <p:sp>
        <p:nvSpPr>
          <p:cNvPr id="179" name="Rounded Rectangle 9"/>
          <p:cNvSpPr/>
          <p:nvPr/>
        </p:nvSpPr>
        <p:spPr>
          <a:xfrm>
            <a:off x="4727520" y="4069080"/>
            <a:ext cx="2742840" cy="63972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TextBox 10"/>
          <p:cNvSpPr/>
          <p:nvPr/>
        </p:nvSpPr>
        <p:spPr>
          <a:xfrm>
            <a:off x="4727520" y="4160520"/>
            <a:ext cx="27428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199" strike="noStrike">
                <a:solidFill>
                  <a:srgbClr val="ffffff"/>
                </a:solidFill>
                <a:latin typeface="Inter"/>
              </a:rPr>
              <a:t>ROUND-UP  ($5.00 − $4.35)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1" name="TextBox 11"/>
          <p:cNvSpPr/>
          <p:nvPr/>
        </p:nvSpPr>
        <p:spPr>
          <a:xfrm>
            <a:off x="4727520" y="4453200"/>
            <a:ext cx="27428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Inter"/>
              </a:rPr>
              <a:t>$0.65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</p:txBody>
      </p:sp>
      <p:cxnSp>
        <p:nvCxnSpPr>
          <p:cNvPr id="182" name="Connector 12"/>
          <p:cNvCxnSpPr/>
          <p:nvPr/>
        </p:nvCxnSpPr>
        <p:spPr>
          <a:xfrm>
            <a:off x="6095520" y="4709160"/>
            <a:ext cx="360" cy="274680"/>
          </a:xfrm>
          <a:prstGeom prst="straightConnector1">
            <a:avLst/>
          </a:prstGeom>
          <a:ln w="19050">
            <a:solidFill>
              <a:srgbClr val="e6e5fa"/>
            </a:solidFill>
            <a:round/>
          </a:ln>
        </p:spPr>
      </p:cxnSp>
      <p:cxnSp>
        <p:nvCxnSpPr>
          <p:cNvPr id="183" name="Connector 13"/>
          <p:cNvCxnSpPr/>
          <p:nvPr/>
        </p:nvCxnSpPr>
        <p:spPr>
          <a:xfrm>
            <a:off x="2560320" y="4983480"/>
            <a:ext cx="7041240" cy="360"/>
          </a:xfrm>
          <a:prstGeom prst="straightConnector1">
            <a:avLst/>
          </a:prstGeom>
          <a:ln w="19050">
            <a:solidFill>
              <a:srgbClr val="e6e5fa"/>
            </a:solidFill>
            <a:round/>
          </a:ln>
        </p:spPr>
      </p:cxnSp>
      <p:cxnSp>
        <p:nvCxnSpPr>
          <p:cNvPr id="184" name="Connector 14"/>
          <p:cNvCxnSpPr/>
          <p:nvPr/>
        </p:nvCxnSpPr>
        <p:spPr>
          <a:xfrm>
            <a:off x="2560320" y="4983480"/>
            <a:ext cx="360" cy="366120"/>
          </a:xfrm>
          <a:prstGeom prst="straightConnector1">
            <a:avLst/>
          </a:prstGeom>
          <a:ln w="19050">
            <a:solidFill>
              <a:srgbClr val="e6e5fa"/>
            </a:solidFill>
            <a:prstDash val="dash"/>
            <a:round/>
            <a:tailEnd len="med" type="triangle" w="med"/>
          </a:ln>
        </p:spPr>
      </p:cxnSp>
      <p:cxnSp>
        <p:nvCxnSpPr>
          <p:cNvPr id="185" name="Connector 15"/>
          <p:cNvCxnSpPr/>
          <p:nvPr/>
        </p:nvCxnSpPr>
        <p:spPr>
          <a:xfrm>
            <a:off x="9601200" y="4983480"/>
            <a:ext cx="360" cy="366120"/>
          </a:xfrm>
          <a:prstGeom prst="straightConnector1">
            <a:avLst/>
          </a:prstGeom>
          <a:ln w="19050">
            <a:solidFill>
              <a:srgbClr val="e6e5fa"/>
            </a:solidFill>
            <a:prstDash val="dash"/>
            <a:round/>
            <a:tailEnd len="med" type="triangle" w="med"/>
          </a:ln>
        </p:spPr>
      </p:cxnSp>
      <p:sp>
        <p:nvSpPr>
          <p:cNvPr id="186" name="Rounded Rectangle 16"/>
          <p:cNvSpPr/>
          <p:nvPr/>
        </p:nvSpPr>
        <p:spPr>
          <a:xfrm>
            <a:off x="731520" y="5257800"/>
            <a:ext cx="3657240" cy="9140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TextBox 17"/>
          <p:cNvSpPr/>
          <p:nvPr/>
        </p:nvSpPr>
        <p:spPr>
          <a:xfrm>
            <a:off x="731520" y="5422320"/>
            <a:ext cx="3657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DEBT  ·  80%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8" name="TextBox 18"/>
          <p:cNvSpPr/>
          <p:nvPr/>
        </p:nvSpPr>
        <p:spPr>
          <a:xfrm>
            <a:off x="731520" y="5641920"/>
            <a:ext cx="36572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Inter"/>
              </a:rPr>
              <a:t>$0.52</a:t>
            </a: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9" name="TextBox 19"/>
          <p:cNvSpPr/>
          <p:nvPr/>
        </p:nvSpPr>
        <p:spPr>
          <a:xfrm>
            <a:off x="731520" y="5916240"/>
            <a:ext cx="3657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5fa"/>
                </a:solidFill>
                <a:latin typeface="Inter"/>
              </a:rPr>
              <a:t>ACH → credit card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0" name="Rounded Rectangle 20"/>
          <p:cNvSpPr/>
          <p:nvPr/>
        </p:nvSpPr>
        <p:spPr>
          <a:xfrm>
            <a:off x="7772400" y="5257800"/>
            <a:ext cx="3657240" cy="9140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21"/>
          <p:cNvSpPr/>
          <p:nvPr/>
        </p:nvSpPr>
        <p:spPr>
          <a:xfrm>
            <a:off x="7772400" y="5422320"/>
            <a:ext cx="3657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BITCOIN  ·  20%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2" name="TextBox 22"/>
          <p:cNvSpPr/>
          <p:nvPr/>
        </p:nvSpPr>
        <p:spPr>
          <a:xfrm>
            <a:off x="7772400" y="5641920"/>
            <a:ext cx="365724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ffffff"/>
                </a:solidFill>
                <a:latin typeface="Inter"/>
              </a:rPr>
              <a:t>$0.13</a:t>
            </a: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3" name="TextBox 23"/>
          <p:cNvSpPr/>
          <p:nvPr/>
        </p:nvSpPr>
        <p:spPr>
          <a:xfrm>
            <a:off x="7772400" y="5916240"/>
            <a:ext cx="3657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5fa"/>
                </a:solidFill>
                <a:latin typeface="Inter"/>
              </a:rPr>
              <a:t>Coinbase market buy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4" name="Rectangle 24"/>
          <p:cNvSpPr/>
          <p:nvPr/>
        </p:nvSpPr>
        <p:spPr>
          <a:xfrm>
            <a:off x="457200" y="6492240"/>
            <a:ext cx="456840" cy="1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25"/>
          <p:cNvSpPr/>
          <p:nvPr/>
        </p:nvSpPr>
        <p:spPr>
          <a:xfrm>
            <a:off x="960120" y="6355080"/>
            <a:ext cx="2285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6" name="TextBox 26"/>
          <p:cNvSpPr/>
          <p:nvPr/>
        </p:nvSpPr>
        <p:spPr>
          <a:xfrm>
            <a:off x="0" y="6355080"/>
            <a:ext cx="12191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299" strike="noStrike">
                <a:solidFill>
                  <a:srgbClr val="e6e5fa"/>
                </a:solidFill>
                <a:latin typeface="Inter"/>
              </a:rPr>
              <a:t>PATENT OVERVIEW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7" name="TextBox 27"/>
          <p:cNvSpPr/>
          <p:nvPr/>
        </p:nvSpPr>
        <p:spPr>
          <a:xfrm>
            <a:off x="0" y="6355080"/>
            <a:ext cx="1173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199" strike="noStrike">
                <a:solidFill>
                  <a:srgbClr val="e6e5fa"/>
                </a:solidFill>
                <a:latin typeface="Inter"/>
              </a:rPr>
              <a:t>07 / 12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1"/>
          <p:cNvSpPr/>
          <p:nvPr/>
        </p:nvSpPr>
        <p:spPr>
          <a:xfrm>
            <a:off x="548640" y="50292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07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9" name="TextBox 2"/>
          <p:cNvSpPr/>
          <p:nvPr/>
        </p:nvSpPr>
        <p:spPr>
          <a:xfrm>
            <a:off x="548640" y="7772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DUAL-DESTINATION MODEL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0" name="TextBox 3"/>
          <p:cNvSpPr/>
          <p:nvPr/>
        </p:nvSpPr>
        <p:spPr>
          <a:xfrm>
            <a:off x="548640" y="1143000"/>
            <a:ext cx="1109124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Debt and Bitcoin — From the Same Round-Up</a:t>
            </a:r>
            <a:endParaRPr b="0" lang="en-US" sz="4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1" name="TextBox 4"/>
          <p:cNvSpPr/>
          <p:nvPr/>
        </p:nvSpPr>
        <p:spPr>
          <a:xfrm>
            <a:off x="548640" y="2606040"/>
            <a:ext cx="10058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5fa"/>
                </a:solidFill>
                <a:latin typeface="Inter"/>
              </a:rPr>
              <a:t>The core embodiment: one allocation vector, two simultaneous outcomes.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2" name="Rounded Rectangle 5"/>
          <p:cNvSpPr/>
          <p:nvPr/>
        </p:nvSpPr>
        <p:spPr>
          <a:xfrm>
            <a:off x="4727520" y="3291840"/>
            <a:ext cx="2742840" cy="731160"/>
          </a:xfrm>
          <a:prstGeom prst="roundRect">
            <a:avLst>
              <a:gd name="adj" fmla="val 1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TextBox 6"/>
          <p:cNvSpPr/>
          <p:nvPr/>
        </p:nvSpPr>
        <p:spPr>
          <a:xfrm>
            <a:off x="4727520" y="3429000"/>
            <a:ext cx="2742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ROUND-UP POOL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4" name="TextBox 7"/>
          <p:cNvSpPr/>
          <p:nvPr/>
        </p:nvSpPr>
        <p:spPr>
          <a:xfrm>
            <a:off x="4727520" y="3703320"/>
            <a:ext cx="27428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6e5fa"/>
                </a:solidFill>
                <a:latin typeface="Inter"/>
              </a:rPr>
              <a:t>Allocation Vector V = [D, A]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</p:txBody>
      </p:sp>
      <p:cxnSp>
        <p:nvCxnSpPr>
          <p:cNvPr id="205" name="Connector 8"/>
          <p:cNvCxnSpPr/>
          <p:nvPr/>
        </p:nvCxnSpPr>
        <p:spPr>
          <a:xfrm>
            <a:off x="6095520" y="4023360"/>
            <a:ext cx="360" cy="366120"/>
          </a:xfrm>
          <a:prstGeom prst="straightConnector1">
            <a:avLst/>
          </a:prstGeom>
          <a:ln w="19050">
            <a:solidFill>
              <a:srgbClr val="e6e5fa"/>
            </a:solidFill>
            <a:round/>
          </a:ln>
        </p:spPr>
      </p:cxnSp>
      <p:cxnSp>
        <p:nvCxnSpPr>
          <p:cNvPr id="206" name="Connector 9"/>
          <p:cNvCxnSpPr/>
          <p:nvPr/>
        </p:nvCxnSpPr>
        <p:spPr>
          <a:xfrm>
            <a:off x="2743200" y="4389120"/>
            <a:ext cx="6702840" cy="360"/>
          </a:xfrm>
          <a:prstGeom prst="straightConnector1">
            <a:avLst/>
          </a:prstGeom>
          <a:ln w="19050">
            <a:solidFill>
              <a:srgbClr val="e6e5fa"/>
            </a:solidFill>
            <a:round/>
          </a:ln>
        </p:spPr>
      </p:cxnSp>
      <p:cxnSp>
        <p:nvCxnSpPr>
          <p:cNvPr id="207" name="Connector 10"/>
          <p:cNvCxnSpPr/>
          <p:nvPr/>
        </p:nvCxnSpPr>
        <p:spPr>
          <a:xfrm>
            <a:off x="2743200" y="4389120"/>
            <a:ext cx="360" cy="366120"/>
          </a:xfrm>
          <a:prstGeom prst="straightConnector1">
            <a:avLst/>
          </a:prstGeom>
          <a:ln w="19050">
            <a:solidFill>
              <a:srgbClr val="e6e5fa"/>
            </a:solidFill>
            <a:prstDash val="dash"/>
            <a:round/>
            <a:tailEnd len="med" type="triangle" w="med"/>
          </a:ln>
        </p:spPr>
      </p:cxnSp>
      <p:cxnSp>
        <p:nvCxnSpPr>
          <p:cNvPr id="208" name="Connector 11"/>
          <p:cNvCxnSpPr/>
          <p:nvPr/>
        </p:nvCxnSpPr>
        <p:spPr>
          <a:xfrm>
            <a:off x="9445680" y="4389120"/>
            <a:ext cx="360" cy="366120"/>
          </a:xfrm>
          <a:prstGeom prst="straightConnector1">
            <a:avLst/>
          </a:prstGeom>
          <a:ln w="19050">
            <a:solidFill>
              <a:srgbClr val="e6e5fa"/>
            </a:solidFill>
            <a:prstDash val="dash"/>
            <a:round/>
            <a:tailEnd len="med" type="triangle" w="med"/>
          </a:ln>
        </p:spPr>
      </p:cxnSp>
      <p:sp>
        <p:nvSpPr>
          <p:cNvPr id="209" name="Rounded Rectangle 12"/>
          <p:cNvSpPr/>
          <p:nvPr/>
        </p:nvSpPr>
        <p:spPr>
          <a:xfrm>
            <a:off x="914400" y="4709160"/>
            <a:ext cx="3657240" cy="6854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13"/>
          <p:cNvSpPr/>
          <p:nvPr/>
        </p:nvSpPr>
        <p:spPr>
          <a:xfrm>
            <a:off x="914400" y="4873680"/>
            <a:ext cx="3657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DEBT REPAYMENT RAIL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1" name="TextBox 14"/>
          <p:cNvSpPr/>
          <p:nvPr/>
        </p:nvSpPr>
        <p:spPr>
          <a:xfrm>
            <a:off x="914400" y="516636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6e5fa"/>
                </a:solidFill>
                <a:latin typeface="Inter"/>
              </a:rPr>
              <a:t>Idempotent  ·  reconciled  ·  retried on failure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cxnSp>
        <p:nvCxnSpPr>
          <p:cNvPr id="212" name="Connector 15"/>
          <p:cNvCxnSpPr/>
          <p:nvPr/>
        </p:nvCxnSpPr>
        <p:spPr>
          <a:xfrm>
            <a:off x="2743200" y="5394960"/>
            <a:ext cx="360" cy="183240"/>
          </a:xfrm>
          <a:prstGeom prst="straightConnector1">
            <a:avLst/>
          </a:prstGeom>
          <a:ln w="19050">
            <a:solidFill>
              <a:srgbClr val="e6e5fa"/>
            </a:solidFill>
            <a:prstDash val="dash"/>
            <a:round/>
            <a:tailEnd len="med" type="triangle" w="med"/>
          </a:ln>
        </p:spPr>
      </p:cxnSp>
      <p:sp>
        <p:nvSpPr>
          <p:cNvPr id="213" name="Rounded Rectangle 16"/>
          <p:cNvSpPr/>
          <p:nvPr/>
        </p:nvSpPr>
        <p:spPr>
          <a:xfrm>
            <a:off x="914400" y="5577840"/>
            <a:ext cx="3657240" cy="68544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7"/>
          <p:cNvSpPr/>
          <p:nvPr/>
        </p:nvSpPr>
        <p:spPr>
          <a:xfrm>
            <a:off x="914400" y="5824800"/>
            <a:ext cx="3657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Inter"/>
              </a:rPr>
              <a:t>Credit card  /  Loan servicer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5" name="Rounded Rectangle 18"/>
          <p:cNvSpPr/>
          <p:nvPr/>
        </p:nvSpPr>
        <p:spPr>
          <a:xfrm>
            <a:off x="7616880" y="4709160"/>
            <a:ext cx="3657240" cy="6854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19"/>
          <p:cNvSpPr/>
          <p:nvPr/>
        </p:nvSpPr>
        <p:spPr>
          <a:xfrm>
            <a:off x="7616880" y="4873680"/>
            <a:ext cx="36572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DIGITAL ASSET RAIL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7" name="TextBox 20"/>
          <p:cNvSpPr/>
          <p:nvPr/>
        </p:nvSpPr>
        <p:spPr>
          <a:xfrm>
            <a:off x="7616880" y="5166360"/>
            <a:ext cx="36572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e6e5fa"/>
                </a:solidFill>
                <a:latin typeface="Inter"/>
              </a:rPr>
              <a:t>Idempotent  ·  reconciled  ·  retried on failure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cxnSp>
        <p:nvCxnSpPr>
          <p:cNvPr id="218" name="Connector 21"/>
          <p:cNvCxnSpPr/>
          <p:nvPr/>
        </p:nvCxnSpPr>
        <p:spPr>
          <a:xfrm>
            <a:off x="9445680" y="5394960"/>
            <a:ext cx="360" cy="183240"/>
          </a:xfrm>
          <a:prstGeom prst="straightConnector1">
            <a:avLst/>
          </a:prstGeom>
          <a:ln w="19050">
            <a:solidFill>
              <a:srgbClr val="e6e5fa"/>
            </a:solidFill>
            <a:prstDash val="dash"/>
            <a:round/>
            <a:tailEnd len="med" type="triangle" w="med"/>
          </a:ln>
        </p:spPr>
      </p:cxnSp>
      <p:sp>
        <p:nvSpPr>
          <p:cNvPr id="219" name="Rounded Rectangle 22"/>
          <p:cNvSpPr/>
          <p:nvPr/>
        </p:nvSpPr>
        <p:spPr>
          <a:xfrm>
            <a:off x="7616880" y="5577840"/>
            <a:ext cx="3657240" cy="685440"/>
          </a:xfrm>
          <a:prstGeom prst="roundRect">
            <a:avLst>
              <a:gd name="adj" fmla="val 10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TextBox 23"/>
          <p:cNvSpPr/>
          <p:nvPr/>
        </p:nvSpPr>
        <p:spPr>
          <a:xfrm>
            <a:off x="7616880" y="5824800"/>
            <a:ext cx="3657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Inter"/>
              </a:rPr>
              <a:t>Coinbase  /  Custodial wallet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1" name="Rectangle 24"/>
          <p:cNvSpPr/>
          <p:nvPr/>
        </p:nvSpPr>
        <p:spPr>
          <a:xfrm>
            <a:off x="457200" y="6492240"/>
            <a:ext cx="456840" cy="1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25"/>
          <p:cNvSpPr/>
          <p:nvPr/>
        </p:nvSpPr>
        <p:spPr>
          <a:xfrm>
            <a:off x="960120" y="6355080"/>
            <a:ext cx="2285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3" name="TextBox 26"/>
          <p:cNvSpPr/>
          <p:nvPr/>
        </p:nvSpPr>
        <p:spPr>
          <a:xfrm>
            <a:off x="0" y="6355080"/>
            <a:ext cx="12191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299" strike="noStrike">
                <a:solidFill>
                  <a:srgbClr val="e6e5fa"/>
                </a:solidFill>
                <a:latin typeface="Inter"/>
              </a:rPr>
              <a:t>PATENT OVERVIEW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4" name="TextBox 27"/>
          <p:cNvSpPr/>
          <p:nvPr/>
        </p:nvSpPr>
        <p:spPr>
          <a:xfrm>
            <a:off x="0" y="6355080"/>
            <a:ext cx="1173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199" strike="noStrike">
                <a:solidFill>
                  <a:srgbClr val="e6e5fa"/>
                </a:solidFill>
                <a:latin typeface="Inter"/>
              </a:rPr>
              <a:t>08 / 12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1"/>
          <p:cNvSpPr/>
          <p:nvPr/>
        </p:nvSpPr>
        <p:spPr>
          <a:xfrm>
            <a:off x="548640" y="50292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08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6" name="TextBox 2"/>
          <p:cNvSpPr/>
          <p:nvPr/>
        </p:nvSpPr>
        <p:spPr>
          <a:xfrm>
            <a:off x="548640" y="7772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N-DESTINATION MODEL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7" name="TextBox 3"/>
          <p:cNvSpPr/>
          <p:nvPr/>
        </p:nvSpPr>
        <p:spPr>
          <a:xfrm>
            <a:off x="548640" y="1143000"/>
            <a:ext cx="1109124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The Vector Extends to Any Number of Destinations</a:t>
            </a:r>
            <a:endParaRPr b="0" lang="en-US" sz="4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8" name="TextBox 4"/>
          <p:cNvSpPr/>
          <p:nvPr/>
        </p:nvSpPr>
        <p:spPr>
          <a:xfrm>
            <a:off x="548640" y="2606040"/>
            <a:ext cx="10058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5fa"/>
                </a:solidFill>
                <a:latin typeface="Inter"/>
              </a:rPr>
              <a:t>V = [w₁, w₂, w₃, ... wₙ]   —   Σwₙ = 100%. Future destinations are protected by claim.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9" name="Rounded Rectangle 5"/>
          <p:cNvSpPr/>
          <p:nvPr/>
        </p:nvSpPr>
        <p:spPr>
          <a:xfrm>
            <a:off x="1828800" y="3246120"/>
            <a:ext cx="8530920" cy="731160"/>
          </a:xfrm>
          <a:prstGeom prst="roundRect">
            <a:avLst>
              <a:gd name="adj" fmla="val 10000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TextBox 6"/>
          <p:cNvSpPr/>
          <p:nvPr/>
        </p:nvSpPr>
        <p:spPr>
          <a:xfrm>
            <a:off x="1828800" y="3493080"/>
            <a:ext cx="85309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Inter"/>
              </a:rPr>
              <a:t>ALLOCATION VECTOR  V = [50% debt,  20% Bitcoin,  20% savings,  10% charity]</a:t>
            </a:r>
            <a:endParaRPr b="0" lang="en-US" sz="1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1" name="Rounded Rectangle 7"/>
          <p:cNvSpPr/>
          <p:nvPr/>
        </p:nvSpPr>
        <p:spPr>
          <a:xfrm>
            <a:off x="548640" y="4251960"/>
            <a:ext cx="2102760" cy="13712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8"/>
          <p:cNvSpPr/>
          <p:nvPr/>
        </p:nvSpPr>
        <p:spPr>
          <a:xfrm>
            <a:off x="731520" y="4480560"/>
            <a:ext cx="17370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CREDIT CARD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3" name="TextBox 9"/>
          <p:cNvSpPr/>
          <p:nvPr/>
        </p:nvSpPr>
        <p:spPr>
          <a:xfrm>
            <a:off x="731520" y="4892040"/>
            <a:ext cx="17370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5fa"/>
                </a:solidFill>
                <a:latin typeface="Inter"/>
              </a:rPr>
              <a:t>Highest-interest debt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4" name="Rounded Rectangle 10"/>
          <p:cNvSpPr/>
          <p:nvPr/>
        </p:nvSpPr>
        <p:spPr>
          <a:xfrm>
            <a:off x="2795760" y="4251960"/>
            <a:ext cx="2102760" cy="13712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TextBox 11"/>
          <p:cNvSpPr/>
          <p:nvPr/>
        </p:nvSpPr>
        <p:spPr>
          <a:xfrm>
            <a:off x="2978640" y="4480560"/>
            <a:ext cx="17370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BITCOIN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6" name="TextBox 12"/>
          <p:cNvSpPr/>
          <p:nvPr/>
        </p:nvSpPr>
        <p:spPr>
          <a:xfrm>
            <a:off x="2978640" y="4892040"/>
            <a:ext cx="17370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5fa"/>
                </a:solidFill>
                <a:latin typeface="Inter"/>
              </a:rPr>
              <a:t>Long-term store of value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7" name="Rounded Rectangle 13"/>
          <p:cNvSpPr/>
          <p:nvPr/>
        </p:nvSpPr>
        <p:spPr>
          <a:xfrm>
            <a:off x="5042880" y="4251960"/>
            <a:ext cx="2102760" cy="13712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14"/>
          <p:cNvSpPr/>
          <p:nvPr/>
        </p:nvSpPr>
        <p:spPr>
          <a:xfrm>
            <a:off x="5225760" y="4480560"/>
            <a:ext cx="17370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SAVINGS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9" name="TextBox 15"/>
          <p:cNvSpPr/>
          <p:nvPr/>
        </p:nvSpPr>
        <p:spPr>
          <a:xfrm>
            <a:off x="5225760" y="4892040"/>
            <a:ext cx="17370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5fa"/>
                </a:solidFill>
                <a:latin typeface="Inter"/>
              </a:rPr>
              <a:t>Emergency reserve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0" name="Rounded Rectangle 16"/>
          <p:cNvSpPr/>
          <p:nvPr/>
        </p:nvSpPr>
        <p:spPr>
          <a:xfrm>
            <a:off x="7290000" y="4251960"/>
            <a:ext cx="2102760" cy="13712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17"/>
          <p:cNvSpPr/>
          <p:nvPr/>
        </p:nvSpPr>
        <p:spPr>
          <a:xfrm>
            <a:off x="7472880" y="4480560"/>
            <a:ext cx="17370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INVESTMENT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2" name="TextBox 18"/>
          <p:cNvSpPr/>
          <p:nvPr/>
        </p:nvSpPr>
        <p:spPr>
          <a:xfrm>
            <a:off x="7472880" y="4892040"/>
            <a:ext cx="17370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5fa"/>
                </a:solidFill>
                <a:latin typeface="Inter"/>
              </a:rPr>
              <a:t>Brokerage / index funds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3" name="Rounded Rectangle 19"/>
          <p:cNvSpPr/>
          <p:nvPr/>
        </p:nvSpPr>
        <p:spPr>
          <a:xfrm>
            <a:off x="9537120" y="4251960"/>
            <a:ext cx="2102760" cy="13712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20"/>
          <p:cNvSpPr/>
          <p:nvPr/>
        </p:nvSpPr>
        <p:spPr>
          <a:xfrm>
            <a:off x="9720000" y="4480560"/>
            <a:ext cx="17370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DESTINATION N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5" name="TextBox 21"/>
          <p:cNvSpPr/>
          <p:nvPr/>
        </p:nvSpPr>
        <p:spPr>
          <a:xfrm>
            <a:off x="9720000" y="4892040"/>
            <a:ext cx="173700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e6e5fa"/>
                </a:solidFill>
                <a:latin typeface="Inter"/>
              </a:rPr>
              <a:t>Future: yield, charity, refinance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6" name="TextBox 22"/>
          <p:cNvSpPr/>
          <p:nvPr/>
        </p:nvSpPr>
        <p:spPr>
          <a:xfrm>
            <a:off x="0" y="5989320"/>
            <a:ext cx="12191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The patent claims cover the N-dimensional model — not just two destinations.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7" name="Rectangle 23"/>
          <p:cNvSpPr/>
          <p:nvPr/>
        </p:nvSpPr>
        <p:spPr>
          <a:xfrm>
            <a:off x="457200" y="6492240"/>
            <a:ext cx="456840" cy="1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24"/>
          <p:cNvSpPr/>
          <p:nvPr/>
        </p:nvSpPr>
        <p:spPr>
          <a:xfrm>
            <a:off x="960120" y="6355080"/>
            <a:ext cx="2285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9" name="TextBox 25"/>
          <p:cNvSpPr/>
          <p:nvPr/>
        </p:nvSpPr>
        <p:spPr>
          <a:xfrm>
            <a:off x="0" y="6355080"/>
            <a:ext cx="12191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299" strike="noStrike">
                <a:solidFill>
                  <a:srgbClr val="e6e5fa"/>
                </a:solidFill>
                <a:latin typeface="Inter"/>
              </a:rPr>
              <a:t>PATENT OVERVIEW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0" name="TextBox 26"/>
          <p:cNvSpPr/>
          <p:nvPr/>
        </p:nvSpPr>
        <p:spPr>
          <a:xfrm>
            <a:off x="0" y="6355080"/>
            <a:ext cx="1173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199" strike="noStrike">
                <a:solidFill>
                  <a:srgbClr val="e6e5fa"/>
                </a:solidFill>
                <a:latin typeface="Inter"/>
              </a:rPr>
              <a:t>09 / 12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1"/>
          <p:cNvSpPr/>
          <p:nvPr/>
        </p:nvSpPr>
        <p:spPr>
          <a:xfrm>
            <a:off x="548640" y="50292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09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548640" y="7772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USER CONTROL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3" name="TextBox 3"/>
          <p:cNvSpPr/>
          <p:nvPr/>
        </p:nvSpPr>
        <p:spPr>
          <a:xfrm>
            <a:off x="548640" y="1143000"/>
            <a:ext cx="110912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One Slider. Total Control.</a:t>
            </a:r>
            <a:endParaRPr b="0" lang="en-US" sz="4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4" name="TextBox 4"/>
          <p:cNvSpPr/>
          <p:nvPr/>
        </p:nvSpPr>
        <p:spPr>
          <a:xfrm>
            <a:off x="548640" y="2606040"/>
            <a:ext cx="10058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5fa"/>
                </a:solidFill>
                <a:latin typeface="Inter"/>
              </a:rPr>
              <a:t>Continuous 0–100% allocation. The user picks the mix. The engine handles the rest.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5" name="TextBox 5"/>
          <p:cNvSpPr/>
          <p:nvPr/>
        </p:nvSpPr>
        <p:spPr>
          <a:xfrm>
            <a:off x="548640" y="3291840"/>
            <a:ext cx="1371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Debt 100%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6" name="TextBox 6"/>
          <p:cNvSpPr/>
          <p:nvPr/>
        </p:nvSpPr>
        <p:spPr>
          <a:xfrm>
            <a:off x="9784080" y="3291840"/>
            <a:ext cx="18284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Bitcoin 0%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7" name="Rounded Rectangle 7"/>
          <p:cNvSpPr/>
          <p:nvPr/>
        </p:nvSpPr>
        <p:spPr>
          <a:xfrm>
            <a:off x="2011680" y="3410640"/>
            <a:ext cx="7589160" cy="1278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8" name="Oval 8"/>
          <p:cNvSpPr/>
          <p:nvPr/>
        </p:nvSpPr>
        <p:spPr>
          <a:xfrm>
            <a:off x="1865520" y="3328560"/>
            <a:ext cx="292320" cy="292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TextBox 9"/>
          <p:cNvSpPr/>
          <p:nvPr/>
        </p:nvSpPr>
        <p:spPr>
          <a:xfrm>
            <a:off x="548640" y="3931920"/>
            <a:ext cx="1371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Debt 80%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0" name="TextBox 10"/>
          <p:cNvSpPr/>
          <p:nvPr/>
        </p:nvSpPr>
        <p:spPr>
          <a:xfrm>
            <a:off x="9784080" y="3931920"/>
            <a:ext cx="18284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Bitcoin 20%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1" name="Rounded Rectangle 11"/>
          <p:cNvSpPr/>
          <p:nvPr/>
        </p:nvSpPr>
        <p:spPr>
          <a:xfrm>
            <a:off x="2011680" y="4050720"/>
            <a:ext cx="7589160" cy="1278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Oval 12"/>
          <p:cNvSpPr/>
          <p:nvPr/>
        </p:nvSpPr>
        <p:spPr>
          <a:xfrm>
            <a:off x="3383280" y="3968640"/>
            <a:ext cx="292320" cy="292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TextBox 13"/>
          <p:cNvSpPr/>
          <p:nvPr/>
        </p:nvSpPr>
        <p:spPr>
          <a:xfrm>
            <a:off x="548640" y="4572000"/>
            <a:ext cx="1371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Debt 50%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4" name="TextBox 14"/>
          <p:cNvSpPr/>
          <p:nvPr/>
        </p:nvSpPr>
        <p:spPr>
          <a:xfrm>
            <a:off x="9784080" y="4572000"/>
            <a:ext cx="18284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Bitcoin 50%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5" name="Rounded Rectangle 15"/>
          <p:cNvSpPr/>
          <p:nvPr/>
        </p:nvSpPr>
        <p:spPr>
          <a:xfrm>
            <a:off x="2011680" y="4690800"/>
            <a:ext cx="7589160" cy="1278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6" name="Oval 16"/>
          <p:cNvSpPr/>
          <p:nvPr/>
        </p:nvSpPr>
        <p:spPr>
          <a:xfrm>
            <a:off x="5660280" y="4608720"/>
            <a:ext cx="292320" cy="292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17"/>
          <p:cNvSpPr/>
          <p:nvPr/>
        </p:nvSpPr>
        <p:spPr>
          <a:xfrm>
            <a:off x="548640" y="5212080"/>
            <a:ext cx="13712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Debt 0%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8" name="TextBox 18"/>
          <p:cNvSpPr/>
          <p:nvPr/>
        </p:nvSpPr>
        <p:spPr>
          <a:xfrm>
            <a:off x="9784080" y="5212080"/>
            <a:ext cx="18284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Bitcoin 100%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9" name="Rounded Rectangle 19"/>
          <p:cNvSpPr/>
          <p:nvPr/>
        </p:nvSpPr>
        <p:spPr>
          <a:xfrm>
            <a:off x="2011680" y="5330880"/>
            <a:ext cx="7589160" cy="1278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Oval 20"/>
          <p:cNvSpPr/>
          <p:nvPr/>
        </p:nvSpPr>
        <p:spPr>
          <a:xfrm>
            <a:off x="9455040" y="5248800"/>
            <a:ext cx="292320" cy="292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1" name="TextBox 21"/>
          <p:cNvSpPr/>
          <p:nvPr/>
        </p:nvSpPr>
        <p:spPr>
          <a:xfrm>
            <a:off x="0" y="6080760"/>
            <a:ext cx="12191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Inter"/>
              </a:rPr>
              <a:t>Allocation vector is stored, versioned, and applied to every future round-up.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2" name="Rectangle 22"/>
          <p:cNvSpPr/>
          <p:nvPr/>
        </p:nvSpPr>
        <p:spPr>
          <a:xfrm>
            <a:off x="457200" y="6492240"/>
            <a:ext cx="456840" cy="1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23"/>
          <p:cNvSpPr/>
          <p:nvPr/>
        </p:nvSpPr>
        <p:spPr>
          <a:xfrm>
            <a:off x="960120" y="6355080"/>
            <a:ext cx="2285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4" name="TextBox 24"/>
          <p:cNvSpPr/>
          <p:nvPr/>
        </p:nvSpPr>
        <p:spPr>
          <a:xfrm>
            <a:off x="0" y="6355080"/>
            <a:ext cx="12191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299" strike="noStrike">
                <a:solidFill>
                  <a:srgbClr val="e6e5fa"/>
                </a:solidFill>
                <a:latin typeface="Inter"/>
              </a:rPr>
              <a:t>PATENT OVERVIEW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5" name="TextBox 25"/>
          <p:cNvSpPr/>
          <p:nvPr/>
        </p:nvSpPr>
        <p:spPr>
          <a:xfrm>
            <a:off x="0" y="6355080"/>
            <a:ext cx="1173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199" strike="noStrike">
                <a:solidFill>
                  <a:srgbClr val="e6e5fa"/>
                </a:solidFill>
                <a:latin typeface="Inter"/>
              </a:rPr>
              <a:t>10 / 12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1"/>
          <p:cNvSpPr/>
          <p:nvPr/>
        </p:nvSpPr>
        <p:spPr>
          <a:xfrm>
            <a:off x="548640" y="50292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10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7" name="TextBox 2"/>
          <p:cNvSpPr/>
          <p:nvPr/>
        </p:nvSpPr>
        <p:spPr>
          <a:xfrm>
            <a:off x="548640" y="7772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WHAT'S PROTECTED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8" name="TextBox 3"/>
          <p:cNvSpPr/>
          <p:nvPr/>
        </p:nvSpPr>
        <p:spPr>
          <a:xfrm>
            <a:off x="548640" y="1143000"/>
            <a:ext cx="110912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Five Claims That Build the Moat</a:t>
            </a:r>
            <a:endParaRPr b="0" lang="en-US" sz="4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9" name="TextBox 4"/>
          <p:cNvSpPr/>
          <p:nvPr/>
        </p:nvSpPr>
        <p:spPr>
          <a:xfrm>
            <a:off x="548640" y="2606040"/>
            <a:ext cx="10058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5fa"/>
                </a:solidFill>
                <a:latin typeface="Inter"/>
              </a:rPr>
              <a:t>Plain-English summary of the strongest claims in the provisional filing.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0" name="TextBox 5"/>
          <p:cNvSpPr/>
          <p:nvPr/>
        </p:nvSpPr>
        <p:spPr>
          <a:xfrm>
            <a:off x="548640" y="3329280"/>
            <a:ext cx="6397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6e5fa"/>
                </a:solidFill>
                <a:latin typeface="Inter"/>
              </a:rPr>
              <a:t>01</a:t>
            </a: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1" name="TextBox 6"/>
          <p:cNvSpPr/>
          <p:nvPr/>
        </p:nvSpPr>
        <p:spPr>
          <a:xfrm>
            <a:off x="1234440" y="3397680"/>
            <a:ext cx="32000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299" strike="noStrike">
                <a:solidFill>
                  <a:srgbClr val="ffffff"/>
                </a:solidFill>
                <a:latin typeface="Inter"/>
              </a:rPr>
              <a:t>DUAL-SPLIT ROUND-UPS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2" name="TextBox 7"/>
          <p:cNvSpPr/>
          <p:nvPr/>
        </p:nvSpPr>
        <p:spPr>
          <a:xfrm>
            <a:off x="4572000" y="3298680"/>
            <a:ext cx="731484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6e5fa"/>
                </a:solidFill>
                <a:latin typeface="Inter"/>
              </a:rPr>
              <a:t>Splitting a single round-up across debt repayment AND digital asset acquisition — in one transaction.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3" name="Rectangle 8"/>
          <p:cNvSpPr/>
          <p:nvPr/>
        </p:nvSpPr>
        <p:spPr>
          <a:xfrm>
            <a:off x="548640" y="3782160"/>
            <a:ext cx="11091240" cy="6120"/>
          </a:xfrm>
          <a:prstGeom prst="rect">
            <a:avLst/>
          </a:prstGeom>
          <a:solidFill>
            <a:srgbClr val="c9c8f0">
              <a:alpha val="3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8520" bIns="-38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TextBox 9"/>
          <p:cNvSpPr/>
          <p:nvPr/>
        </p:nvSpPr>
        <p:spPr>
          <a:xfrm>
            <a:off x="548640" y="3923640"/>
            <a:ext cx="6397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6e5fa"/>
                </a:solidFill>
                <a:latin typeface="Inter"/>
              </a:rPr>
              <a:t>02</a:t>
            </a: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5" name="TextBox 10"/>
          <p:cNvSpPr/>
          <p:nvPr/>
        </p:nvSpPr>
        <p:spPr>
          <a:xfrm>
            <a:off x="1234440" y="3893040"/>
            <a:ext cx="320004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299" strike="noStrike">
                <a:solidFill>
                  <a:srgbClr val="ffffff"/>
                </a:solidFill>
                <a:latin typeface="Inter"/>
              </a:rPr>
              <a:t>CONTINUOUS 0–100% VECTOR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6" name="TextBox 11"/>
          <p:cNvSpPr/>
          <p:nvPr/>
        </p:nvSpPr>
        <p:spPr>
          <a:xfrm>
            <a:off x="4572000" y="3992040"/>
            <a:ext cx="7314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6e5fa"/>
                </a:solidFill>
                <a:latin typeface="Inter"/>
              </a:rPr>
              <a:t>Any user-selectable ratio across the full 0–100% range, including fractional values.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7" name="Rectangle 12"/>
          <p:cNvSpPr/>
          <p:nvPr/>
        </p:nvSpPr>
        <p:spPr>
          <a:xfrm>
            <a:off x="548640" y="4376520"/>
            <a:ext cx="11091240" cy="6120"/>
          </a:xfrm>
          <a:prstGeom prst="rect">
            <a:avLst/>
          </a:prstGeom>
          <a:solidFill>
            <a:srgbClr val="c9c8f0">
              <a:alpha val="3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8520" bIns="-38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TextBox 13"/>
          <p:cNvSpPr/>
          <p:nvPr/>
        </p:nvSpPr>
        <p:spPr>
          <a:xfrm>
            <a:off x="548640" y="4518000"/>
            <a:ext cx="6397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6e5fa"/>
                </a:solidFill>
                <a:latin typeface="Inter"/>
              </a:rPr>
              <a:t>03</a:t>
            </a: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9" name="TextBox 14"/>
          <p:cNvSpPr/>
          <p:nvPr/>
        </p:nvSpPr>
        <p:spPr>
          <a:xfrm>
            <a:off x="1234440" y="4487400"/>
            <a:ext cx="320004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299" strike="noStrike">
                <a:solidFill>
                  <a:srgbClr val="ffffff"/>
                </a:solidFill>
                <a:latin typeface="Inter"/>
              </a:rPr>
              <a:t>N-DESTINATION EXTENSION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0" name="TextBox 15"/>
          <p:cNvSpPr/>
          <p:nvPr/>
        </p:nvSpPr>
        <p:spPr>
          <a:xfrm>
            <a:off x="4572000" y="4487400"/>
            <a:ext cx="731484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6e5fa"/>
                </a:solidFill>
                <a:latin typeface="Inter"/>
              </a:rPr>
              <a:t>Beyond two — credit cards, loans, savings, investments, crypto, charity, or any future endpoint.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1" name="Rectangle 16"/>
          <p:cNvSpPr/>
          <p:nvPr/>
        </p:nvSpPr>
        <p:spPr>
          <a:xfrm>
            <a:off x="548640" y="4970880"/>
            <a:ext cx="11091240" cy="6120"/>
          </a:xfrm>
          <a:prstGeom prst="rect">
            <a:avLst/>
          </a:prstGeom>
          <a:solidFill>
            <a:srgbClr val="c9c8f0">
              <a:alpha val="3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8520" bIns="-38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TextBox 17"/>
          <p:cNvSpPr/>
          <p:nvPr/>
        </p:nvSpPr>
        <p:spPr>
          <a:xfrm>
            <a:off x="548640" y="5112360"/>
            <a:ext cx="6397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6e5fa"/>
                </a:solidFill>
                <a:latin typeface="Inter"/>
              </a:rPr>
              <a:t>04</a:t>
            </a: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3" name="TextBox 18"/>
          <p:cNvSpPr/>
          <p:nvPr/>
        </p:nvSpPr>
        <p:spPr>
          <a:xfrm>
            <a:off x="1234440" y="5180760"/>
            <a:ext cx="32000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299" strike="noStrike">
                <a:solidFill>
                  <a:srgbClr val="ffffff"/>
                </a:solidFill>
                <a:latin typeface="Inter"/>
              </a:rPr>
              <a:t>DYNAMIC ADJUSTMENT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4" name="TextBox 19"/>
          <p:cNvSpPr/>
          <p:nvPr/>
        </p:nvSpPr>
        <p:spPr>
          <a:xfrm>
            <a:off x="4572000" y="5180760"/>
            <a:ext cx="731484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6e5fa"/>
                </a:solidFill>
                <a:latin typeface="Inter"/>
              </a:rPr>
              <a:t>Allocation that adapts to APR, balances, market conditions, cash flow, or risk preference.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5" name="Rectangle 20"/>
          <p:cNvSpPr/>
          <p:nvPr/>
        </p:nvSpPr>
        <p:spPr>
          <a:xfrm>
            <a:off x="548640" y="5565240"/>
            <a:ext cx="11091240" cy="6120"/>
          </a:xfrm>
          <a:prstGeom prst="rect">
            <a:avLst/>
          </a:prstGeom>
          <a:solidFill>
            <a:srgbClr val="c9c8f0">
              <a:alpha val="3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8520" bIns="-38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TextBox 21"/>
          <p:cNvSpPr/>
          <p:nvPr/>
        </p:nvSpPr>
        <p:spPr>
          <a:xfrm>
            <a:off x="548640" y="5706720"/>
            <a:ext cx="63972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e6e5fa"/>
                </a:solidFill>
                <a:latin typeface="Inter"/>
              </a:rPr>
              <a:t>05</a:t>
            </a:r>
            <a:endParaRPr b="0" lang="en-US" sz="2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7" name="TextBox 22"/>
          <p:cNvSpPr/>
          <p:nvPr/>
        </p:nvSpPr>
        <p:spPr>
          <a:xfrm>
            <a:off x="1234440" y="5676120"/>
            <a:ext cx="320004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299" strike="noStrike">
                <a:solidFill>
                  <a:srgbClr val="ffffff"/>
                </a:solidFill>
                <a:latin typeface="Inter"/>
              </a:rPr>
              <a:t>IDEMPOTENT EXECUTION + LEDGER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8" name="TextBox 23"/>
          <p:cNvSpPr/>
          <p:nvPr/>
        </p:nvSpPr>
        <p:spPr>
          <a:xfrm>
            <a:off x="4572000" y="5676120"/>
            <a:ext cx="7314840" cy="39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6e5fa"/>
                </a:solidFill>
                <a:latin typeface="Inter"/>
              </a:rPr>
              <a:t>No duplicate transfers. Every state — created → settled → reconciled — is tracked end-to-end.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9" name="Rectangle 24"/>
          <p:cNvSpPr/>
          <p:nvPr/>
        </p:nvSpPr>
        <p:spPr>
          <a:xfrm>
            <a:off x="548640" y="6159600"/>
            <a:ext cx="11091240" cy="6120"/>
          </a:xfrm>
          <a:prstGeom prst="rect">
            <a:avLst/>
          </a:prstGeom>
          <a:solidFill>
            <a:srgbClr val="c9c8f0">
              <a:alpha val="30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8520" bIns="-38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Rectangle 25"/>
          <p:cNvSpPr/>
          <p:nvPr/>
        </p:nvSpPr>
        <p:spPr>
          <a:xfrm>
            <a:off x="457200" y="6492240"/>
            <a:ext cx="456840" cy="1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TextBox 26"/>
          <p:cNvSpPr/>
          <p:nvPr/>
        </p:nvSpPr>
        <p:spPr>
          <a:xfrm>
            <a:off x="960120" y="6355080"/>
            <a:ext cx="2285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2" name="TextBox 27"/>
          <p:cNvSpPr/>
          <p:nvPr/>
        </p:nvSpPr>
        <p:spPr>
          <a:xfrm>
            <a:off x="0" y="6355080"/>
            <a:ext cx="12191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299" strike="noStrike">
                <a:solidFill>
                  <a:srgbClr val="e6e5fa"/>
                </a:solidFill>
                <a:latin typeface="Inter"/>
              </a:rPr>
              <a:t>PATENT OVERVIEW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3" name="TextBox 28"/>
          <p:cNvSpPr/>
          <p:nvPr/>
        </p:nvSpPr>
        <p:spPr>
          <a:xfrm>
            <a:off x="0" y="6355080"/>
            <a:ext cx="1173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199" strike="noStrike">
                <a:solidFill>
                  <a:srgbClr val="e6e5fa"/>
                </a:solidFill>
                <a:latin typeface="Inter"/>
              </a:rPr>
              <a:t>11 / 12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18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Box 1"/>
          <p:cNvSpPr/>
          <p:nvPr/>
        </p:nvSpPr>
        <p:spPr>
          <a:xfrm>
            <a:off x="548640" y="50292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11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5" name="TextBox 2"/>
          <p:cNvSpPr/>
          <p:nvPr/>
        </p:nvSpPr>
        <p:spPr>
          <a:xfrm>
            <a:off x="548640" y="777240"/>
            <a:ext cx="73148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398" strike="noStrike">
                <a:solidFill>
                  <a:srgbClr val="e6e5fa"/>
                </a:solidFill>
                <a:latin typeface="Inter"/>
              </a:rPr>
              <a:t>WHY IT MATTERS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6" name="TextBox 3"/>
          <p:cNvSpPr/>
          <p:nvPr/>
        </p:nvSpPr>
        <p:spPr>
          <a:xfrm>
            <a:off x="548640" y="1143000"/>
            <a:ext cx="11091240" cy="60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Inter"/>
              </a:rPr>
              <a:t>Defensible. Extensible. Licensable.</a:t>
            </a:r>
            <a:endParaRPr b="0" lang="en-US" sz="4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7" name="TextBox 4"/>
          <p:cNvSpPr/>
          <p:nvPr/>
        </p:nvSpPr>
        <p:spPr>
          <a:xfrm>
            <a:off x="548640" y="2606040"/>
            <a:ext cx="1005804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e6e5fa"/>
                </a:solidFill>
                <a:latin typeface="Inter"/>
              </a:rPr>
              <a:t>The patent isn't just protection — it's a platform for everything Dime Time builds next.</a:t>
            </a:r>
            <a:endParaRPr b="0" lang="en-US" sz="16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8" name="Rounded Rectangle 5"/>
          <p:cNvSpPr/>
          <p:nvPr/>
        </p:nvSpPr>
        <p:spPr>
          <a:xfrm>
            <a:off x="548640" y="3200400"/>
            <a:ext cx="11091240" cy="86832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9" name="TextBox 6"/>
          <p:cNvSpPr/>
          <p:nvPr/>
        </p:nvSpPr>
        <p:spPr>
          <a:xfrm>
            <a:off x="914400" y="3364920"/>
            <a:ext cx="3200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DEFENSIBILITY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0" name="TextBox 7"/>
          <p:cNvSpPr/>
          <p:nvPr/>
        </p:nvSpPr>
        <p:spPr>
          <a:xfrm>
            <a:off x="914400" y="3657600"/>
            <a:ext cx="10176840" cy="39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6e5fa"/>
                </a:solidFill>
                <a:latin typeface="Inter"/>
              </a:rPr>
              <a:t>First-to-file on the dual-split round-up engine. Replicating requires re-engineering core IP plus 6–12 months of integration work.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1" name="Rounded Rectangle 8"/>
          <p:cNvSpPr/>
          <p:nvPr/>
        </p:nvSpPr>
        <p:spPr>
          <a:xfrm>
            <a:off x="548640" y="4206240"/>
            <a:ext cx="11091240" cy="86832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TextBox 9"/>
          <p:cNvSpPr/>
          <p:nvPr/>
        </p:nvSpPr>
        <p:spPr>
          <a:xfrm>
            <a:off x="914400" y="4370760"/>
            <a:ext cx="3200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LICENSING POTENTIAL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3" name="TextBox 10"/>
          <p:cNvSpPr/>
          <p:nvPr/>
        </p:nvSpPr>
        <p:spPr>
          <a:xfrm>
            <a:off x="914400" y="4663440"/>
            <a:ext cx="10176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6e5fa"/>
                </a:solidFill>
                <a:latin typeface="Inter"/>
              </a:rPr>
              <a:t>Any neobank, lender, or crypto app could license the allocation engine via API to add Dime Time-style functionality.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4" name="Rounded Rectangle 11"/>
          <p:cNvSpPr/>
          <p:nvPr/>
        </p:nvSpPr>
        <p:spPr>
          <a:xfrm>
            <a:off x="548640" y="5212080"/>
            <a:ext cx="11091240" cy="86832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5" name="TextBox 12"/>
          <p:cNvSpPr/>
          <p:nvPr/>
        </p:nvSpPr>
        <p:spPr>
          <a:xfrm>
            <a:off x="914400" y="5376600"/>
            <a:ext cx="32000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299" strike="noStrike">
                <a:solidFill>
                  <a:srgbClr val="ffffff"/>
                </a:solidFill>
                <a:latin typeface="Inter"/>
              </a:rPr>
              <a:t>EXTENSIBILITY</a:t>
            </a:r>
            <a:endParaRPr b="0" lang="en-US" sz="11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6" name="TextBox 13"/>
          <p:cNvSpPr/>
          <p:nvPr/>
        </p:nvSpPr>
        <p:spPr>
          <a:xfrm>
            <a:off x="914400" y="5669280"/>
            <a:ext cx="101768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e6e5fa"/>
                </a:solidFill>
                <a:latin typeface="Inter"/>
              </a:rPr>
              <a:t>Forward-claimed: AI-driven allocation optimization, yield destinations, refinancing tools, and credit optimization.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7" name="TextBox 14"/>
          <p:cNvSpPr/>
          <p:nvPr/>
        </p:nvSpPr>
        <p:spPr>
          <a:xfrm>
            <a:off x="0" y="6080760"/>
            <a:ext cx="1219140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199" strike="noStrike">
                <a:solidFill>
                  <a:srgbClr val="ffffff"/>
                </a:solidFill>
                <a:latin typeface="Inter"/>
              </a:rPr>
              <a:t>USPTO provisional drafted  ·  Full utility in progress  ·  tim@dime-time.com</a:t>
            </a:r>
            <a:endParaRPr b="0" lang="en-US" sz="13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8" name="Rectangle 15"/>
          <p:cNvSpPr/>
          <p:nvPr/>
        </p:nvSpPr>
        <p:spPr>
          <a:xfrm>
            <a:off x="457200" y="6492240"/>
            <a:ext cx="456840" cy="18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5920" bIns="-259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TextBox 16"/>
          <p:cNvSpPr/>
          <p:nvPr/>
        </p:nvSpPr>
        <p:spPr>
          <a:xfrm>
            <a:off x="960120" y="6355080"/>
            <a:ext cx="228564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299" strike="noStrike">
                <a:solidFill>
                  <a:srgbClr val="ffffff"/>
                </a:solidFill>
                <a:latin typeface="Inter"/>
              </a:rPr>
              <a:t>DIME TIME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0" name="TextBox 17"/>
          <p:cNvSpPr/>
          <p:nvPr/>
        </p:nvSpPr>
        <p:spPr>
          <a:xfrm>
            <a:off x="0" y="6355080"/>
            <a:ext cx="1219140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299" strike="noStrike">
                <a:solidFill>
                  <a:srgbClr val="e6e5fa"/>
                </a:solidFill>
                <a:latin typeface="Inter"/>
              </a:rPr>
              <a:t>PATENT OVERVIEW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1" name="TextBox 18"/>
          <p:cNvSpPr/>
          <p:nvPr/>
        </p:nvSpPr>
        <p:spPr>
          <a:xfrm>
            <a:off x="0" y="6355080"/>
            <a:ext cx="117313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199" strike="noStrike">
                <a:solidFill>
                  <a:srgbClr val="e6e5fa"/>
                </a:solidFill>
                <a:latin typeface="Inter"/>
              </a:rPr>
              <a:t>12 / 12</a:t>
            </a:r>
            <a:endParaRPr b="0" lang="en-US" sz="1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LibreOffice/7.6.7.2$Linux_X86_64 LibreOffice_project/60$Build-2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