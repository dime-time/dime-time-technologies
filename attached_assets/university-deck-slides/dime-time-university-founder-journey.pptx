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 you for having me. My name is Tim Carlisle, founder of Dime Time. Quick show of hands before we start: who here has ever built something — a business, an app, a side project? Keep that feeling in mind, because this talk is about what happens between the idea and the launch.</a:t>
            </a:r>
          </a:p>
          <a:p/>
          <a:p>
            <a:r>
              <a:t>Set expectations: this is NOT a pitch. It's the honest story of how a Navy veteran and sommelier with no software engineering background shipped a live fintech app — the wins, the rejections, and what I'd tell my younger self sitting where you are.</a:t>
            </a:r>
          </a:p>
          <a:p/>
          <a:p>
            <a:r>
              <a:t>[20-MIN VERSION] Keep intro under 60 seconds.</a:t>
            </a:r>
          </a:p>
          <a:p>
            <a:r>
              <a:t>[45-60 MIN] Add a short story about a night in the restaurant that taught you something about pressure.</a:t>
            </a:r>
          </a:p>
          <a:p>
            <a:r>
              <a:t>[DO NOT OVERSTATE] The app is live; public money movement is not yet enabled — we'll label that carefully later.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path briefly: Navy, then nearly two decades in hospitality — Las Vegas and Dallas, opening high-profile restaurants, working as a sommelier. Then the MBA and a graduate degree in Management Information Systems.</a:t>
            </a:r>
          </a:p>
          <a:p/>
          <a:p>
            <a:r>
              <a:t>The point to land: none of these jobs had 'software engineer' in the title, and that turned out to be fine. Every stop added a skill the company needed later — discipline, service under pressure, systems thinking.</a:t>
            </a:r>
          </a:p>
          <a:p/>
          <a:p>
            <a:r>
              <a:t>[PAUSE HERE] Ask: 'How many of you feel like your background is *wrong* for what you want to do?' Let a few hands go up.</a:t>
            </a:r>
          </a:p>
          <a:p>
            <a:r>
              <a:t>[DO NOT OVERSTATE] Say exactly 'MBA and a graduate degree in Management Information Systems' — do not shorten to 'M.S.'</a:t>
            </a:r>
          </a:p>
          <a:p>
            <a:r>
              <a:t>[20-MIN VERSION] Compress to 45 seconds — the core message box is the takeaway.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or three of these and tell a real 30-second story for each — a table that went wrong and how you recovered; explaining a $300 wine to a guest in one sentence; a Saturday night rush.</a:t>
            </a:r>
          </a:p>
          <a:p/>
          <a:p>
            <a:r>
              <a:t>Then make the bridge explicit: a fintech app is a hospitality product. Users hand you their bank connection the way a guest hands you their evening — the trust is the product. Reliability, clarity, and recovery-when-things-break are the same skills.</a:t>
            </a:r>
          </a:p>
          <a:p/>
          <a:p>
            <a:r>
              <a:t>[45-60 MIN] Great slide to expand with audience interaction: ask students what their current jobs are teaching them.</a:t>
            </a:r>
          </a:p>
          <a:p>
            <a:r>
              <a:t>[20-MIN VERSION] One story only, 60 seconds total.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connects directly to the students in the room: Dime Time started as coursework. The frameworks they're learning right now — problem definition, value proposition, market analysis — are the exact tools that shaped this company.</a:t>
            </a:r>
          </a:p>
          <a:p/>
          <a:p>
            <a:r>
              <a:t>Be honest about the early demo: it was outsourced, it was rough, and it was NOT the product that shipped. Its value was making the idea tangible enough to discuss and refine.</a:t>
            </a:r>
          </a:p>
          <a:p/>
          <a:p>
            <a:r>
              <a:t>[PAUSE HERE] 'Some of you have a project like this sitting in a folder from last semester. What would it take to pick it back up?'</a:t>
            </a:r>
          </a:p>
          <a:p>
            <a:r>
              <a:t>[DO NOT OVERSTATE] Do not attach a specific year to the classroom concept unless you choose to share it live — no invented dates.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behaviorally, not just numerically: almost everyone in debt INTENDS to pay extra. The failure point is that manual extra payments require a fresh act of discipline every single month. Small, automatic amounts remove that friction.</a:t>
            </a:r>
          </a:p>
          <a:p/>
          <a:p>
            <a:r>
              <a:t>Then give scale: $18.8 trillion in household debt, $1.25 trillion on credit cards alone — NY Fed data from May 2026. And 91% of adults carry the delivery device (a smartphone) in their pocket.</a:t>
            </a:r>
          </a:p>
          <a:p/>
          <a:p>
            <a:r>
              <a:t>[DO NOT OVERSTATE] Say clearly these are national statistics, NOT Dime Time traction. Students respect the honesty.</a:t>
            </a:r>
          </a:p>
          <a:p>
            <a:r>
              <a:t>[45-60 MIN] Ask the class: 'Why do you think savings round-ups took off years ago, but debt round-ups didn't?'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steps slowly — this is the whole product in one slide. The screenshots on the right are the real, live App Store product, not mockups.</a:t>
            </a:r>
          </a:p>
          <a:p/>
          <a:p>
            <a:r>
              <a:t>Emphasize step 5: the USER controls destination and schedule. This is a consent-first system.</a:t>
            </a:r>
          </a:p>
          <a:p/>
          <a:p>
            <a:r>
              <a:t>The accuracy note matters in a university setting: money does not move per-purchase. Round-ups accumulate and transfer on an approved schedule. Getting details like this right is part of operating a financial product responsibly — that's a teaching point in itself.</a:t>
            </a:r>
          </a:p>
          <a:p/>
          <a:p>
            <a:r>
              <a:t>[20-MIN VERSION] 60–90 seconds; the slogan is the takeaway.</a:t>
            </a:r>
          </a:p>
          <a:p>
            <a:r>
              <a:t>[PAUSE HERE] Good moment for clarifying questions about how round-ups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reframes what 'building an app' means. Students often picture the interface. The interface was the easy part.</a:t>
            </a:r>
          </a:p>
          <a:p/>
          <a:p>
            <a:r>
              <a:t>Walk the left-side pipeline top to bottom: every purchase flows through seven stages before a single dollar reaches a debt. Each stage is its own engineering and compliance problem.</a:t>
            </a:r>
          </a:p>
          <a:p/>
          <a:p>
            <a:r>
              <a:t>For the MIS students specifically: this is systems architecture in the wild — exactly what their coursework describes, applied to real money.</a:t>
            </a:r>
          </a:p>
          <a:p/>
          <a:p>
            <a:r>
              <a:t>[45-60 MIN] Expand on one stage in depth — reconciliation is a good choice because nobody thinks about it until money goes missing.</a:t>
            </a:r>
          </a:p>
          <a:p>
            <a:r>
              <a:t>[20-MIN VERSION] Summarize in 45 seconds: 'seven stages, each one has to be right.'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specific and honest here. You did not become a software engineer. You became technically literate enough to direct the work, verify it, and question it.</a:t>
            </a:r>
          </a:p>
          <a:p/>
          <a:p>
            <a:r>
              <a:t>The verification habit is the real story: never accepting 'it works' without evidence — screenshots, logs, tests, controlled experiments. That habit came from hospitality and the Navy, not from a CS degree.</a:t>
            </a:r>
          </a:p>
          <a:p/>
          <a:p>
            <a:r>
              <a:t>[DO NOT OVERSTATE] Never claim AI built or operated the company on its own. The claim is 'AI-assisted' — you directed, decided, and carried the responsibility.</a:t>
            </a:r>
          </a:p>
          <a:p>
            <a:r>
              <a:t>[PAUSE HERE] Students will want to ask about AI tools — decide whether to take those questions now or defer to slide 15, which covers it fully.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quick for a mixed audience; go deeper only for MIS/CS-heavy rooms.</a:t>
            </a:r>
          </a:p>
          <a:p/>
          <a:p>
            <a:r>
              <a:t>The stack story: React and TypeScript for the interface, one codebase wrapped by Capacitor for iOS, Express and PostgreSQL behind it. Plaid handles bank connectivity for approved products; Stripe runs the ACH rails; Mercury is the business bank where payouts land — a banking relationship, not a software integration.</a:t>
            </a:r>
          </a:p>
          <a:p/>
          <a:p>
            <a:r>
              <a:t>[DO NOT OVERSTATE] Stripe Financial Connections is UNDER REVIEW — say 'under review,' not 'approved.' Coinbase is not in this stack at all — it is planned only, not available to users.</a:t>
            </a:r>
          </a:p>
          <a:p>
            <a:r>
              <a:t>[45-60 MIN] MIS students may ask why Capacitor over native Swift — answer: one founder, one codebase, faster iteration.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separates a fintech from a demo. Every card on screen is a real control in the live system.</a:t>
            </a:r>
          </a:p>
          <a:p/>
          <a:p>
            <a:r>
              <a:t>Explain the philosophy in plain language: real money movement sits behind multiple independent switches. Even with everything on, a user must be individually approved, the first transfer is capped tiny, daily amounts and frequency are limited, and every decision — approve or block — is written to an audit log.</a:t>
            </a:r>
          </a:p>
          <a:p/>
          <a:p>
            <a:r>
              <a:t>The payoff line: when we ran the first real test, the question wasn't 'will it work?' but 'which of our safeguards will tell us if it doesn't?'</a:t>
            </a:r>
          </a:p>
          <a:p/>
          <a:p>
            <a:r>
              <a:t>[DO NOT OVERSTATE] Keep this at the philosophy level — no exact implementation details, code, or credentials.</a:t>
            </a:r>
          </a:p>
          <a:p>
            <a:r>
              <a:t>[20-MIN VERSION] 60 seconds: 'multiple switches, individual approval, tiny limits, full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top to bottom — it's the spine of the whole talk.</a:t>
            </a:r>
          </a:p>
          <a:p/>
          <a:p>
            <a:r>
              <a:t>The idea sat un-built from 2014 to 2025: over a decade of no funding, no team, no code. First commit August 3, 2025. Live on the App Store June 29, 2026 — under eleven months later. First real dollar moved July 7. Loop proven bank-to-bank July 21.</a:t>
            </a:r>
          </a:p>
          <a:p/>
          <a:p>
            <a:r>
              <a:t>The teaching point: the gap between 2014 and 2025 is the most common startup story there is — the idea waiting for its builder. What changed wasn't the idea; it was the decision to start, plus tools that made a solo build feasible.</a:t>
            </a:r>
          </a:p>
          <a:p/>
          <a:p>
            <a:r>
              <a:t>[PAUSE HERE] Let the 11-year gap sink in before moving on.</a:t>
            </a:r>
          </a:p>
          <a:p>
            <a:r>
              <a:t>[DO NOT OVERSTATE] No invented dates for the classroom concept or patent filing — the dated milestones on this slide are the verified ones.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 this is the emotional center of the talk.</a:t>
            </a:r>
          </a:p>
          <a:p/>
          <a:p>
            <a:r>
              <a:t>Tell it as a story: July 7, you pressed the button on a $1.00 payment from your own bank account. ACH takes days and reports back through webhooks, so you waited. It settled. And on July 21, $0.99 — after processing costs — appeared in the company's business account at Mercury, with the company name on a real bank statement.</a:t>
            </a:r>
          </a:p>
          <a:p/>
          <a:p>
            <a:r>
              <a:t>One dollar proved the entire machine: consent, debit, processing, settlement, payout, reconciliation.</a:t>
            </a:r>
          </a:p>
          <a:p/>
          <a:p>
            <a:r>
              <a:t>[DO NOT OVERSTATE] Use the exact phrase 'proven in controlled live test.' It is NOT public money movement — the third bullet is mandatory, not optional.</a:t>
            </a:r>
          </a:p>
          <a:p>
            <a:r>
              <a:t>[PAUSE HERE] 'Why do you think we tested with one dollar instead of a hundred?' — great discussion moment.</a:t>
            </a:r>
          </a:p>
          <a:p>
            <a:r>
              <a:t>[20-MIN VERSION] Keep the story to 90 seconds: pressed the button July 7, $0.99 landed at the bank July 21, loop proven — and public transfers remain off.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three or four items off this list, then stop and let the length of it speak.</a:t>
            </a:r>
          </a:p>
          <a:p/>
          <a:p>
            <a:r>
              <a:t>The theme: none of this appears in a product screenshot, and all of it was mandatory. Weeks were spent inside review queues you cannot accelerate — Apple, payment providers, banking partners. Protecting real money movement while continuing to build was a daily constraint, not a one-time task.</a:t>
            </a:r>
          </a:p>
          <a:p/>
          <a:p>
            <a:r>
              <a:t>For students, the honest framing is: 'the boring middle' is most of the job. Persistence through the un-glamorous work is the differentiator, not the initial idea.</a:t>
            </a:r>
          </a:p>
          <a:p/>
          <a:p>
            <a:r>
              <a:t>[20-MIN VERSION] 45 seconds — read the banner line and move on.</a:t>
            </a:r>
          </a:p>
          <a:p>
            <a:r>
              <a:t>[45-60 MIN] Pick one item (the duplicate-app rejection is a good one) and tell the full story.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honest slide in the deck, and usually the one professors appreciate most.</a:t>
            </a:r>
          </a:p>
          <a:p/>
          <a:p>
            <a:r>
              <a:t>Walk one or two rows fully. The email failure row lands well: the interface said emails were sent; users weren't receiving them. Lesson — 'the interface says so' is not evidence. That principle now shapes how everything gets verified.</a:t>
            </a:r>
          </a:p>
          <a:p/>
          <a:p>
            <a:r>
              <a:t>The pattern to draw out: each failure produced a CONTROL, not just a fix. Rejection → better compliance process. Money risk → layered safeguards. Permissions → minimalism by default.</a:t>
            </a:r>
          </a:p>
          <a:p/>
          <a:p>
            <a:r>
              <a:t>[PAUSE HERE] Ask students: 'Which of these five failures would you have predicted in advance?' Most predict none — that's the point.</a:t>
            </a:r>
          </a:p>
          <a:p>
            <a:r>
              <a:t>[20-MIN VERSION] One row only, 60 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will lean in here — many are wondering whether AI makes their skills obsolete. Give them the honest split on screen.</a:t>
            </a:r>
          </a:p>
          <a:p/>
          <a:p>
            <a:r>
              <a:t>Left column: AI genuinely accelerated everything — explanation, planning, code review, diagnosis. It compressed years of learning into months.</a:t>
            </a:r>
          </a:p>
          <a:p/>
          <a:p>
            <a:r>
              <a:t>Right column: every consequential decision stayed human. No AI can open your Stripe account, pass identity verification, decide acceptable risk for real money, or take responsibility when something breaks. 'Deciding when NOT to launch' is worth emphasizing — restraint was a founder decision, repeatedly.</a:t>
            </a:r>
          </a:p>
          <a:p/>
          <a:p>
            <a:r>
              <a:t>[DO NOT OVERSTATE] Never say AI built the company. 'AI-assisted, founder-directed' is the accurate frame.</a:t>
            </a:r>
          </a:p>
          <a:p>
            <a:r>
              <a:t>[PAUSE HERE] Expect and welcome questions — this generates the most Q&amp;A of any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all ten — pick the three that fit the room and tell them why.</a:t>
            </a:r>
          </a:p>
          <a:p/>
          <a:p>
            <a:r>
              <a:t>For undergrads: #1 (no permission needed), #9 (rejection is information), #10 (shipping beats planning).</a:t>
            </a:r>
          </a:p>
          <a:p>
            <a:r>
              <a:t>For MBA students: #5 (evidence over confidence), #7 (small controlled tests), #8 (activity vs. progress).</a:t>
            </a:r>
          </a:p>
          <a:p>
            <a:r>
              <a:t>For MIS students: #4 (learn enough tech to ask better questions), #6 (compliance is product design).</a:t>
            </a:r>
          </a:p>
          <a:p/>
          <a:p>
            <a:r>
              <a:t>Close on the highlighted quote — it's the thesis of the entire talk.</a:t>
            </a:r>
          </a:p>
          <a:p/>
          <a:p>
            <a:r>
              <a:t>[20-MIN VERSION] Three lessons, 90 seconds.</a:t>
            </a:r>
          </a:p>
          <a:p>
            <a:r>
              <a:t>[45-60 MIN] Invite students to challenge one lesson they disagree with — productive debate starter.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and label it exactly as the banner says: a roadmap, not achievements.</a:t>
            </a:r>
          </a:p>
          <a:p/>
          <a:p>
            <a:r>
              <a:t>The near-term sequence is mechanical: finish Google Play verification, Android build and submission, then the two external approvals — Stripe Financial Connections for public bank linking, Plaid Liabilities for automatic debt import. Those gates are outside our control, which is itself a lesson about regulated products.</a:t>
            </a:r>
          </a:p>
          <a:p/>
          <a:p>
            <a:r>
              <a:t>The fundraise appears exactly once and last, on purpose: this is an academic talk, not a pitch. If asked, the plan is $150,000 pre-seed AFTER launch milestones strengthen the story.</a:t>
            </a:r>
          </a:p>
          <a:p/>
          <a:p>
            <a:r>
              <a:t>[DO NOT OVERSTATE] No dates, no 'expected approval by' promises.</a:t>
            </a:r>
          </a:p>
          <a:p>
            <a:r>
              <a:t>[20-MIN VERSION] 30 seconds — read the first and last items.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energy and turn it back to them: 'What will you build?' is a genuine question, not a rhetorical flourish.</a:t>
            </a:r>
          </a:p>
          <a:p/>
          <a:p>
            <a:r>
              <a:t>Suggested close: 'A year ago this was an idea in a folder. Today it's a live app with proven financial rails. The gap between those two states wasn't talent or money — it was starting, and then refusing to stop. Some of you have the idea already. What will you build?'</a:t>
            </a:r>
          </a:p>
          <a:p/>
          <a:p>
            <a:r>
              <a:t>Then open Q&amp;A. Common questions to be ready for: How much did it cost? (development costs were kept minimal as a solo founder), How long did Apple review take? (multiple cycles — see slide 13), Are you hiring? (not yet — post-funding), Can I try the app? (yes — it's on the App Store today).</a:t>
            </a:r>
          </a:p>
          <a:p/>
          <a:p>
            <a:r>
              <a:t>[Reserve 15–20 minutes for Q&amp;A in a 60-minute class session.]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slide — use in 60-minute class sessions or when the audience is less familiar with fintech vocabulary.</a:t>
            </a:r>
          </a:p>
          <a:p/>
          <a:p>
            <a:r>
              <a:t>Two terms worth 30 extra seconds each if time allows:</a:t>
            </a:r>
          </a:p>
          <a:p/>
          <a:p>
            <a:r>
              <a:t>Idempotency — the reason you can double-click 'Pay' without being charged twice. Every serious payment system is built around this idea, and students rarely hear the word before their first fintech job.</a:t>
            </a:r>
          </a:p>
          <a:p/>
          <a:p>
            <a:r>
              <a:t>Settlement — ACH is not instant. Money 'moving' and money 'arrived' are different states separated by days, and the entire transfer-tracking system exists because of that gap.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slide for instructors — these work as small-group discussion prompts, exam questions, or a full class debate.</a:t>
            </a:r>
          </a:p>
          <a:p/>
          <a:p>
            <a:r>
              <a:t>Strongest for MBA rooms: #2 (build vs. acquire), #5 (evidence before investing) and #7 (defining activation).</a:t>
            </a:r>
          </a:p>
          <a:p>
            <a:r>
              <a:t>Strongest for MIS rooms: #1 (technical vs. operational moat) and #3 (speed vs. safety).</a:t>
            </a:r>
          </a:p>
          <a:p>
            <a:r>
              <a:t>Strongest for ethics-focused sessions: #8 — automating financial behavior carries real obligations, and students take it in surprising directions.</a:t>
            </a:r>
          </a:p>
          <a:p/>
          <a:p>
            <a:r>
              <a:t>Offer to stay after class or connect by email (tim@dime-time.com) for students who want to go deeper.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closing appendix — most useful when faculty, administrators, or investor-minded students are in the room.</a:t>
            </a:r>
          </a:p>
          <a:p/>
          <a:p>
            <a:r>
              <a:t>The meta-point matters more than the individual items: the company maintains five distinct status labels and refuses to blur them. 'Live,' 'proven in a controlled test,' 'built but gated,' 'pending,' and 'planned' are different claims, and treating them as different claims is what keeps communication trustworthy — with users, with partners, with regulators, and with future investors.</a:t>
            </a:r>
          </a:p>
          <a:p/>
          <a:p>
            <a:r>
              <a:t>If someone asks 'when does pending become live?' — the honest answer is that those timelines belong to external reviewers, not to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logo_transparent.png"/>
          <p:cNvPicPr>
            <a:picLocks noChangeAspect="1"/>
          </p:cNvPicPr>
          <p:nvPr/>
        </p:nvPicPr>
        <p:blipFill>
          <a:blip r:embed="rId2"/>
          <a:stretch>
            <a:fillRect/>
          </a:stretch>
        </p:blipFill>
        <p:spPr>
          <a:xfrm>
            <a:off x="5367528" y="457200"/>
            <a:ext cx="1463040" cy="1463040"/>
          </a:xfrm>
          <a:prstGeom prst="rect">
            <a:avLst/>
          </a:prstGeom>
        </p:spPr>
      </p:pic>
      <p:sp>
        <p:nvSpPr>
          <p:cNvPr id="4" name="TextBox 3"/>
          <p:cNvSpPr txBox="1"/>
          <p:nvPr/>
        </p:nvSpPr>
        <p:spPr>
          <a:xfrm>
            <a:off x="548640" y="2148840"/>
            <a:ext cx="11064240" cy="731520"/>
          </a:xfrm>
          <a:prstGeom prst="rect">
            <a:avLst/>
          </a:prstGeom>
          <a:noFill/>
        </p:spPr>
        <p:txBody>
          <a:bodyPr wrap="square">
            <a:spAutoFit/>
          </a:bodyPr>
          <a:lstStyle/>
          <a:p>
            <a:pPr algn="ctr">
              <a:spcAft>
                <a:spcPts val="600"/>
              </a:spcAft>
            </a:pPr>
            <a:r>
              <a:rPr sz="3200" b="1">
                <a:solidFill>
                  <a:srgbClr val="FFFFFF"/>
                </a:solidFill>
                <a:latin typeface="Poppins"/>
              </a:rPr>
              <a:t>FROM SOMMELIER TO FINTECH FOUNDER</a:t>
            </a:r>
          </a:p>
        </p:txBody>
      </p:sp>
      <p:sp>
        <p:nvSpPr>
          <p:cNvPr id="5" name="TextBox 4"/>
          <p:cNvSpPr txBox="1"/>
          <p:nvPr/>
        </p:nvSpPr>
        <p:spPr>
          <a:xfrm>
            <a:off x="731520" y="2971800"/>
            <a:ext cx="10698480" cy="548640"/>
          </a:xfrm>
          <a:prstGeom prst="rect">
            <a:avLst/>
          </a:prstGeom>
          <a:noFill/>
        </p:spPr>
        <p:txBody>
          <a:bodyPr wrap="square">
            <a:spAutoFit/>
          </a:bodyPr>
          <a:lstStyle/>
          <a:p>
            <a:pPr algn="ctr">
              <a:spcAft>
                <a:spcPts val="600"/>
              </a:spcAft>
            </a:pPr>
            <a:r>
              <a:rPr sz="2400" b="1">
                <a:solidFill>
                  <a:srgbClr val="2D2A4A"/>
                </a:solidFill>
                <a:latin typeface="Poppins"/>
              </a:rPr>
              <a:t>How a Nontechnical Founder Built and Launched Dime Time</a:t>
            </a:r>
          </a:p>
        </p:txBody>
      </p:sp>
      <p:sp>
        <p:nvSpPr>
          <p:cNvPr id="6" name="TextBox 5"/>
          <p:cNvSpPr txBox="1"/>
          <p:nvPr/>
        </p:nvSpPr>
        <p:spPr>
          <a:xfrm>
            <a:off x="1371600" y="3611880"/>
            <a:ext cx="9418320" cy="640080"/>
          </a:xfrm>
          <a:prstGeom prst="rect">
            <a:avLst/>
          </a:prstGeom>
          <a:noFill/>
        </p:spPr>
        <p:txBody>
          <a:bodyPr wrap="square">
            <a:spAutoFit/>
          </a:bodyPr>
          <a:lstStyle/>
          <a:p>
            <a:pPr algn="ctr">
              <a:spcAft>
                <a:spcPts val="600"/>
              </a:spcAft>
            </a:pPr>
            <a:r>
              <a:rPr sz="1600" b="0">
                <a:solidFill>
                  <a:srgbClr val="FFFFFF"/>
                </a:solidFill>
                <a:latin typeface="Poppins"/>
              </a:rPr>
              <a:t>A real-world journey through entrepreneurship, information systems, financial infrastructure and AI-assisted development</a:t>
            </a:r>
          </a:p>
        </p:txBody>
      </p:sp>
      <p:sp>
        <p:nvSpPr>
          <p:cNvPr id="7" name="TextBox 6"/>
          <p:cNvSpPr txBox="1"/>
          <p:nvPr/>
        </p:nvSpPr>
        <p:spPr>
          <a:xfrm>
            <a:off x="731520" y="4572000"/>
            <a:ext cx="10698480" cy="1371600"/>
          </a:xfrm>
          <a:prstGeom prst="rect">
            <a:avLst/>
          </a:prstGeom>
          <a:noFill/>
        </p:spPr>
        <p:txBody>
          <a:bodyPr wrap="square">
            <a:spAutoFit/>
          </a:bodyPr>
          <a:lstStyle/>
          <a:p>
            <a:pPr algn="ctr">
              <a:spcAft>
                <a:spcPts val="200"/>
              </a:spcAft>
            </a:pPr>
            <a:r>
              <a:rPr sz="2400" b="1">
                <a:solidFill>
                  <a:srgbClr val="FFFFFF"/>
                </a:solidFill>
                <a:latin typeface="Poppins"/>
              </a:rPr>
              <a:t>Tim Carlisle</a:t>
            </a:r>
          </a:p>
          <a:p>
            <a:pPr algn="ctr">
              <a:spcAft>
                <a:spcPts val="200"/>
              </a:spcAft>
            </a:pPr>
            <a:r>
              <a:rPr sz="1700" b="0">
                <a:solidFill>
                  <a:srgbClr val="FFFFFF"/>
                </a:solidFill>
                <a:latin typeface="Poppins"/>
              </a:rPr>
              <a:t>Founder &amp; CEO, Dime Time Technologies LLC</a:t>
            </a:r>
          </a:p>
          <a:p>
            <a:pPr algn="ctr">
              <a:spcAft>
                <a:spcPts val="600"/>
              </a:spcAft>
            </a:pPr>
            <a:r>
              <a:rPr sz="1600" b="1">
                <a:solidFill>
                  <a:srgbClr val="2D2A4A"/>
                </a:solidFill>
                <a:latin typeface="Poppins"/>
              </a:rPr>
              <a:t>U.S. Navy Veteran  •  MBA • Graduate degree in Management Information Systems</a:t>
            </a:r>
          </a:p>
        </p:txBody>
      </p:sp>
      <p:sp>
        <p:nvSpPr>
          <p:cNvPr id="8" name="TextBox 7"/>
          <p:cNvSpPr txBox="1"/>
          <p:nvPr/>
        </p:nvSpPr>
        <p:spPr>
          <a:xfrm>
            <a:off x="731520" y="6035040"/>
            <a:ext cx="10698480" cy="457200"/>
          </a:xfrm>
          <a:prstGeom prst="rect">
            <a:avLst/>
          </a:prstGeom>
          <a:noFill/>
        </p:spPr>
        <p:txBody>
          <a:bodyPr wrap="square">
            <a:spAutoFit/>
          </a:bodyPr>
          <a:lstStyle/>
          <a:p>
            <a:pPr algn="ctr">
              <a:spcAft>
                <a:spcPts val="600"/>
              </a:spcAft>
            </a:pPr>
            <a:r>
              <a:rPr sz="1800" b="1">
                <a:solidFill>
                  <a:srgbClr val="FFFFFF"/>
                </a:solidFill>
                <a:latin typeface="Poppins"/>
              </a:rPr>
              <a:t>“Get out of debt, one dime at a time.”</a:t>
            </a:r>
          </a:p>
        </p:txBody>
      </p:sp>
      <p:sp>
        <p:nvSpPr>
          <p:cNvPr id="9" name="TextBox 8"/>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C9C7F9"/>
                </a:solidFill>
                <a:latin typeface="Poppins"/>
              </a:rPr>
              <a:t>01 /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WHO I AM</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A Nontraditional Path Into Technology</a:t>
            </a:r>
          </a:p>
        </p:txBody>
      </p:sp>
      <p:sp>
        <p:nvSpPr>
          <p:cNvPr id="6" name="TextBox 5"/>
          <p:cNvSpPr txBox="1"/>
          <p:nvPr/>
        </p:nvSpPr>
        <p:spPr>
          <a:xfrm>
            <a:off x="822960" y="1874519"/>
            <a:ext cx="6675120" cy="4023360"/>
          </a:xfrm>
          <a:prstGeom prst="rect">
            <a:avLst/>
          </a:prstGeom>
          <a:noFill/>
        </p:spPr>
        <p:txBody>
          <a:bodyPr wrap="square">
            <a:spAutoFit/>
          </a:bodyPr>
          <a:lstStyle/>
          <a:p>
            <a:pPr algn="l">
              <a:spcAft>
                <a:spcPts val="1200"/>
              </a:spcAft>
            </a:pPr>
            <a:r>
              <a:rPr sz="2000" b="0">
                <a:solidFill>
                  <a:srgbClr val="2D2A4A"/>
                </a:solidFill>
                <a:latin typeface="Poppins"/>
              </a:rPr>
              <a:t>•  U.S. Navy veteran</a:t>
            </a:r>
          </a:p>
          <a:p>
            <a:pPr algn="l">
              <a:spcAft>
                <a:spcPts val="1200"/>
              </a:spcAft>
            </a:pPr>
            <a:r>
              <a:rPr sz="2000" b="0">
                <a:solidFill>
                  <a:srgbClr val="2D2A4A"/>
                </a:solidFill>
                <a:latin typeface="Poppins"/>
              </a:rPr>
              <a:t>•  Hospitality career in Las Vegas and Dallas</a:t>
            </a:r>
          </a:p>
          <a:p>
            <a:pPr algn="l">
              <a:spcAft>
                <a:spcPts val="1200"/>
              </a:spcAft>
            </a:pPr>
            <a:r>
              <a:rPr sz="2000" b="0">
                <a:solidFill>
                  <a:srgbClr val="2D2A4A"/>
                </a:solidFill>
                <a:latin typeface="Poppins"/>
              </a:rPr>
              <a:t>•  Experience opening and operating high-profile restaurants</a:t>
            </a:r>
          </a:p>
          <a:p>
            <a:pPr algn="l">
              <a:spcAft>
                <a:spcPts val="1200"/>
              </a:spcAft>
            </a:pPr>
            <a:r>
              <a:rPr sz="2000" b="0">
                <a:solidFill>
                  <a:srgbClr val="2D2A4A"/>
                </a:solidFill>
                <a:latin typeface="Poppins"/>
              </a:rPr>
              <a:t>•  Sommelier serving demanding, high-expectation guests</a:t>
            </a:r>
          </a:p>
          <a:p>
            <a:pPr algn="l">
              <a:spcAft>
                <a:spcPts val="1200"/>
              </a:spcAft>
            </a:pPr>
            <a:r>
              <a:rPr sz="2000" b="0">
                <a:solidFill>
                  <a:srgbClr val="2D2A4A"/>
                </a:solidFill>
                <a:latin typeface="Poppins"/>
              </a:rPr>
              <a:t>•  MBA • Graduate degree in Management Information Systems</a:t>
            </a:r>
          </a:p>
          <a:p>
            <a:pPr algn="l">
              <a:spcAft>
                <a:spcPts val="1200"/>
              </a:spcAft>
            </a:pPr>
            <a:r>
              <a:rPr sz="2000" b="0">
                <a:solidFill>
                  <a:srgbClr val="2D2A4A"/>
                </a:solidFill>
                <a:latin typeface="Poppins"/>
              </a:rPr>
              <a:t>•  Founder and builder of Dime Time</a:t>
            </a:r>
          </a:p>
        </p:txBody>
      </p:sp>
      <p:sp>
        <p:nvSpPr>
          <p:cNvPr id="7" name="Rounded Rectangle 6"/>
          <p:cNvSpPr/>
          <p:nvPr/>
        </p:nvSpPr>
        <p:spPr>
          <a:xfrm>
            <a:off x="7772400" y="1920240"/>
            <a:ext cx="3749039" cy="384048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2286000"/>
            <a:ext cx="3108960" cy="3200400"/>
          </a:xfrm>
          <a:prstGeom prst="rect">
            <a:avLst/>
          </a:prstGeom>
          <a:noFill/>
        </p:spPr>
        <p:txBody>
          <a:bodyPr wrap="square">
            <a:spAutoFit/>
          </a:bodyPr>
          <a:lstStyle/>
          <a:p>
            <a:pPr algn="l">
              <a:spcAft>
                <a:spcPts val="1000"/>
              </a:spcAft>
            </a:pPr>
            <a:r>
              <a:rPr sz="1400" b="1">
                <a:solidFill>
                  <a:srgbClr val="C9C7F9"/>
                </a:solidFill>
                <a:latin typeface="Poppins"/>
              </a:rPr>
              <a:t>CORE MESSAGE</a:t>
            </a:r>
          </a:p>
          <a:p>
            <a:pPr algn="l">
              <a:spcAft>
                <a:spcPts val="1000"/>
              </a:spcAft>
            </a:pPr>
            <a:r>
              <a:rPr sz="1900" b="1">
                <a:solidFill>
                  <a:srgbClr val="FFFFFF"/>
                </a:solidFill>
                <a:latin typeface="Poppins"/>
              </a:rPr>
              <a:t>Technology founders do not all begin as software engineers.</a:t>
            </a:r>
          </a:p>
          <a:p>
            <a:pPr algn="l">
              <a:spcAft>
                <a:spcPts val="600"/>
              </a:spcAft>
            </a:pPr>
            <a:r>
              <a:rPr sz="1700" b="0">
                <a:solidFill>
                  <a:srgbClr val="C9C7F9"/>
                </a:solidFill>
                <a:latin typeface="Poppins"/>
              </a:rPr>
              <a:t>Operational experience, customer empathy, discipline and systems thinking can become founder advantages.</a:t>
            </a:r>
          </a:p>
        </p:txBody>
      </p:sp>
      <p:sp>
        <p:nvSpPr>
          <p:cNvPr id="9" name="TextBox 8"/>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02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WHAT HOSPITALITY TAUGHT ME</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Hospitality Was Founder Training</a:t>
            </a:r>
          </a:p>
        </p:txBody>
      </p:sp>
      <p:sp>
        <p:nvSpPr>
          <p:cNvPr id="6" name="TextBox 5"/>
          <p:cNvSpPr txBox="1"/>
          <p:nvPr/>
        </p:nvSpPr>
        <p:spPr>
          <a:xfrm>
            <a:off x="822960" y="1874519"/>
            <a:ext cx="5212080" cy="3931920"/>
          </a:xfrm>
          <a:prstGeom prst="rect">
            <a:avLst/>
          </a:prstGeom>
          <a:noFill/>
        </p:spPr>
        <p:txBody>
          <a:bodyPr wrap="square">
            <a:spAutoFit/>
          </a:bodyPr>
          <a:lstStyle/>
          <a:p>
            <a:pPr algn="l">
              <a:spcAft>
                <a:spcPts val="1300"/>
              </a:spcAft>
            </a:pPr>
            <a:r>
              <a:rPr sz="1900" b="0">
                <a:solidFill>
                  <a:srgbClr val="2D2A4A"/>
                </a:solidFill>
                <a:latin typeface="Poppins"/>
              </a:rPr>
              <a:t>•  Reading customer needs quickly</a:t>
            </a:r>
          </a:p>
          <a:p>
            <a:pPr algn="l">
              <a:spcAft>
                <a:spcPts val="1300"/>
              </a:spcAft>
            </a:pPr>
            <a:r>
              <a:rPr sz="1900" b="0">
                <a:solidFill>
                  <a:srgbClr val="2D2A4A"/>
                </a:solidFill>
                <a:latin typeface="Poppins"/>
              </a:rPr>
              <a:t>•  Performing under pressure</a:t>
            </a:r>
          </a:p>
          <a:p>
            <a:pPr algn="l">
              <a:spcAft>
                <a:spcPts val="1300"/>
              </a:spcAft>
            </a:pPr>
            <a:r>
              <a:rPr sz="1900" b="0">
                <a:solidFill>
                  <a:srgbClr val="2D2A4A"/>
                </a:solidFill>
                <a:latin typeface="Poppins"/>
              </a:rPr>
              <a:t>•  Communicating complex information clearly</a:t>
            </a:r>
          </a:p>
          <a:p>
            <a:pPr algn="l">
              <a:spcAft>
                <a:spcPts val="1300"/>
              </a:spcAft>
            </a:pPr>
            <a:r>
              <a:rPr sz="1900" b="0">
                <a:solidFill>
                  <a:srgbClr val="2D2A4A"/>
                </a:solidFill>
                <a:latin typeface="Poppins"/>
              </a:rPr>
              <a:t>•  Building trust</a:t>
            </a:r>
          </a:p>
          <a:p>
            <a:pPr algn="l">
              <a:spcAft>
                <a:spcPts val="1300"/>
              </a:spcAft>
            </a:pPr>
            <a:r>
              <a:rPr sz="1900" b="0">
                <a:solidFill>
                  <a:srgbClr val="2D2A4A"/>
                </a:solidFill>
                <a:latin typeface="Poppins"/>
              </a:rPr>
              <a:t>•  Recovering when something goes wrong</a:t>
            </a:r>
          </a:p>
        </p:txBody>
      </p:sp>
      <p:sp>
        <p:nvSpPr>
          <p:cNvPr id="7" name="TextBox 6"/>
          <p:cNvSpPr txBox="1"/>
          <p:nvPr/>
        </p:nvSpPr>
        <p:spPr>
          <a:xfrm>
            <a:off x="6217920" y="1874519"/>
            <a:ext cx="5212080" cy="3931920"/>
          </a:xfrm>
          <a:prstGeom prst="rect">
            <a:avLst/>
          </a:prstGeom>
          <a:noFill/>
        </p:spPr>
        <p:txBody>
          <a:bodyPr wrap="square">
            <a:spAutoFit/>
          </a:bodyPr>
          <a:lstStyle/>
          <a:p>
            <a:pPr algn="l">
              <a:spcAft>
                <a:spcPts val="1300"/>
              </a:spcAft>
            </a:pPr>
            <a:r>
              <a:rPr sz="1900" b="0">
                <a:solidFill>
                  <a:srgbClr val="2D2A4A"/>
                </a:solidFill>
                <a:latin typeface="Poppins"/>
              </a:rPr>
              <a:t>•  Managing timing and operational details</a:t>
            </a:r>
          </a:p>
          <a:p>
            <a:pPr algn="l">
              <a:spcAft>
                <a:spcPts val="1300"/>
              </a:spcAft>
            </a:pPr>
            <a:r>
              <a:rPr sz="1900" b="0">
                <a:solidFill>
                  <a:srgbClr val="2D2A4A"/>
                </a:solidFill>
                <a:latin typeface="Poppins"/>
              </a:rPr>
              <a:t>•  Delivering consistent experiences</a:t>
            </a:r>
          </a:p>
          <a:p>
            <a:pPr algn="l">
              <a:spcAft>
                <a:spcPts val="1300"/>
              </a:spcAft>
            </a:pPr>
            <a:r>
              <a:rPr sz="1900" b="0">
                <a:solidFill>
                  <a:srgbClr val="2D2A4A"/>
                </a:solidFill>
                <a:latin typeface="Poppins"/>
              </a:rPr>
              <a:t>•  Working within high standards</a:t>
            </a:r>
          </a:p>
          <a:p>
            <a:pPr algn="l">
              <a:spcAft>
                <a:spcPts val="1300"/>
              </a:spcAft>
            </a:pPr>
            <a:r>
              <a:rPr sz="1900" b="0">
                <a:solidFill>
                  <a:srgbClr val="2D2A4A"/>
                </a:solidFill>
                <a:latin typeface="Poppins"/>
              </a:rPr>
              <a:t>•  Leading without formal authority</a:t>
            </a:r>
          </a:p>
        </p:txBody>
      </p:sp>
      <p:sp>
        <p:nvSpPr>
          <p:cNvPr id="8" name="Rounded Rectangle 7"/>
          <p:cNvSpPr/>
          <p:nvPr/>
        </p:nvSpPr>
        <p:spPr>
          <a:xfrm>
            <a:off x="822960" y="5257800"/>
            <a:ext cx="10607040" cy="96012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5440680"/>
            <a:ext cx="10058400" cy="685800"/>
          </a:xfrm>
          <a:prstGeom prst="rect">
            <a:avLst/>
          </a:prstGeom>
          <a:noFill/>
        </p:spPr>
        <p:txBody>
          <a:bodyPr wrap="square">
            <a:spAutoFit/>
          </a:bodyPr>
          <a:lstStyle/>
          <a:p>
            <a:pPr algn="l">
              <a:spcAft>
                <a:spcPts val="600"/>
              </a:spcAft>
            </a:pPr>
            <a:r>
              <a:rPr sz="1800" b="1">
                <a:solidFill>
                  <a:srgbClr val="FFFFFF"/>
                </a:solidFill>
                <a:latin typeface="Poppins"/>
              </a:rPr>
              <a:t>A financial application also depends on trust, reliability, clarity and a carefully designed customer experience.</a:t>
            </a:r>
          </a:p>
        </p:txBody>
      </p:sp>
      <p:sp>
        <p:nvSpPr>
          <p:cNvPr id="10" name="TextBox 9"/>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03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THE CLASSROOM FOUNDATION</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The Idea Began as an Academic Exercise</a:t>
            </a:r>
          </a:p>
        </p:txBody>
      </p:sp>
      <p:sp>
        <p:nvSpPr>
          <p:cNvPr id="6" name="TextBox 5"/>
          <p:cNvSpPr txBox="1"/>
          <p:nvPr/>
        </p:nvSpPr>
        <p:spPr>
          <a:xfrm>
            <a:off x="822960" y="1828800"/>
            <a:ext cx="6309360" cy="4114800"/>
          </a:xfrm>
          <a:prstGeom prst="rect">
            <a:avLst/>
          </a:prstGeom>
          <a:noFill/>
        </p:spPr>
        <p:txBody>
          <a:bodyPr wrap="square">
            <a:spAutoFit/>
          </a:bodyPr>
          <a:lstStyle/>
          <a:p>
            <a:pPr algn="l">
              <a:spcAft>
                <a:spcPts val="1200"/>
              </a:spcAft>
            </a:pPr>
            <a:r>
              <a:rPr sz="2000" b="1">
                <a:solidFill>
                  <a:srgbClr val="2D2A4A"/>
                </a:solidFill>
                <a:latin typeface="Poppins"/>
              </a:rPr>
              <a:t>Business education turned an observation into a structured opportunity.</a:t>
            </a:r>
          </a:p>
          <a:p>
            <a:pPr algn="l">
              <a:spcAft>
                <a:spcPts val="1200"/>
              </a:spcAft>
            </a:pPr>
            <a:r>
              <a:rPr sz="1800" b="0">
                <a:solidFill>
                  <a:srgbClr val="2D2A4A"/>
                </a:solidFill>
                <a:latin typeface="Poppins"/>
              </a:rPr>
              <a:t>Entrepreneurship coursework introduced: problem definition, customer value propositions, market analysis, branding, business models, pitch development, financial planning.</a:t>
            </a:r>
          </a:p>
          <a:p>
            <a:pPr algn="l">
              <a:spcAft>
                <a:spcPts val="1200"/>
              </a:spcAft>
            </a:pPr>
            <a:r>
              <a:rPr sz="1800" b="0">
                <a:solidFill>
                  <a:srgbClr val="2D2A4A"/>
                </a:solidFill>
                <a:latin typeface="Poppins"/>
              </a:rPr>
              <a:t>Management Information Systems education connected business strategy to technology architecture.</a:t>
            </a:r>
          </a:p>
          <a:p>
            <a:pPr algn="l">
              <a:spcAft>
                <a:spcPts val="600"/>
              </a:spcAft>
            </a:pPr>
            <a:r>
              <a:rPr sz="1800" b="0">
                <a:solidFill>
                  <a:srgbClr val="2D2A4A"/>
                </a:solidFill>
                <a:latin typeface="Poppins"/>
              </a:rPr>
              <a:t>Early academic work included the Dime Time concept, branding, color scheme, presentation materials and an initial outsourced demo.</a:t>
            </a:r>
          </a:p>
        </p:txBody>
      </p:sp>
      <p:sp>
        <p:nvSpPr>
          <p:cNvPr id="7" name="Rounded Rectangle 6"/>
          <p:cNvSpPr/>
          <p:nvPr/>
        </p:nvSpPr>
        <p:spPr>
          <a:xfrm>
            <a:off x="7498079" y="1920240"/>
            <a:ext cx="4023360" cy="3840480"/>
          </a:xfrm>
          <a:prstGeom prst="roundRect">
            <a:avLst/>
          </a:prstGeom>
          <a:solidFill>
            <a:srgbClr val="FFFFFF"/>
          </a:solidFill>
          <a:ln w="2540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2240280"/>
            <a:ext cx="3383280" cy="3291840"/>
          </a:xfrm>
          <a:prstGeom prst="rect">
            <a:avLst/>
          </a:prstGeom>
          <a:noFill/>
        </p:spPr>
        <p:txBody>
          <a:bodyPr wrap="square">
            <a:spAutoFit/>
          </a:bodyPr>
          <a:lstStyle/>
          <a:p>
            <a:pPr algn="l">
              <a:spcAft>
                <a:spcPts val="1000"/>
              </a:spcAft>
            </a:pPr>
            <a:r>
              <a:rPr sz="1400" b="1">
                <a:solidFill>
                  <a:srgbClr val="4A468F"/>
                </a:solidFill>
                <a:latin typeface="Poppins"/>
              </a:rPr>
              <a:t>IMPORTANT FRAMING</a:t>
            </a:r>
          </a:p>
          <a:p>
            <a:pPr algn="l">
              <a:spcAft>
                <a:spcPts val="1000"/>
              </a:spcAft>
            </a:pPr>
            <a:r>
              <a:rPr sz="1900" b="1">
                <a:solidFill>
                  <a:srgbClr val="2D2A4A"/>
                </a:solidFill>
                <a:latin typeface="Poppins"/>
              </a:rPr>
              <a:t>The early demo was not the final product.</a:t>
            </a:r>
          </a:p>
          <a:p>
            <a:pPr algn="l">
              <a:spcAft>
                <a:spcPts val="600"/>
              </a:spcAft>
            </a:pPr>
            <a:r>
              <a:rPr sz="1700" b="0">
                <a:solidFill>
                  <a:srgbClr val="2D2A4A"/>
                </a:solidFill>
                <a:latin typeface="Poppins"/>
              </a:rPr>
              <a:t>It was a learning tool that transformed an abstract idea into something people could see and discuss.</a:t>
            </a:r>
          </a:p>
        </p:txBody>
      </p:sp>
      <p:sp>
        <p:nvSpPr>
          <p:cNvPr id="9" name="TextBox 8"/>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04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THE PROBLEM</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Why Dime Time Needed to Exist</a:t>
            </a:r>
          </a:p>
        </p:txBody>
      </p:sp>
      <p:sp>
        <p:nvSpPr>
          <p:cNvPr id="6" name="TextBox 5"/>
          <p:cNvSpPr txBox="1"/>
          <p:nvPr/>
        </p:nvSpPr>
        <p:spPr>
          <a:xfrm>
            <a:off x="822960" y="1828800"/>
            <a:ext cx="6126480" cy="3657600"/>
          </a:xfrm>
          <a:prstGeom prst="rect">
            <a:avLst/>
          </a:prstGeom>
          <a:noFill/>
        </p:spPr>
        <p:txBody>
          <a:bodyPr wrap="square">
            <a:spAutoFit/>
          </a:bodyPr>
          <a:lstStyle/>
          <a:p>
            <a:pPr algn="l">
              <a:spcAft>
                <a:spcPts val="1300"/>
              </a:spcAft>
            </a:pPr>
            <a:r>
              <a:rPr sz="1900" b="0">
                <a:solidFill>
                  <a:srgbClr val="2D2A4A"/>
                </a:solidFill>
                <a:latin typeface="Poppins"/>
              </a:rPr>
              <a:t>•  Many consumers intend to make extra debt payments</a:t>
            </a:r>
          </a:p>
          <a:p>
            <a:pPr algn="l">
              <a:spcAft>
                <a:spcPts val="1300"/>
              </a:spcAft>
            </a:pPr>
            <a:r>
              <a:rPr sz="1900" b="0">
                <a:solidFill>
                  <a:srgbClr val="2D2A4A"/>
                </a:solidFill>
                <a:latin typeface="Poppins"/>
              </a:rPr>
              <a:t>•  Manual extra payments require repeated discipline</a:t>
            </a:r>
          </a:p>
          <a:p>
            <a:pPr algn="l">
              <a:spcAft>
                <a:spcPts val="1300"/>
              </a:spcAft>
            </a:pPr>
            <a:r>
              <a:rPr sz="1900" b="0">
                <a:solidFill>
                  <a:srgbClr val="2D2A4A"/>
                </a:solidFill>
                <a:latin typeface="Poppins"/>
              </a:rPr>
              <a:t>•  Small amounts are easier to commit than large, irregular payments</a:t>
            </a:r>
          </a:p>
          <a:p>
            <a:pPr algn="l">
              <a:spcAft>
                <a:spcPts val="1300"/>
              </a:spcAft>
            </a:pPr>
            <a:r>
              <a:rPr sz="1900" b="0">
                <a:solidFill>
                  <a:srgbClr val="2D2A4A"/>
                </a:solidFill>
                <a:latin typeface="Poppins"/>
              </a:rPr>
              <a:t>•  Everyday transactions can create a recurring behavioral trigger</a:t>
            </a:r>
          </a:p>
          <a:p>
            <a:pPr algn="l">
              <a:spcAft>
                <a:spcPts val="1300"/>
              </a:spcAft>
            </a:pPr>
            <a:r>
              <a:rPr sz="1900" b="0">
                <a:solidFill>
                  <a:srgbClr val="2D2A4A"/>
                </a:solidFill>
                <a:latin typeface="Poppins"/>
              </a:rPr>
              <a:t>•  Automation can help translate intention into action</a:t>
            </a:r>
          </a:p>
        </p:txBody>
      </p:sp>
      <p:sp>
        <p:nvSpPr>
          <p:cNvPr id="7" name="Rounded Rectangle 6"/>
          <p:cNvSpPr/>
          <p:nvPr/>
        </p:nvSpPr>
        <p:spPr>
          <a:xfrm>
            <a:off x="7315200" y="1783080"/>
            <a:ext cx="4206240" cy="1170432"/>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latin typeface="Poppins"/>
              </a:rPr>
              <a:t>$18.8T</a:t>
            </a:r>
          </a:p>
          <a:p>
            <a:pPr algn="ctr"/>
            <a:r>
              <a:rPr sz="1500">
                <a:solidFill>
                  <a:srgbClr val="C9C7F9"/>
                </a:solidFill>
                <a:latin typeface="Poppins"/>
              </a:rPr>
              <a:t>U.S. household debt</a:t>
            </a:r>
          </a:p>
        </p:txBody>
      </p:sp>
      <p:sp>
        <p:nvSpPr>
          <p:cNvPr id="8" name="Rounded Rectangle 7"/>
          <p:cNvSpPr/>
          <p:nvPr/>
        </p:nvSpPr>
        <p:spPr>
          <a:xfrm>
            <a:off x="7315200" y="3136391"/>
            <a:ext cx="4206240" cy="1170432"/>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latin typeface="Poppins"/>
              </a:rPr>
              <a:t>$1.25T</a:t>
            </a:r>
          </a:p>
          <a:p>
            <a:pPr algn="ctr"/>
            <a:r>
              <a:rPr sz="1500">
                <a:solidFill>
                  <a:srgbClr val="C9C7F9"/>
                </a:solidFill>
                <a:latin typeface="Poppins"/>
              </a:rPr>
              <a:t>credit-card balances</a:t>
            </a:r>
          </a:p>
        </p:txBody>
      </p:sp>
      <p:sp>
        <p:nvSpPr>
          <p:cNvPr id="9" name="Rounded Rectangle 8"/>
          <p:cNvSpPr/>
          <p:nvPr/>
        </p:nvSpPr>
        <p:spPr>
          <a:xfrm>
            <a:off x="7315200" y="4489704"/>
            <a:ext cx="4206240" cy="1170432"/>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latin typeface="Poppins"/>
              </a:rPr>
              <a:t>91%</a:t>
            </a:r>
          </a:p>
          <a:p>
            <a:pPr algn="ctr"/>
            <a:r>
              <a:rPr sz="1500">
                <a:solidFill>
                  <a:srgbClr val="C9C7F9"/>
                </a:solidFill>
                <a:latin typeface="Poppins"/>
              </a:rPr>
              <a:t>of U.S. adults own a smartphone</a:t>
            </a:r>
          </a:p>
        </p:txBody>
      </p:sp>
      <p:sp>
        <p:nvSpPr>
          <p:cNvPr id="10" name="TextBox 9"/>
          <p:cNvSpPr txBox="1"/>
          <p:nvPr/>
        </p:nvSpPr>
        <p:spPr>
          <a:xfrm>
            <a:off x="822960" y="5715000"/>
            <a:ext cx="10789920" cy="685800"/>
          </a:xfrm>
          <a:prstGeom prst="rect">
            <a:avLst/>
          </a:prstGeom>
          <a:noFill/>
        </p:spPr>
        <p:txBody>
          <a:bodyPr wrap="square">
            <a:spAutoFit/>
          </a:bodyPr>
          <a:lstStyle/>
          <a:p>
            <a:pPr algn="l">
              <a:spcAft>
                <a:spcPts val="300"/>
              </a:spcAft>
            </a:pPr>
            <a:r>
              <a:rPr sz="1600" b="1">
                <a:solidFill>
                  <a:srgbClr val="4A468F"/>
                </a:solidFill>
                <a:latin typeface="Poppins"/>
              </a:rPr>
              <a:t>These figures describe the scale of the problem — they are not Dime Time metrics.</a:t>
            </a:r>
          </a:p>
          <a:p>
            <a:pPr algn="l">
              <a:spcAft>
                <a:spcPts val="600"/>
              </a:spcAft>
            </a:pPr>
            <a:r>
              <a:rPr sz="1400" b="0">
                <a:solidFill>
                  <a:srgbClr val="2D2A4A"/>
                </a:solidFill>
                <a:latin typeface="Poppins"/>
              </a:rPr>
              <a:t>Sources: Federal Reserve Bank of New York, Household Debt &amp; Credit Report, Q1 2026 (released May 2026)  •  Pew Research Center, Mobile Fact Sheet, 2025</a:t>
            </a:r>
          </a:p>
        </p:txBody>
      </p:sp>
      <p:sp>
        <p:nvSpPr>
          <p:cNvPr id="11" name="TextBox 10"/>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05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THE SOLUTION</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Get Out of Debt, One Dime at a Time</a:t>
            </a:r>
          </a:p>
        </p:txBody>
      </p:sp>
      <p:sp>
        <p:nvSpPr>
          <p:cNvPr id="6" name="TextBox 5"/>
          <p:cNvSpPr txBox="1"/>
          <p:nvPr/>
        </p:nvSpPr>
        <p:spPr>
          <a:xfrm>
            <a:off x="822960" y="1828800"/>
            <a:ext cx="6766560" cy="3566160"/>
          </a:xfrm>
          <a:prstGeom prst="rect">
            <a:avLst/>
          </a:prstGeom>
          <a:noFill/>
        </p:spPr>
        <p:txBody>
          <a:bodyPr wrap="square">
            <a:spAutoFit/>
          </a:bodyPr>
          <a:lstStyle/>
          <a:p>
            <a:pPr algn="l">
              <a:spcAft>
                <a:spcPts val="1100"/>
              </a:spcAft>
            </a:pPr>
            <a:r>
              <a:rPr sz="1900" b="0">
                <a:solidFill>
                  <a:srgbClr val="2D2A4A"/>
                </a:solidFill>
                <a:latin typeface="Poppins"/>
              </a:rPr>
              <a:t>1.  A user connects an eligible financial account</a:t>
            </a:r>
          </a:p>
          <a:p>
            <a:pPr algn="l">
              <a:spcAft>
                <a:spcPts val="1100"/>
              </a:spcAft>
            </a:pPr>
            <a:r>
              <a:rPr sz="1900" b="0">
                <a:solidFill>
                  <a:srgbClr val="2D2A4A"/>
                </a:solidFill>
                <a:latin typeface="Poppins"/>
              </a:rPr>
              <a:t>2.  Everyday purchases are analyzed</a:t>
            </a:r>
          </a:p>
          <a:p>
            <a:pPr algn="l">
              <a:spcAft>
                <a:spcPts val="1100"/>
              </a:spcAft>
            </a:pPr>
            <a:r>
              <a:rPr sz="1900" b="0">
                <a:solidFill>
                  <a:srgbClr val="2D2A4A"/>
                </a:solidFill>
                <a:latin typeface="Poppins"/>
              </a:rPr>
              <a:t>3.  Each purchase is rounded up</a:t>
            </a:r>
          </a:p>
          <a:p>
            <a:pPr algn="l">
              <a:spcAft>
                <a:spcPts val="1100"/>
              </a:spcAft>
            </a:pPr>
            <a:r>
              <a:rPr sz="1900" b="0">
                <a:solidFill>
                  <a:srgbClr val="2D2A4A"/>
                </a:solidFill>
                <a:latin typeface="Poppins"/>
              </a:rPr>
              <a:t>4.  Round-ups accumulate</a:t>
            </a:r>
          </a:p>
          <a:p>
            <a:pPr algn="l">
              <a:spcAft>
                <a:spcPts val="1100"/>
              </a:spcAft>
            </a:pPr>
            <a:r>
              <a:rPr sz="1900" b="0">
                <a:solidFill>
                  <a:srgbClr val="2D2A4A"/>
                </a:solidFill>
                <a:latin typeface="Poppins"/>
              </a:rPr>
              <a:t>5.  The user controls the destination and schedule</a:t>
            </a:r>
          </a:p>
          <a:p>
            <a:pPr algn="l">
              <a:spcAft>
                <a:spcPts val="1100"/>
              </a:spcAft>
            </a:pPr>
            <a:r>
              <a:rPr sz="1900" b="1">
                <a:solidFill>
                  <a:srgbClr val="2D2A4A"/>
                </a:solidFill>
                <a:latin typeface="Poppins"/>
              </a:rPr>
              <a:t>6.  Authorized ACH payments apply accumulated amounts toward debt</a:t>
            </a:r>
          </a:p>
        </p:txBody>
      </p:sp>
      <p:pic>
        <p:nvPicPr>
          <p:cNvPr id="7" name="Picture 6" descr="01-dashboard-iphone.png"/>
          <p:cNvPicPr>
            <a:picLocks noChangeAspect="1"/>
          </p:cNvPicPr>
          <p:nvPr/>
        </p:nvPicPr>
        <p:blipFill>
          <a:blip r:embed="rId2"/>
          <a:stretch>
            <a:fillRect/>
          </a:stretch>
        </p:blipFill>
        <p:spPr>
          <a:xfrm>
            <a:off x="7818120" y="1783080"/>
            <a:ext cx="1877365" cy="4069080"/>
          </a:xfrm>
          <a:prstGeom prst="rect">
            <a:avLst/>
          </a:prstGeom>
        </p:spPr>
      </p:pic>
      <p:pic>
        <p:nvPicPr>
          <p:cNvPr id="8" name="Picture 7" descr="03-roundups-iphone.png"/>
          <p:cNvPicPr>
            <a:picLocks noChangeAspect="1"/>
          </p:cNvPicPr>
          <p:nvPr/>
        </p:nvPicPr>
        <p:blipFill>
          <a:blip r:embed="rId3"/>
          <a:stretch>
            <a:fillRect/>
          </a:stretch>
        </p:blipFill>
        <p:spPr>
          <a:xfrm>
            <a:off x="9829800" y="1783080"/>
            <a:ext cx="1877365" cy="4069080"/>
          </a:xfrm>
          <a:prstGeom prst="rect">
            <a:avLst/>
          </a:prstGeom>
        </p:spPr>
      </p:pic>
      <p:sp>
        <p:nvSpPr>
          <p:cNvPr id="9" name="Rounded Rectangle 8"/>
          <p:cNvSpPr/>
          <p:nvPr/>
        </p:nvSpPr>
        <p:spPr>
          <a:xfrm>
            <a:off x="822960" y="5532120"/>
            <a:ext cx="10607040" cy="868680"/>
          </a:xfrm>
          <a:prstGeom prst="roundRect">
            <a:avLst/>
          </a:prstGeom>
          <a:solidFill>
            <a:srgbClr val="FFFFFF"/>
          </a:solidFill>
          <a:ln w="19050">
            <a:solidFill>
              <a:srgbClr val="4A46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69280"/>
            <a:ext cx="10149840" cy="640080"/>
          </a:xfrm>
          <a:prstGeom prst="rect">
            <a:avLst/>
          </a:prstGeom>
          <a:noFill/>
        </p:spPr>
        <p:txBody>
          <a:bodyPr wrap="square">
            <a:spAutoFit/>
          </a:bodyPr>
          <a:lstStyle/>
          <a:p>
            <a:pPr algn="l">
              <a:spcAft>
                <a:spcPts val="600"/>
              </a:spcAft>
            </a:pPr>
            <a:r>
              <a:rPr sz="1600" b="1">
                <a:solidFill>
                  <a:srgbClr val="4A468F"/>
                </a:solidFill>
                <a:latin typeface="Poppins"/>
              </a:rPr>
              <a:t>Accuracy note: money does not move after every purchase — round-ups accumulate and transfer on a user-approved schedule.</a:t>
            </a:r>
          </a:p>
        </p:txBody>
      </p:sp>
      <p:sp>
        <p:nvSpPr>
          <p:cNvPr id="11" name="TextBox 10"/>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06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FROM IDEA TO SYSTEM</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A Fintech Product Is More Than an App Screen</a:t>
            </a:r>
          </a:p>
        </p:txBody>
      </p:sp>
      <p:sp>
        <p:nvSpPr>
          <p:cNvPr id="6" name="Rounded Rectangle 5"/>
          <p:cNvSpPr/>
          <p:nvPr/>
        </p:nvSpPr>
        <p:spPr>
          <a:xfrm>
            <a:off x="822960" y="1783080"/>
            <a:ext cx="4297680" cy="475488"/>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USER EXPERIENCE</a:t>
            </a:r>
          </a:p>
        </p:txBody>
      </p:sp>
      <p:sp>
        <p:nvSpPr>
          <p:cNvPr id="7" name="TextBox 6"/>
          <p:cNvSpPr txBox="1"/>
          <p:nvPr/>
        </p:nvSpPr>
        <p:spPr>
          <a:xfrm>
            <a:off x="2651760" y="2185416"/>
            <a:ext cx="640080" cy="292608"/>
          </a:xfrm>
          <a:prstGeom prst="rect">
            <a:avLst/>
          </a:prstGeom>
          <a:noFill/>
        </p:spPr>
        <p:txBody>
          <a:bodyPr wrap="square">
            <a:spAutoFit/>
          </a:bodyPr>
          <a:lstStyle/>
          <a:p>
            <a:pPr algn="ctr">
              <a:spcAft>
                <a:spcPts val="600"/>
              </a:spcAft>
            </a:pPr>
            <a:r>
              <a:rPr sz="1400" b="1">
                <a:solidFill>
                  <a:srgbClr val="2D2A4A"/>
                </a:solidFill>
                <a:latin typeface="Poppins"/>
              </a:rPr>
              <a:t>↓</a:t>
            </a:r>
          </a:p>
        </p:txBody>
      </p:sp>
      <p:sp>
        <p:nvSpPr>
          <p:cNvPr id="8" name="Rounded Rectangle 7"/>
          <p:cNvSpPr/>
          <p:nvPr/>
        </p:nvSpPr>
        <p:spPr>
          <a:xfrm>
            <a:off x="822960" y="2441448"/>
            <a:ext cx="4297680" cy="475488"/>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BANK CONNECTION</a:t>
            </a:r>
          </a:p>
        </p:txBody>
      </p:sp>
      <p:sp>
        <p:nvSpPr>
          <p:cNvPr id="9" name="TextBox 8"/>
          <p:cNvSpPr txBox="1"/>
          <p:nvPr/>
        </p:nvSpPr>
        <p:spPr>
          <a:xfrm>
            <a:off x="2651760" y="2843784"/>
            <a:ext cx="640080" cy="292608"/>
          </a:xfrm>
          <a:prstGeom prst="rect">
            <a:avLst/>
          </a:prstGeom>
          <a:noFill/>
        </p:spPr>
        <p:txBody>
          <a:bodyPr wrap="square">
            <a:spAutoFit/>
          </a:bodyPr>
          <a:lstStyle/>
          <a:p>
            <a:pPr algn="ctr">
              <a:spcAft>
                <a:spcPts val="600"/>
              </a:spcAft>
            </a:pPr>
            <a:r>
              <a:rPr sz="1400" b="1">
                <a:solidFill>
                  <a:srgbClr val="2D2A4A"/>
                </a:solidFill>
                <a:latin typeface="Poppins"/>
              </a:rPr>
              <a:t>↓</a:t>
            </a:r>
          </a:p>
        </p:txBody>
      </p:sp>
      <p:sp>
        <p:nvSpPr>
          <p:cNvPr id="10" name="Rounded Rectangle 9"/>
          <p:cNvSpPr/>
          <p:nvPr/>
        </p:nvSpPr>
        <p:spPr>
          <a:xfrm>
            <a:off x="822960" y="3099815"/>
            <a:ext cx="4297680" cy="475488"/>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TRANSACTION ANALYSIS</a:t>
            </a:r>
          </a:p>
        </p:txBody>
      </p:sp>
      <p:sp>
        <p:nvSpPr>
          <p:cNvPr id="11" name="TextBox 10"/>
          <p:cNvSpPr txBox="1"/>
          <p:nvPr/>
        </p:nvSpPr>
        <p:spPr>
          <a:xfrm>
            <a:off x="2651760" y="3502151"/>
            <a:ext cx="640080" cy="292608"/>
          </a:xfrm>
          <a:prstGeom prst="rect">
            <a:avLst/>
          </a:prstGeom>
          <a:noFill/>
        </p:spPr>
        <p:txBody>
          <a:bodyPr wrap="square">
            <a:spAutoFit/>
          </a:bodyPr>
          <a:lstStyle/>
          <a:p>
            <a:pPr algn="ctr">
              <a:spcAft>
                <a:spcPts val="600"/>
              </a:spcAft>
            </a:pPr>
            <a:r>
              <a:rPr sz="1400" b="1">
                <a:solidFill>
                  <a:srgbClr val="2D2A4A"/>
                </a:solidFill>
                <a:latin typeface="Poppins"/>
              </a:rPr>
              <a:t>↓</a:t>
            </a:r>
          </a:p>
        </p:txBody>
      </p:sp>
      <p:sp>
        <p:nvSpPr>
          <p:cNvPr id="12" name="Rounded Rectangle 11"/>
          <p:cNvSpPr/>
          <p:nvPr/>
        </p:nvSpPr>
        <p:spPr>
          <a:xfrm>
            <a:off x="822960" y="3758183"/>
            <a:ext cx="4297680" cy="475488"/>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ROUND-UP CALCULATION</a:t>
            </a:r>
          </a:p>
        </p:txBody>
      </p:sp>
      <p:sp>
        <p:nvSpPr>
          <p:cNvPr id="13" name="TextBox 12"/>
          <p:cNvSpPr txBox="1"/>
          <p:nvPr/>
        </p:nvSpPr>
        <p:spPr>
          <a:xfrm>
            <a:off x="2651760" y="4160520"/>
            <a:ext cx="640080" cy="292608"/>
          </a:xfrm>
          <a:prstGeom prst="rect">
            <a:avLst/>
          </a:prstGeom>
          <a:noFill/>
        </p:spPr>
        <p:txBody>
          <a:bodyPr wrap="square">
            <a:spAutoFit/>
          </a:bodyPr>
          <a:lstStyle/>
          <a:p>
            <a:pPr algn="ctr">
              <a:spcAft>
                <a:spcPts val="600"/>
              </a:spcAft>
            </a:pPr>
            <a:r>
              <a:rPr sz="1400" b="1">
                <a:solidFill>
                  <a:srgbClr val="2D2A4A"/>
                </a:solidFill>
                <a:latin typeface="Poppins"/>
              </a:rPr>
              <a:t>↓</a:t>
            </a:r>
          </a:p>
        </p:txBody>
      </p:sp>
      <p:sp>
        <p:nvSpPr>
          <p:cNvPr id="14" name="Rounded Rectangle 13"/>
          <p:cNvSpPr/>
          <p:nvPr/>
        </p:nvSpPr>
        <p:spPr>
          <a:xfrm>
            <a:off x="822960" y="4416551"/>
            <a:ext cx="4297680" cy="475488"/>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USER AUTHORIZATION</a:t>
            </a:r>
          </a:p>
        </p:txBody>
      </p:sp>
      <p:sp>
        <p:nvSpPr>
          <p:cNvPr id="15" name="TextBox 14"/>
          <p:cNvSpPr txBox="1"/>
          <p:nvPr/>
        </p:nvSpPr>
        <p:spPr>
          <a:xfrm>
            <a:off x="2651760" y="4818888"/>
            <a:ext cx="640080" cy="292608"/>
          </a:xfrm>
          <a:prstGeom prst="rect">
            <a:avLst/>
          </a:prstGeom>
          <a:noFill/>
        </p:spPr>
        <p:txBody>
          <a:bodyPr wrap="square">
            <a:spAutoFit/>
          </a:bodyPr>
          <a:lstStyle/>
          <a:p>
            <a:pPr algn="ctr">
              <a:spcAft>
                <a:spcPts val="600"/>
              </a:spcAft>
            </a:pPr>
            <a:r>
              <a:rPr sz="1400" b="1">
                <a:solidFill>
                  <a:srgbClr val="2D2A4A"/>
                </a:solidFill>
                <a:latin typeface="Poppins"/>
              </a:rPr>
              <a:t>↓</a:t>
            </a:r>
          </a:p>
        </p:txBody>
      </p:sp>
      <p:sp>
        <p:nvSpPr>
          <p:cNvPr id="16" name="Rounded Rectangle 15"/>
          <p:cNvSpPr/>
          <p:nvPr/>
        </p:nvSpPr>
        <p:spPr>
          <a:xfrm>
            <a:off x="822960" y="5074919"/>
            <a:ext cx="4297680" cy="475488"/>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ACH PAYMENT</a:t>
            </a:r>
          </a:p>
        </p:txBody>
      </p:sp>
      <p:sp>
        <p:nvSpPr>
          <p:cNvPr id="17" name="TextBox 16"/>
          <p:cNvSpPr txBox="1"/>
          <p:nvPr/>
        </p:nvSpPr>
        <p:spPr>
          <a:xfrm>
            <a:off x="2651760" y="5477255"/>
            <a:ext cx="640080" cy="292608"/>
          </a:xfrm>
          <a:prstGeom prst="rect">
            <a:avLst/>
          </a:prstGeom>
          <a:noFill/>
        </p:spPr>
        <p:txBody>
          <a:bodyPr wrap="square">
            <a:spAutoFit/>
          </a:bodyPr>
          <a:lstStyle/>
          <a:p>
            <a:pPr algn="ctr">
              <a:spcAft>
                <a:spcPts val="600"/>
              </a:spcAft>
            </a:pPr>
            <a:r>
              <a:rPr sz="1400" b="1">
                <a:solidFill>
                  <a:srgbClr val="2D2A4A"/>
                </a:solidFill>
                <a:latin typeface="Poppins"/>
              </a:rPr>
              <a:t>↓</a:t>
            </a:r>
          </a:p>
        </p:txBody>
      </p:sp>
      <p:sp>
        <p:nvSpPr>
          <p:cNvPr id="18" name="Rounded Rectangle 17"/>
          <p:cNvSpPr/>
          <p:nvPr/>
        </p:nvSpPr>
        <p:spPr>
          <a:xfrm>
            <a:off x="822960" y="5733287"/>
            <a:ext cx="4297680" cy="475488"/>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TRANSFER TRACKING &amp; RECONCILIATION</a:t>
            </a:r>
          </a:p>
        </p:txBody>
      </p:sp>
      <p:sp>
        <p:nvSpPr>
          <p:cNvPr id="19" name="TextBox 18"/>
          <p:cNvSpPr txBox="1"/>
          <p:nvPr/>
        </p:nvSpPr>
        <p:spPr>
          <a:xfrm>
            <a:off x="5760720" y="1783080"/>
            <a:ext cx="5760720" cy="4480560"/>
          </a:xfrm>
          <a:prstGeom prst="rect">
            <a:avLst/>
          </a:prstGeom>
          <a:noFill/>
        </p:spPr>
        <p:txBody>
          <a:bodyPr wrap="square">
            <a:spAutoFit/>
          </a:bodyPr>
          <a:lstStyle/>
          <a:p>
            <a:pPr algn="l">
              <a:spcAft>
                <a:spcPts val="800"/>
              </a:spcAft>
            </a:pPr>
            <a:r>
              <a:rPr sz="1900" b="1">
                <a:solidFill>
                  <a:srgbClr val="2D2A4A"/>
                </a:solidFill>
                <a:latin typeface="Poppins"/>
              </a:rPr>
              <a:t>Building Dime Time required:</a:t>
            </a:r>
          </a:p>
          <a:p>
            <a:pPr algn="l">
              <a:spcAft>
                <a:spcPts val="900"/>
              </a:spcAft>
            </a:pPr>
            <a:r>
              <a:rPr sz="1700" b="0">
                <a:solidFill>
                  <a:srgbClr val="2D2A4A"/>
                </a:solidFill>
                <a:latin typeface="Poppins"/>
              </a:rPr>
              <a:t>•  Mobile and web interfaces  •  authentication</a:t>
            </a:r>
          </a:p>
          <a:p>
            <a:pPr algn="l">
              <a:spcAft>
                <a:spcPts val="900"/>
              </a:spcAft>
            </a:pPr>
            <a:r>
              <a:rPr sz="1700" b="0">
                <a:solidFill>
                  <a:srgbClr val="2D2A4A"/>
                </a:solidFill>
                <a:latin typeface="Poppins"/>
              </a:rPr>
              <a:t>•  Database design  •  bank connectivity</a:t>
            </a:r>
          </a:p>
          <a:p>
            <a:pPr algn="l">
              <a:spcAft>
                <a:spcPts val="900"/>
              </a:spcAft>
            </a:pPr>
            <a:r>
              <a:rPr sz="1700" b="0">
                <a:solidFill>
                  <a:srgbClr val="2D2A4A"/>
                </a:solidFill>
                <a:latin typeface="Poppins"/>
              </a:rPr>
              <a:t>•  Transaction processing  •  ACH payment infrastructure</a:t>
            </a:r>
          </a:p>
          <a:p>
            <a:pPr algn="l">
              <a:spcAft>
                <a:spcPts val="900"/>
              </a:spcAft>
            </a:pPr>
            <a:r>
              <a:rPr sz="1700" b="0">
                <a:solidFill>
                  <a:srgbClr val="2D2A4A"/>
                </a:solidFill>
                <a:latin typeface="Poppins"/>
              </a:rPr>
              <a:t>•  User authorization records  •  security controls</a:t>
            </a:r>
          </a:p>
          <a:p>
            <a:pPr algn="l">
              <a:spcAft>
                <a:spcPts val="900"/>
              </a:spcAft>
            </a:pPr>
            <a:r>
              <a:rPr sz="1700" b="0">
                <a:solidFill>
                  <a:srgbClr val="2D2A4A"/>
                </a:solidFill>
                <a:latin typeface="Poppins"/>
              </a:rPr>
              <a:t>•  Transfer status tracking  •  error recovery</a:t>
            </a:r>
          </a:p>
          <a:p>
            <a:pPr algn="l">
              <a:spcAft>
                <a:spcPts val="900"/>
              </a:spcAft>
            </a:pPr>
            <a:r>
              <a:rPr sz="1700" b="0">
                <a:solidFill>
                  <a:srgbClr val="2D2A4A"/>
                </a:solidFill>
                <a:latin typeface="Poppins"/>
              </a:rPr>
              <a:t>•  Privacy and legal documentation</a:t>
            </a:r>
          </a:p>
          <a:p>
            <a:pPr algn="l">
              <a:spcAft>
                <a:spcPts val="900"/>
              </a:spcAft>
            </a:pPr>
            <a:r>
              <a:rPr sz="1700" b="0">
                <a:solidFill>
                  <a:srgbClr val="2D2A4A"/>
                </a:solidFill>
                <a:latin typeface="Poppins"/>
              </a:rPr>
              <a:t>•  App Store compliance</a:t>
            </a:r>
          </a:p>
          <a:p>
            <a:pPr algn="l">
              <a:spcAft>
                <a:spcPts val="0"/>
              </a:spcAft>
            </a:pPr>
            <a:r>
              <a:rPr sz="1700" b="1">
                <a:solidFill>
                  <a:srgbClr val="4A468F"/>
                </a:solidFill>
                <a:latin typeface="Poppins"/>
              </a:rPr>
              <a:t>The app screen is the visible 10%. The other 90% is the system underneath it.</a:t>
            </a:r>
          </a:p>
        </p:txBody>
      </p:sp>
      <p:sp>
        <p:nvSpPr>
          <p:cNvPr id="20" name="TextBox 19"/>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07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BUILDING WITHOUT AN ENGINEERING BACKGROUND</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2800" b="1">
                <a:solidFill>
                  <a:srgbClr val="2D2A4A"/>
                </a:solidFill>
                <a:latin typeface="Poppins"/>
              </a:rPr>
              <a:t>Learning to Build Without a Traditional Engineering Background</a:t>
            </a:r>
          </a:p>
        </p:txBody>
      </p:sp>
      <p:sp>
        <p:nvSpPr>
          <p:cNvPr id="6" name="TextBox 5"/>
          <p:cNvSpPr txBox="1"/>
          <p:nvPr/>
        </p:nvSpPr>
        <p:spPr>
          <a:xfrm>
            <a:off x="822960" y="1783080"/>
            <a:ext cx="6675120" cy="4297680"/>
          </a:xfrm>
          <a:prstGeom prst="rect">
            <a:avLst/>
          </a:prstGeom>
          <a:noFill/>
        </p:spPr>
        <p:txBody>
          <a:bodyPr wrap="square">
            <a:spAutoFit/>
          </a:bodyPr>
          <a:lstStyle/>
          <a:p>
            <a:pPr algn="l">
              <a:spcAft>
                <a:spcPts val="1100"/>
              </a:spcAft>
            </a:pPr>
            <a:r>
              <a:rPr sz="1800" b="0">
                <a:solidFill>
                  <a:srgbClr val="2D2A4A"/>
                </a:solidFill>
                <a:latin typeface="Poppins"/>
              </a:rPr>
              <a:t>•  Began with the business problem, not the programming language</a:t>
            </a:r>
          </a:p>
          <a:p>
            <a:pPr algn="l">
              <a:spcAft>
                <a:spcPts val="1100"/>
              </a:spcAft>
            </a:pPr>
            <a:r>
              <a:rPr sz="1800" b="0">
                <a:solidFill>
                  <a:srgbClr val="2D2A4A"/>
                </a:solidFill>
                <a:latin typeface="Poppins"/>
              </a:rPr>
              <a:t>•  Learned how software components fit together</a:t>
            </a:r>
          </a:p>
          <a:p>
            <a:pPr algn="l">
              <a:spcAft>
                <a:spcPts val="1100"/>
              </a:spcAft>
            </a:pPr>
            <a:r>
              <a:rPr sz="1800" b="0">
                <a:solidFill>
                  <a:srgbClr val="2D2A4A"/>
                </a:solidFill>
                <a:latin typeface="Poppins"/>
              </a:rPr>
              <a:t>•  Used AI-assisted development to accelerate learning and execution</a:t>
            </a:r>
          </a:p>
          <a:p>
            <a:pPr algn="l">
              <a:spcAft>
                <a:spcPts val="1100"/>
              </a:spcAft>
            </a:pPr>
            <a:r>
              <a:rPr sz="1800" b="0">
                <a:solidFill>
                  <a:srgbClr val="2D2A4A"/>
                </a:solidFill>
                <a:latin typeface="Poppins"/>
              </a:rPr>
              <a:t>•  Broke large problems into smaller, testable tasks</a:t>
            </a:r>
          </a:p>
          <a:p>
            <a:pPr algn="l">
              <a:spcAft>
                <a:spcPts val="1100"/>
              </a:spcAft>
            </a:pPr>
            <a:r>
              <a:rPr sz="1800" b="0">
                <a:solidFill>
                  <a:srgbClr val="2D2A4A"/>
                </a:solidFill>
                <a:latin typeface="Poppins"/>
              </a:rPr>
              <a:t>•  Learned to verify outputs instead of accepting them blindly</a:t>
            </a:r>
          </a:p>
          <a:p>
            <a:pPr algn="l">
              <a:spcAft>
                <a:spcPts val="1100"/>
              </a:spcAft>
            </a:pPr>
            <a:r>
              <a:rPr sz="1800" b="0">
                <a:solidFill>
                  <a:srgbClr val="2D2A4A"/>
                </a:solidFill>
                <a:latin typeface="Poppins"/>
              </a:rPr>
              <a:t>•  Used screenshots, tests, logs and controlled experiments as evidence</a:t>
            </a:r>
          </a:p>
          <a:p>
            <a:pPr algn="l">
              <a:spcAft>
                <a:spcPts val="1100"/>
              </a:spcAft>
            </a:pPr>
            <a:r>
              <a:rPr sz="1800" b="0">
                <a:solidFill>
                  <a:srgbClr val="2D2A4A"/>
                </a:solidFill>
                <a:latin typeface="Poppins"/>
              </a:rPr>
              <a:t>•  Developed enough technical literacy to make product decisions and question unsafe assumptions</a:t>
            </a:r>
          </a:p>
        </p:txBody>
      </p:sp>
      <p:sp>
        <p:nvSpPr>
          <p:cNvPr id="7" name="Rounded Rectangle 6"/>
          <p:cNvSpPr/>
          <p:nvPr/>
        </p:nvSpPr>
        <p:spPr>
          <a:xfrm>
            <a:off x="7772400" y="1965960"/>
            <a:ext cx="3749039" cy="3749039"/>
          </a:xfrm>
          <a:prstGeom prst="roundRect">
            <a:avLst/>
          </a:prstGeom>
          <a:solidFill>
            <a:srgbClr val="2D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2331720"/>
            <a:ext cx="3108960" cy="3108960"/>
          </a:xfrm>
          <a:prstGeom prst="rect">
            <a:avLst/>
          </a:prstGeom>
          <a:noFill/>
        </p:spPr>
        <p:txBody>
          <a:bodyPr wrap="square">
            <a:spAutoFit/>
          </a:bodyPr>
          <a:lstStyle/>
          <a:p>
            <a:pPr algn="l">
              <a:spcAft>
                <a:spcPts val="1000"/>
              </a:spcAft>
            </a:pPr>
            <a:r>
              <a:rPr sz="1400" b="1">
                <a:solidFill>
                  <a:srgbClr val="E8B84B"/>
                </a:solidFill>
                <a:latin typeface="Poppins"/>
              </a:rPr>
              <a:t>CORE LESSON</a:t>
            </a:r>
          </a:p>
          <a:p>
            <a:pPr algn="l">
              <a:spcAft>
                <a:spcPts val="600"/>
              </a:spcAft>
            </a:pPr>
            <a:r>
              <a:rPr sz="1900" b="1">
                <a:solidFill>
                  <a:srgbClr val="FFFFFF"/>
                </a:solidFill>
                <a:latin typeface="Poppins"/>
              </a:rPr>
              <a:t>AI can accelerate execution —</a:t>
            </a:r>
          </a:p>
          <a:p>
            <a:pPr algn="l">
              <a:spcAft>
                <a:spcPts val="600"/>
              </a:spcAft>
            </a:pPr>
            <a:r>
              <a:rPr sz="1800" b="0">
                <a:solidFill>
                  <a:srgbClr val="C9C7F9"/>
                </a:solidFill>
                <a:latin typeface="Poppins"/>
              </a:rPr>
              <a:t>but it does not replace founder judgment, testing, accountability or domain understanding.</a:t>
            </a:r>
          </a:p>
        </p:txBody>
      </p:sp>
      <p:sp>
        <p:nvSpPr>
          <p:cNvPr id="9" name="TextBox 8"/>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08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THE TECHNOLOGY</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The System Behind Dime Time</a:t>
            </a:r>
          </a:p>
        </p:txBody>
      </p:sp>
      <p:sp>
        <p:nvSpPr>
          <p:cNvPr id="6" name="Rounded Rectangle 5"/>
          <p:cNvSpPr/>
          <p:nvPr/>
        </p:nvSpPr>
        <p:spPr>
          <a:xfrm>
            <a:off x="822960" y="1783080"/>
            <a:ext cx="5212080" cy="192024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9384"/>
            <a:ext cx="4663440" cy="1691640"/>
          </a:xfrm>
          <a:prstGeom prst="rect">
            <a:avLst/>
          </a:prstGeom>
          <a:noFill/>
        </p:spPr>
        <p:txBody>
          <a:bodyPr wrap="square">
            <a:spAutoFit/>
          </a:bodyPr>
          <a:lstStyle/>
          <a:p>
            <a:pPr algn="l">
              <a:spcAft>
                <a:spcPts val="500"/>
              </a:spcAft>
            </a:pPr>
            <a:r>
              <a:rPr sz="1500" b="1">
                <a:solidFill>
                  <a:srgbClr val="C9C7F9"/>
                </a:solidFill>
                <a:latin typeface="Poppins"/>
              </a:rPr>
              <a:t>FRONT END</a:t>
            </a:r>
          </a:p>
          <a:p>
            <a:pPr algn="l">
              <a:spcAft>
                <a:spcPts val="300"/>
              </a:spcAft>
            </a:pPr>
            <a:r>
              <a:rPr sz="1450" b="0">
                <a:solidFill>
                  <a:srgbClr val="FFFFFF"/>
                </a:solidFill>
                <a:latin typeface="Poppins"/>
              </a:rPr>
              <a:t>•  React</a:t>
            </a:r>
          </a:p>
          <a:p>
            <a:pPr algn="l">
              <a:spcAft>
                <a:spcPts val="300"/>
              </a:spcAft>
            </a:pPr>
            <a:r>
              <a:rPr sz="1450" b="0">
                <a:solidFill>
                  <a:srgbClr val="FFFFFF"/>
                </a:solidFill>
                <a:latin typeface="Poppins"/>
              </a:rPr>
              <a:t>•  TypeScript</a:t>
            </a:r>
          </a:p>
          <a:p>
            <a:pPr algn="l">
              <a:spcAft>
                <a:spcPts val="300"/>
              </a:spcAft>
            </a:pPr>
            <a:r>
              <a:rPr sz="1450" b="0">
                <a:solidFill>
                  <a:srgbClr val="FFFFFF"/>
                </a:solidFill>
                <a:latin typeface="Poppins"/>
              </a:rPr>
              <a:t>•  Capacitor mobile application</a:t>
            </a:r>
          </a:p>
        </p:txBody>
      </p:sp>
      <p:sp>
        <p:nvSpPr>
          <p:cNvPr id="8" name="Rounded Rectangle 7"/>
          <p:cNvSpPr/>
          <p:nvPr/>
        </p:nvSpPr>
        <p:spPr>
          <a:xfrm>
            <a:off x="6400800" y="1783080"/>
            <a:ext cx="5212080" cy="192024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929384"/>
            <a:ext cx="4663440" cy="1691640"/>
          </a:xfrm>
          <a:prstGeom prst="rect">
            <a:avLst/>
          </a:prstGeom>
          <a:noFill/>
        </p:spPr>
        <p:txBody>
          <a:bodyPr wrap="square">
            <a:spAutoFit/>
          </a:bodyPr>
          <a:lstStyle/>
          <a:p>
            <a:pPr algn="l">
              <a:spcAft>
                <a:spcPts val="500"/>
              </a:spcAft>
            </a:pPr>
            <a:r>
              <a:rPr sz="1500" b="1">
                <a:solidFill>
                  <a:srgbClr val="C9C7F9"/>
                </a:solidFill>
                <a:latin typeface="Poppins"/>
              </a:rPr>
              <a:t>BACK END</a:t>
            </a:r>
          </a:p>
          <a:p>
            <a:pPr algn="l">
              <a:spcAft>
                <a:spcPts val="300"/>
              </a:spcAft>
            </a:pPr>
            <a:r>
              <a:rPr sz="1450" b="0">
                <a:solidFill>
                  <a:srgbClr val="FFFFFF"/>
                </a:solidFill>
                <a:latin typeface="Poppins"/>
              </a:rPr>
              <a:t>•  Express / Node.js</a:t>
            </a:r>
          </a:p>
          <a:p>
            <a:pPr algn="l">
              <a:spcAft>
                <a:spcPts val="300"/>
              </a:spcAft>
            </a:pPr>
            <a:r>
              <a:rPr sz="1450" b="0">
                <a:solidFill>
                  <a:srgbClr val="FFFFFF"/>
                </a:solidFill>
                <a:latin typeface="Poppins"/>
              </a:rPr>
              <a:t>•  PostgreSQL</a:t>
            </a:r>
          </a:p>
          <a:p>
            <a:pPr algn="l">
              <a:spcAft>
                <a:spcPts val="300"/>
              </a:spcAft>
            </a:pPr>
            <a:r>
              <a:rPr sz="1450" b="0">
                <a:solidFill>
                  <a:srgbClr val="FFFFFF"/>
                </a:solidFill>
                <a:latin typeface="Poppins"/>
              </a:rPr>
              <a:t>•  Drizzle ORM</a:t>
            </a:r>
          </a:p>
        </p:txBody>
      </p:sp>
      <p:sp>
        <p:nvSpPr>
          <p:cNvPr id="10" name="Rounded Rectangle 9"/>
          <p:cNvSpPr/>
          <p:nvPr/>
        </p:nvSpPr>
        <p:spPr>
          <a:xfrm>
            <a:off x="822960" y="3886200"/>
            <a:ext cx="5212080" cy="1920240"/>
          </a:xfrm>
          <a:prstGeom prst="roundRect">
            <a:avLst/>
          </a:prstGeom>
          <a:solidFill>
            <a:srgbClr val="2D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32504"/>
            <a:ext cx="4663440" cy="1691640"/>
          </a:xfrm>
          <a:prstGeom prst="rect">
            <a:avLst/>
          </a:prstGeom>
          <a:noFill/>
        </p:spPr>
        <p:txBody>
          <a:bodyPr wrap="square">
            <a:spAutoFit/>
          </a:bodyPr>
          <a:lstStyle/>
          <a:p>
            <a:pPr algn="l">
              <a:spcAft>
                <a:spcPts val="500"/>
              </a:spcAft>
            </a:pPr>
            <a:r>
              <a:rPr sz="1500" b="1">
                <a:solidFill>
                  <a:srgbClr val="E8B84B"/>
                </a:solidFill>
                <a:latin typeface="Poppins"/>
              </a:rPr>
              <a:t>FINANCIAL INFRASTRUCTURE</a:t>
            </a:r>
          </a:p>
          <a:p>
            <a:pPr algn="l">
              <a:spcAft>
                <a:spcPts val="300"/>
              </a:spcAft>
            </a:pPr>
            <a:r>
              <a:rPr sz="1450" b="0">
                <a:solidFill>
                  <a:srgbClr val="FFFFFF"/>
                </a:solidFill>
                <a:latin typeface="Poppins"/>
              </a:rPr>
              <a:t>•  Plaid — approved bank-connectivity products</a:t>
            </a:r>
          </a:p>
          <a:p>
            <a:pPr algn="l">
              <a:spcAft>
                <a:spcPts val="300"/>
              </a:spcAft>
            </a:pPr>
            <a:r>
              <a:rPr sz="1450" b="0">
                <a:solidFill>
                  <a:srgbClr val="FFFFFF"/>
                </a:solidFill>
                <a:latin typeface="Poppins"/>
              </a:rPr>
              <a:t>•  Stripe ACH</a:t>
            </a:r>
          </a:p>
          <a:p>
            <a:pPr algn="l">
              <a:spcAft>
                <a:spcPts val="300"/>
              </a:spcAft>
            </a:pPr>
            <a:r>
              <a:rPr sz="1450" b="0">
                <a:solidFill>
                  <a:srgbClr val="FFFFFF"/>
                </a:solidFill>
                <a:latin typeface="Poppins"/>
              </a:rPr>
              <a:t>•  Stripe Financial Connections — under review</a:t>
            </a:r>
          </a:p>
          <a:p>
            <a:pPr algn="l">
              <a:spcAft>
                <a:spcPts val="300"/>
              </a:spcAft>
            </a:pPr>
            <a:r>
              <a:rPr sz="1450" b="0">
                <a:solidFill>
                  <a:srgbClr val="FFFFFF"/>
                </a:solidFill>
                <a:latin typeface="Poppins"/>
              </a:rPr>
              <a:t>•  Mercury — business bank &amp; payout destination</a:t>
            </a:r>
          </a:p>
        </p:txBody>
      </p:sp>
      <p:sp>
        <p:nvSpPr>
          <p:cNvPr id="12" name="Rounded Rectangle 11"/>
          <p:cNvSpPr/>
          <p:nvPr/>
        </p:nvSpPr>
        <p:spPr>
          <a:xfrm>
            <a:off x="6400800" y="3886200"/>
            <a:ext cx="5212080" cy="192024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4032504"/>
            <a:ext cx="4663440" cy="1691640"/>
          </a:xfrm>
          <a:prstGeom prst="rect">
            <a:avLst/>
          </a:prstGeom>
          <a:noFill/>
        </p:spPr>
        <p:txBody>
          <a:bodyPr wrap="square">
            <a:spAutoFit/>
          </a:bodyPr>
          <a:lstStyle/>
          <a:p>
            <a:pPr algn="l">
              <a:spcAft>
                <a:spcPts val="500"/>
              </a:spcAft>
            </a:pPr>
            <a:r>
              <a:rPr sz="1500" b="1">
                <a:solidFill>
                  <a:srgbClr val="C9C7F9"/>
                </a:solidFill>
                <a:latin typeface="Poppins"/>
              </a:rPr>
              <a:t>OPERATIONS</a:t>
            </a:r>
          </a:p>
          <a:p>
            <a:pPr algn="l">
              <a:spcAft>
                <a:spcPts val="300"/>
              </a:spcAft>
            </a:pPr>
            <a:r>
              <a:rPr sz="1450" b="0">
                <a:solidFill>
                  <a:srgbClr val="FFFFFF"/>
                </a:solidFill>
                <a:latin typeface="Poppins"/>
              </a:rPr>
              <a:t>•  Replit development environment</a:t>
            </a:r>
          </a:p>
          <a:p>
            <a:pPr algn="l">
              <a:spcAft>
                <a:spcPts val="300"/>
              </a:spcAft>
            </a:pPr>
            <a:r>
              <a:rPr sz="1450" b="0">
                <a:solidFill>
                  <a:srgbClr val="FFFFFF"/>
                </a:solidFill>
                <a:latin typeface="Poppins"/>
              </a:rPr>
              <a:t>•  Codemagic mobile build workflow</a:t>
            </a:r>
          </a:p>
          <a:p>
            <a:pPr algn="l">
              <a:spcAft>
                <a:spcPts val="300"/>
              </a:spcAft>
            </a:pPr>
            <a:r>
              <a:rPr sz="1450" b="0">
                <a:solidFill>
                  <a:srgbClr val="FFFFFF"/>
                </a:solidFill>
                <a:latin typeface="Poppins"/>
              </a:rPr>
              <a:t>•  Apple App Store</a:t>
            </a:r>
          </a:p>
          <a:p>
            <a:pPr algn="l">
              <a:spcAft>
                <a:spcPts val="300"/>
              </a:spcAft>
            </a:pPr>
            <a:r>
              <a:rPr sz="1450" b="0">
                <a:solidFill>
                  <a:srgbClr val="FFFFFF"/>
                </a:solidFill>
                <a:latin typeface="Poppins"/>
              </a:rPr>
              <a:t>•  Google Play preparation</a:t>
            </a:r>
          </a:p>
        </p:txBody>
      </p:sp>
      <p:sp>
        <p:nvSpPr>
          <p:cNvPr id="14" name="TextBox 13"/>
          <p:cNvSpPr txBox="1"/>
          <p:nvPr/>
        </p:nvSpPr>
        <p:spPr>
          <a:xfrm>
            <a:off x="822960" y="5943600"/>
            <a:ext cx="10789920" cy="457200"/>
          </a:xfrm>
          <a:prstGeom prst="rect">
            <a:avLst/>
          </a:prstGeom>
          <a:noFill/>
        </p:spPr>
        <p:txBody>
          <a:bodyPr wrap="square">
            <a:spAutoFit/>
          </a:bodyPr>
          <a:lstStyle/>
          <a:p>
            <a:pPr algn="l">
              <a:spcAft>
                <a:spcPts val="600"/>
              </a:spcAft>
            </a:pPr>
            <a:r>
              <a:rPr sz="1400" b="1">
                <a:solidFill>
                  <a:srgbClr val="4A468F"/>
                </a:solidFill>
                <a:latin typeface="Poppins"/>
              </a:rPr>
              <a:t>Partner names indicate service relationships, not endorsements.</a:t>
            </a:r>
          </a:p>
        </p:txBody>
      </p:sp>
      <p:sp>
        <p:nvSpPr>
          <p:cNvPr id="15" name="TextBox 14"/>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09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SAFETY BEFORE SCALE</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Building Financial Technology Means Building Guardrails</a:t>
            </a:r>
          </a:p>
        </p:txBody>
      </p:sp>
      <p:sp>
        <p:nvSpPr>
          <p:cNvPr id="6" name="Rounded Rectangle 5"/>
          <p:cNvSpPr/>
          <p:nvPr/>
        </p:nvSpPr>
        <p:spPr>
          <a:xfrm>
            <a:off x="822960" y="1828800"/>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Master real-transfer switch</a:t>
            </a:r>
          </a:p>
        </p:txBody>
      </p:sp>
      <p:sp>
        <p:nvSpPr>
          <p:cNvPr id="7" name="Rounded Rectangle 6"/>
          <p:cNvSpPr/>
          <p:nvPr/>
        </p:nvSpPr>
        <p:spPr>
          <a:xfrm>
            <a:off x="4434840" y="1828800"/>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Separate ACH feature switch</a:t>
            </a:r>
          </a:p>
        </p:txBody>
      </p:sp>
      <p:sp>
        <p:nvSpPr>
          <p:cNvPr id="8" name="Rounded Rectangle 7"/>
          <p:cNvSpPr/>
          <p:nvPr/>
        </p:nvSpPr>
        <p:spPr>
          <a:xfrm>
            <a:off x="8046720" y="1828800"/>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Founder-controlled user allowlist</a:t>
            </a:r>
          </a:p>
        </p:txBody>
      </p:sp>
      <p:sp>
        <p:nvSpPr>
          <p:cNvPr id="9" name="Rounded Rectangle 8"/>
          <p:cNvSpPr/>
          <p:nvPr/>
        </p:nvSpPr>
        <p:spPr>
          <a:xfrm>
            <a:off x="822960" y="2670048"/>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No automatic public approval</a:t>
            </a:r>
          </a:p>
        </p:txBody>
      </p:sp>
      <p:sp>
        <p:nvSpPr>
          <p:cNvPr id="10" name="Rounded Rectangle 9"/>
          <p:cNvSpPr/>
          <p:nvPr/>
        </p:nvSpPr>
        <p:spPr>
          <a:xfrm>
            <a:off x="4434840" y="2670048"/>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First-transfer limit</a:t>
            </a:r>
          </a:p>
        </p:txBody>
      </p:sp>
      <p:sp>
        <p:nvSpPr>
          <p:cNvPr id="11" name="Rounded Rectangle 10"/>
          <p:cNvSpPr/>
          <p:nvPr/>
        </p:nvSpPr>
        <p:spPr>
          <a:xfrm>
            <a:off x="8046720" y="2670048"/>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Daily transfer limit</a:t>
            </a:r>
          </a:p>
        </p:txBody>
      </p:sp>
      <p:sp>
        <p:nvSpPr>
          <p:cNvPr id="12" name="Rounded Rectangle 11"/>
          <p:cNvSpPr/>
          <p:nvPr/>
        </p:nvSpPr>
        <p:spPr>
          <a:xfrm>
            <a:off x="822960" y="3511296"/>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Transfer-frequency limit</a:t>
            </a:r>
          </a:p>
        </p:txBody>
      </p:sp>
      <p:sp>
        <p:nvSpPr>
          <p:cNvPr id="13" name="Rounded Rectangle 12"/>
          <p:cNvSpPr/>
          <p:nvPr/>
        </p:nvSpPr>
        <p:spPr>
          <a:xfrm>
            <a:off x="4434840" y="3511296"/>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User authorization evidence</a:t>
            </a:r>
          </a:p>
        </p:txBody>
      </p:sp>
      <p:sp>
        <p:nvSpPr>
          <p:cNvPr id="14" name="Rounded Rectangle 13"/>
          <p:cNvSpPr/>
          <p:nvPr/>
        </p:nvSpPr>
        <p:spPr>
          <a:xfrm>
            <a:off x="8046720" y="3511296"/>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Duplicate-payment protection</a:t>
            </a:r>
          </a:p>
        </p:txBody>
      </p:sp>
      <p:sp>
        <p:nvSpPr>
          <p:cNvPr id="15" name="Rounded Rectangle 14"/>
          <p:cNvSpPr/>
          <p:nvPr/>
        </p:nvSpPr>
        <p:spPr>
          <a:xfrm>
            <a:off x="822960" y="4352544"/>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Webhook verification</a:t>
            </a:r>
          </a:p>
        </p:txBody>
      </p:sp>
      <p:sp>
        <p:nvSpPr>
          <p:cNvPr id="16" name="Rounded Rectangle 15"/>
          <p:cNvSpPr/>
          <p:nvPr/>
        </p:nvSpPr>
        <p:spPr>
          <a:xfrm>
            <a:off x="4434840" y="4352544"/>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Transaction ledger</a:t>
            </a:r>
          </a:p>
        </p:txBody>
      </p:sp>
      <p:sp>
        <p:nvSpPr>
          <p:cNvPr id="17" name="Rounded Rectangle 16"/>
          <p:cNvSpPr/>
          <p:nvPr/>
        </p:nvSpPr>
        <p:spPr>
          <a:xfrm>
            <a:off x="8046720" y="4352544"/>
            <a:ext cx="3429000" cy="685800"/>
          </a:xfrm>
          <a:prstGeom prst="roundRect">
            <a:avLst/>
          </a:prstGeom>
          <a:solidFill>
            <a:srgbClr val="FFFFFF"/>
          </a:solidFill>
          <a:ln w="1905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a:solidFill>
                  <a:srgbClr val="2D2A4A"/>
                </a:solidFill>
                <a:latin typeface="Poppins"/>
              </a:rPr>
              <a:t>Audit logging</a:t>
            </a:r>
          </a:p>
        </p:txBody>
      </p:sp>
      <p:sp>
        <p:nvSpPr>
          <p:cNvPr id="18" name="TextBox 17"/>
          <p:cNvSpPr txBox="1"/>
          <p:nvPr/>
        </p:nvSpPr>
        <p:spPr>
          <a:xfrm>
            <a:off x="822960" y="5303520"/>
            <a:ext cx="10789920" cy="457200"/>
          </a:xfrm>
          <a:prstGeom prst="rect">
            <a:avLst/>
          </a:prstGeom>
          <a:noFill/>
        </p:spPr>
        <p:txBody>
          <a:bodyPr wrap="square">
            <a:spAutoFit/>
          </a:bodyPr>
          <a:lstStyle/>
          <a:p>
            <a:pPr algn="l">
              <a:spcAft>
                <a:spcPts val="600"/>
              </a:spcAft>
            </a:pPr>
            <a:r>
              <a:rPr sz="1600" b="1">
                <a:solidFill>
                  <a:srgbClr val="2D2A4A"/>
                </a:solidFill>
                <a:latin typeface="Poppins"/>
              </a:rPr>
              <a:t>Plus: the ability to disable real transfers instantly.</a:t>
            </a:r>
          </a:p>
        </p:txBody>
      </p:sp>
      <p:sp>
        <p:nvSpPr>
          <p:cNvPr id="19" name="Rounded Rectangle 18"/>
          <p:cNvSpPr/>
          <p:nvPr/>
        </p:nvSpPr>
        <p:spPr>
          <a:xfrm>
            <a:off x="822960" y="5760720"/>
            <a:ext cx="10607040" cy="777240"/>
          </a:xfrm>
          <a:prstGeom prst="roundRect">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916168"/>
            <a:ext cx="10058400" cy="548640"/>
          </a:xfrm>
          <a:prstGeom prst="rect">
            <a:avLst/>
          </a:prstGeom>
          <a:noFill/>
        </p:spPr>
        <p:txBody>
          <a:bodyPr wrap="square">
            <a:spAutoFit/>
          </a:bodyPr>
          <a:lstStyle/>
          <a:p>
            <a:pPr algn="l">
              <a:spcAft>
                <a:spcPts val="600"/>
              </a:spcAft>
            </a:pPr>
            <a:r>
              <a:rPr sz="1700" b="1">
                <a:solidFill>
                  <a:srgbClr val="FFFFFF"/>
                </a:solidFill>
                <a:latin typeface="Poppins"/>
              </a:rPr>
              <a:t>In fintech, the safest successful test is more valuable than an uncontrolled launch.</a:t>
            </a:r>
          </a:p>
        </p:txBody>
      </p:sp>
      <p:sp>
        <p:nvSpPr>
          <p:cNvPr id="21" name="TextBox 20"/>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THE HISTORICAL TIMELINE</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000" b="1">
                <a:solidFill>
                  <a:srgbClr val="2D2A4A"/>
                </a:solidFill>
                <a:latin typeface="Poppins"/>
              </a:rPr>
              <a:t>From Academic Concept to Live Fintech Product</a:t>
            </a:r>
          </a:p>
        </p:txBody>
      </p:sp>
      <p:sp>
        <p:nvSpPr>
          <p:cNvPr id="6" name="Rectangle 5"/>
          <p:cNvSpPr/>
          <p:nvPr/>
        </p:nvSpPr>
        <p:spPr>
          <a:xfrm>
            <a:off x="1481328" y="1920240"/>
            <a:ext cx="31750" cy="3977639"/>
          </a:xfrm>
          <a:prstGeom prst="rect">
            <a:avLst/>
          </a:prstGeom>
          <a:solidFill>
            <a:srgbClr val="C9C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17320" y="2048256"/>
            <a:ext cx="164592" cy="164592"/>
          </a:xfrm>
          <a:prstGeom prst="ellipse">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783080" y="1810512"/>
            <a:ext cx="1691640" cy="566928"/>
          </a:xfrm>
          <a:prstGeom prst="roundRect">
            <a:avLst/>
          </a:prstGeom>
          <a:solidFill>
            <a:srgbClr val="C9C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2D2A4A"/>
                </a:solidFill>
                <a:latin typeface="Poppins"/>
              </a:rPr>
              <a:t>2014–2025</a:t>
            </a:r>
          </a:p>
        </p:txBody>
      </p:sp>
      <p:sp>
        <p:nvSpPr>
          <p:cNvPr id="9" name="TextBox 8"/>
          <p:cNvSpPr txBox="1"/>
          <p:nvPr/>
        </p:nvSpPr>
        <p:spPr>
          <a:xfrm>
            <a:off x="3703320" y="1828800"/>
            <a:ext cx="7772400" cy="658368"/>
          </a:xfrm>
          <a:prstGeom prst="rect">
            <a:avLst/>
          </a:prstGeom>
          <a:noFill/>
        </p:spPr>
        <p:txBody>
          <a:bodyPr wrap="square">
            <a:spAutoFit/>
          </a:bodyPr>
          <a:lstStyle/>
          <a:p>
            <a:pPr algn="l">
              <a:spcAft>
                <a:spcPts val="0"/>
              </a:spcAft>
            </a:pPr>
            <a:r>
              <a:rPr sz="1500" b="0">
                <a:solidFill>
                  <a:srgbClr val="2D2A4A"/>
                </a:solidFill>
                <a:latin typeface="Poppins"/>
              </a:rPr>
              <a:t>The idea &amp; classroom era — concept, brand and an early demo shaped through business education</a:t>
            </a:r>
          </a:p>
        </p:txBody>
      </p:sp>
      <p:sp>
        <p:nvSpPr>
          <p:cNvPr id="10" name="Oval 9"/>
          <p:cNvSpPr/>
          <p:nvPr/>
        </p:nvSpPr>
        <p:spPr>
          <a:xfrm>
            <a:off x="1417320" y="2743200"/>
            <a:ext cx="164592" cy="164592"/>
          </a:xfrm>
          <a:prstGeom prst="ellipse">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783080" y="2505456"/>
            <a:ext cx="1691640" cy="566928"/>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Aug 3, 2025</a:t>
            </a:r>
          </a:p>
        </p:txBody>
      </p:sp>
      <p:sp>
        <p:nvSpPr>
          <p:cNvPr id="12" name="TextBox 11"/>
          <p:cNvSpPr txBox="1"/>
          <p:nvPr/>
        </p:nvSpPr>
        <p:spPr>
          <a:xfrm>
            <a:off x="3703320" y="2523744"/>
            <a:ext cx="7772400" cy="658368"/>
          </a:xfrm>
          <a:prstGeom prst="rect">
            <a:avLst/>
          </a:prstGeom>
          <a:noFill/>
        </p:spPr>
        <p:txBody>
          <a:bodyPr wrap="square">
            <a:spAutoFit/>
          </a:bodyPr>
          <a:lstStyle/>
          <a:p>
            <a:pPr algn="l">
              <a:spcAft>
                <a:spcPts val="0"/>
              </a:spcAft>
            </a:pPr>
            <a:r>
              <a:rPr sz="1500" b="0">
                <a:solidFill>
                  <a:srgbClr val="2D2A4A"/>
                </a:solidFill>
                <a:latin typeface="Poppins"/>
              </a:rPr>
              <a:t>First commit — Dime Time becomes a software project</a:t>
            </a:r>
          </a:p>
        </p:txBody>
      </p:sp>
      <p:sp>
        <p:nvSpPr>
          <p:cNvPr id="13" name="Oval 12"/>
          <p:cNvSpPr/>
          <p:nvPr/>
        </p:nvSpPr>
        <p:spPr>
          <a:xfrm>
            <a:off x="1417320" y="3438144"/>
            <a:ext cx="164592" cy="164592"/>
          </a:xfrm>
          <a:prstGeom prst="ellipse">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83080" y="3200400"/>
            <a:ext cx="1691640" cy="566928"/>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May 27, 2026</a:t>
            </a:r>
          </a:p>
        </p:txBody>
      </p:sp>
      <p:sp>
        <p:nvSpPr>
          <p:cNvPr id="15" name="TextBox 14"/>
          <p:cNvSpPr txBox="1"/>
          <p:nvPr/>
        </p:nvSpPr>
        <p:spPr>
          <a:xfrm>
            <a:off x="3703320" y="3218688"/>
            <a:ext cx="7772400" cy="658368"/>
          </a:xfrm>
          <a:prstGeom prst="rect">
            <a:avLst/>
          </a:prstGeom>
          <a:noFill/>
        </p:spPr>
        <p:txBody>
          <a:bodyPr wrap="square">
            <a:spAutoFit/>
          </a:bodyPr>
          <a:lstStyle/>
          <a:p>
            <a:pPr algn="l">
              <a:spcAft>
                <a:spcPts val="0"/>
              </a:spcAft>
            </a:pPr>
            <a:r>
              <a:rPr sz="1500" b="0">
                <a:solidFill>
                  <a:srgbClr val="2D2A4A"/>
                </a:solidFill>
                <a:latin typeface="Poppins"/>
              </a:rPr>
              <a:t>Privacy Policy &amp; Terms effective — legal foundation prepared for production</a:t>
            </a:r>
          </a:p>
        </p:txBody>
      </p:sp>
      <p:sp>
        <p:nvSpPr>
          <p:cNvPr id="16" name="Oval 15"/>
          <p:cNvSpPr/>
          <p:nvPr/>
        </p:nvSpPr>
        <p:spPr>
          <a:xfrm>
            <a:off x="1417320" y="4133087"/>
            <a:ext cx="164592" cy="164592"/>
          </a:xfrm>
          <a:prstGeom prst="ellipse">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783080" y="3895344"/>
            <a:ext cx="1691640" cy="566928"/>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Jun 29, 2026</a:t>
            </a:r>
          </a:p>
        </p:txBody>
      </p:sp>
      <p:sp>
        <p:nvSpPr>
          <p:cNvPr id="18" name="TextBox 17"/>
          <p:cNvSpPr txBox="1"/>
          <p:nvPr/>
        </p:nvSpPr>
        <p:spPr>
          <a:xfrm>
            <a:off x="3703320" y="3913631"/>
            <a:ext cx="7772400" cy="658368"/>
          </a:xfrm>
          <a:prstGeom prst="rect">
            <a:avLst/>
          </a:prstGeom>
          <a:noFill/>
        </p:spPr>
        <p:txBody>
          <a:bodyPr wrap="square">
            <a:spAutoFit/>
          </a:bodyPr>
          <a:lstStyle/>
          <a:p>
            <a:pPr algn="l">
              <a:spcAft>
                <a:spcPts val="0"/>
              </a:spcAft>
            </a:pPr>
            <a:r>
              <a:rPr sz="1500" b="0">
                <a:solidFill>
                  <a:srgbClr val="2D2A4A"/>
                </a:solidFill>
                <a:latin typeface="Poppins"/>
              </a:rPr>
              <a:t>Dime Time goes LIVE on the Apple App Store</a:t>
            </a:r>
          </a:p>
        </p:txBody>
      </p:sp>
      <p:sp>
        <p:nvSpPr>
          <p:cNvPr id="19" name="Oval 18"/>
          <p:cNvSpPr/>
          <p:nvPr/>
        </p:nvSpPr>
        <p:spPr>
          <a:xfrm>
            <a:off x="1417320" y="4828031"/>
            <a:ext cx="164592" cy="164592"/>
          </a:xfrm>
          <a:prstGeom prst="ellipse">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783080" y="4590288"/>
            <a:ext cx="1691640" cy="566928"/>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Jul 7, 2026</a:t>
            </a:r>
          </a:p>
        </p:txBody>
      </p:sp>
      <p:sp>
        <p:nvSpPr>
          <p:cNvPr id="21" name="TextBox 20"/>
          <p:cNvSpPr txBox="1"/>
          <p:nvPr/>
        </p:nvSpPr>
        <p:spPr>
          <a:xfrm>
            <a:off x="3703320" y="4608575"/>
            <a:ext cx="7772400" cy="658368"/>
          </a:xfrm>
          <a:prstGeom prst="rect">
            <a:avLst/>
          </a:prstGeom>
          <a:noFill/>
        </p:spPr>
        <p:txBody>
          <a:bodyPr wrap="square">
            <a:spAutoFit/>
          </a:bodyPr>
          <a:lstStyle/>
          <a:p>
            <a:pPr algn="l">
              <a:spcAft>
                <a:spcPts val="0"/>
              </a:spcAft>
            </a:pPr>
            <a:r>
              <a:rPr sz="1500" b="0">
                <a:solidFill>
                  <a:srgbClr val="2D2A4A"/>
                </a:solidFill>
                <a:latin typeface="Poppins"/>
              </a:rPr>
              <a:t>Controlled $1.00 real ACH debt-payment test initiated through Stripe</a:t>
            </a:r>
          </a:p>
        </p:txBody>
      </p:sp>
      <p:sp>
        <p:nvSpPr>
          <p:cNvPr id="22" name="Oval 21"/>
          <p:cNvSpPr/>
          <p:nvPr/>
        </p:nvSpPr>
        <p:spPr>
          <a:xfrm>
            <a:off x="1417320" y="5522975"/>
            <a:ext cx="164592" cy="164592"/>
          </a:xfrm>
          <a:prstGeom prst="ellipse">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783080" y="5285231"/>
            <a:ext cx="1691640" cy="566928"/>
          </a:xfrm>
          <a:prstGeom prst="roundRect">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Jul 21, 2026</a:t>
            </a:r>
          </a:p>
        </p:txBody>
      </p:sp>
      <p:sp>
        <p:nvSpPr>
          <p:cNvPr id="24" name="TextBox 23"/>
          <p:cNvSpPr txBox="1"/>
          <p:nvPr/>
        </p:nvSpPr>
        <p:spPr>
          <a:xfrm>
            <a:off x="3703320" y="5303519"/>
            <a:ext cx="7772400" cy="658368"/>
          </a:xfrm>
          <a:prstGeom prst="rect">
            <a:avLst/>
          </a:prstGeom>
          <a:noFill/>
        </p:spPr>
        <p:txBody>
          <a:bodyPr wrap="square">
            <a:spAutoFit/>
          </a:bodyPr>
          <a:lstStyle/>
          <a:p>
            <a:pPr algn="l">
              <a:spcAft>
                <a:spcPts val="0"/>
              </a:spcAft>
            </a:pPr>
            <a:r>
              <a:rPr sz="1500" b="0">
                <a:solidFill>
                  <a:srgbClr val="2D2A4A"/>
                </a:solidFill>
                <a:latin typeface="Poppins"/>
              </a:rPr>
              <a:t>v1.0.5 (build 207) live  •  $0.99 payout confirmed in Mercury — bank-to-bank loop proven  •  Stripe Financial Connections submitted</a:t>
            </a:r>
          </a:p>
        </p:txBody>
      </p:sp>
      <p:sp>
        <p:nvSpPr>
          <p:cNvPr id="25" name="TextBox 24"/>
          <p:cNvSpPr txBox="1"/>
          <p:nvPr/>
        </p:nvSpPr>
        <p:spPr>
          <a:xfrm>
            <a:off x="822960" y="6108192"/>
            <a:ext cx="10789920" cy="502920"/>
          </a:xfrm>
          <a:prstGeom prst="rect">
            <a:avLst/>
          </a:prstGeom>
          <a:noFill/>
        </p:spPr>
        <p:txBody>
          <a:bodyPr wrap="square">
            <a:spAutoFit/>
          </a:bodyPr>
          <a:lstStyle/>
          <a:p>
            <a:pPr algn="l">
              <a:spcAft>
                <a:spcPts val="600"/>
              </a:spcAft>
            </a:pPr>
            <a:r>
              <a:rPr sz="1400" b="1">
                <a:solidFill>
                  <a:srgbClr val="4A468F"/>
                </a:solidFill>
                <a:latin typeface="Poppins"/>
              </a:rPr>
              <a:t>Today: iOS live  •  rails proven in a controlled founder test  •  Google Play prep underway  •  public bank linking &amp; debt import awaiting external approvals</a:t>
            </a:r>
          </a:p>
        </p:txBody>
      </p:sp>
      <p:sp>
        <p:nvSpPr>
          <p:cNvPr id="26" name="TextBox 25"/>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D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C9C7F9"/>
                </a:solidFill>
                <a:latin typeface="Poppins"/>
              </a:rPr>
              <a:t>THE MOMENT THE MODEL BECAME REAL</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FFFFFF"/>
                </a:solidFill>
                <a:latin typeface="Poppins"/>
              </a:rPr>
              <a:t>One Dollar Changed the Project</a:t>
            </a:r>
          </a:p>
        </p:txBody>
      </p:sp>
      <p:sp>
        <p:nvSpPr>
          <p:cNvPr id="6" name="Rounded Rectangle 5"/>
          <p:cNvSpPr/>
          <p:nvPr/>
        </p:nvSpPr>
        <p:spPr>
          <a:xfrm>
            <a:off x="731520" y="1965960"/>
            <a:ext cx="1965960" cy="137160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FFFFFF"/>
                </a:solidFill>
                <a:latin typeface="Poppins"/>
              </a:rPr>
              <a:t>$1.00</a:t>
            </a:r>
          </a:p>
          <a:p>
            <a:pPr algn="ctr"/>
            <a:r>
              <a:rPr sz="1400">
                <a:solidFill>
                  <a:srgbClr val="FFFFFF"/>
                </a:solidFill>
                <a:latin typeface="Poppins"/>
              </a:rPr>
              <a:t>ACH debt payment</a:t>
            </a:r>
          </a:p>
        </p:txBody>
      </p:sp>
      <p:sp>
        <p:nvSpPr>
          <p:cNvPr id="7" name="TextBox 6"/>
          <p:cNvSpPr txBox="1"/>
          <p:nvPr/>
        </p:nvSpPr>
        <p:spPr>
          <a:xfrm>
            <a:off x="2651760" y="2395728"/>
            <a:ext cx="402336" cy="502920"/>
          </a:xfrm>
          <a:prstGeom prst="rect">
            <a:avLst/>
          </a:prstGeom>
          <a:noFill/>
        </p:spPr>
        <p:txBody>
          <a:bodyPr wrap="square">
            <a:spAutoFit/>
          </a:bodyPr>
          <a:lstStyle/>
          <a:p>
            <a:pPr algn="ctr">
              <a:spcAft>
                <a:spcPts val="600"/>
              </a:spcAft>
            </a:pPr>
            <a:r>
              <a:rPr sz="2200" b="1">
                <a:solidFill>
                  <a:srgbClr val="FFFFFF"/>
                </a:solidFill>
                <a:latin typeface="Poppins"/>
              </a:rPr>
              <a:t>→</a:t>
            </a:r>
          </a:p>
        </p:txBody>
      </p:sp>
      <p:sp>
        <p:nvSpPr>
          <p:cNvPr id="8" name="Rounded Rectangle 7"/>
          <p:cNvSpPr/>
          <p:nvPr/>
        </p:nvSpPr>
        <p:spPr>
          <a:xfrm>
            <a:off x="2990087" y="1965960"/>
            <a:ext cx="1965960" cy="137160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FFFFFF"/>
                </a:solidFill>
                <a:latin typeface="Poppins"/>
              </a:rPr>
              <a:t>STRIPE</a:t>
            </a:r>
          </a:p>
          <a:p>
            <a:pPr algn="ctr"/>
            <a:r>
              <a:rPr sz="1400">
                <a:solidFill>
                  <a:srgbClr val="FFFFFF"/>
                </a:solidFill>
                <a:latin typeface="Poppins"/>
              </a:rPr>
              <a:t>processing</a:t>
            </a:r>
          </a:p>
        </p:txBody>
      </p:sp>
      <p:sp>
        <p:nvSpPr>
          <p:cNvPr id="9" name="TextBox 8"/>
          <p:cNvSpPr txBox="1"/>
          <p:nvPr/>
        </p:nvSpPr>
        <p:spPr>
          <a:xfrm>
            <a:off x="4910328" y="2395728"/>
            <a:ext cx="402336" cy="502920"/>
          </a:xfrm>
          <a:prstGeom prst="rect">
            <a:avLst/>
          </a:prstGeom>
          <a:noFill/>
        </p:spPr>
        <p:txBody>
          <a:bodyPr wrap="square">
            <a:spAutoFit/>
          </a:bodyPr>
          <a:lstStyle/>
          <a:p>
            <a:pPr algn="ctr">
              <a:spcAft>
                <a:spcPts val="600"/>
              </a:spcAft>
            </a:pPr>
            <a:r>
              <a:rPr sz="2200" b="1">
                <a:solidFill>
                  <a:srgbClr val="FFFFFF"/>
                </a:solidFill>
                <a:latin typeface="Poppins"/>
              </a:rPr>
              <a:t>→</a:t>
            </a:r>
          </a:p>
        </p:txBody>
      </p:sp>
      <p:sp>
        <p:nvSpPr>
          <p:cNvPr id="10" name="Rounded Rectangle 9"/>
          <p:cNvSpPr/>
          <p:nvPr/>
        </p:nvSpPr>
        <p:spPr>
          <a:xfrm>
            <a:off x="5248655" y="1965960"/>
            <a:ext cx="1965960" cy="137160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FFFFFF"/>
                </a:solidFill>
                <a:latin typeface="Poppins"/>
              </a:rPr>
              <a:t>$0.99</a:t>
            </a:r>
          </a:p>
          <a:p>
            <a:pPr algn="ctr"/>
            <a:r>
              <a:rPr sz="1400">
                <a:solidFill>
                  <a:srgbClr val="FFFFFF"/>
                </a:solidFill>
                <a:latin typeface="Poppins"/>
              </a:rPr>
              <a:t>payout</a:t>
            </a:r>
          </a:p>
        </p:txBody>
      </p:sp>
      <p:sp>
        <p:nvSpPr>
          <p:cNvPr id="11" name="TextBox 10"/>
          <p:cNvSpPr txBox="1"/>
          <p:nvPr/>
        </p:nvSpPr>
        <p:spPr>
          <a:xfrm>
            <a:off x="7168895" y="2395728"/>
            <a:ext cx="402336" cy="502920"/>
          </a:xfrm>
          <a:prstGeom prst="rect">
            <a:avLst/>
          </a:prstGeom>
          <a:noFill/>
        </p:spPr>
        <p:txBody>
          <a:bodyPr wrap="square">
            <a:spAutoFit/>
          </a:bodyPr>
          <a:lstStyle/>
          <a:p>
            <a:pPr algn="ctr">
              <a:spcAft>
                <a:spcPts val="600"/>
              </a:spcAft>
            </a:pPr>
            <a:r>
              <a:rPr sz="2200" b="1">
                <a:solidFill>
                  <a:srgbClr val="FFFFFF"/>
                </a:solidFill>
                <a:latin typeface="Poppins"/>
              </a:rPr>
              <a:t>→</a:t>
            </a:r>
          </a:p>
        </p:txBody>
      </p:sp>
      <p:sp>
        <p:nvSpPr>
          <p:cNvPr id="12" name="Rounded Rectangle 11"/>
          <p:cNvSpPr/>
          <p:nvPr/>
        </p:nvSpPr>
        <p:spPr>
          <a:xfrm>
            <a:off x="7507223" y="1965960"/>
            <a:ext cx="1965960" cy="137160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FFFFFF"/>
                </a:solidFill>
                <a:latin typeface="Poppins"/>
              </a:rPr>
              <a:t>MERCURY</a:t>
            </a:r>
          </a:p>
          <a:p>
            <a:pPr algn="ctr"/>
            <a:r>
              <a:rPr sz="1400">
                <a:solidFill>
                  <a:srgbClr val="FFFFFF"/>
                </a:solidFill>
                <a:latin typeface="Poppins"/>
              </a:rPr>
              <a:t>business bank</a:t>
            </a:r>
          </a:p>
        </p:txBody>
      </p:sp>
      <p:sp>
        <p:nvSpPr>
          <p:cNvPr id="13" name="TextBox 12"/>
          <p:cNvSpPr txBox="1"/>
          <p:nvPr/>
        </p:nvSpPr>
        <p:spPr>
          <a:xfrm>
            <a:off x="9427463" y="2395728"/>
            <a:ext cx="402336" cy="502920"/>
          </a:xfrm>
          <a:prstGeom prst="rect">
            <a:avLst/>
          </a:prstGeom>
          <a:noFill/>
        </p:spPr>
        <p:txBody>
          <a:bodyPr wrap="square">
            <a:spAutoFit/>
          </a:bodyPr>
          <a:lstStyle/>
          <a:p>
            <a:pPr algn="ctr">
              <a:spcAft>
                <a:spcPts val="600"/>
              </a:spcAft>
            </a:pPr>
            <a:r>
              <a:rPr sz="2200" b="1">
                <a:solidFill>
                  <a:srgbClr val="FFFFFF"/>
                </a:solidFill>
                <a:latin typeface="Poppins"/>
              </a:rPr>
              <a:t>→</a:t>
            </a:r>
          </a:p>
        </p:txBody>
      </p:sp>
      <p:sp>
        <p:nvSpPr>
          <p:cNvPr id="14" name="Rounded Rectangle 13"/>
          <p:cNvSpPr/>
          <p:nvPr/>
        </p:nvSpPr>
        <p:spPr>
          <a:xfrm>
            <a:off x="9765792" y="1965960"/>
            <a:ext cx="1965960" cy="1371600"/>
          </a:xfrm>
          <a:prstGeom prst="roundRect">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FFFFFF"/>
                </a:solidFill>
                <a:latin typeface="Poppins"/>
              </a:rPr>
              <a:t>PROVEN</a:t>
            </a:r>
          </a:p>
          <a:p>
            <a:pPr algn="ctr"/>
            <a:r>
              <a:rPr sz="1400">
                <a:solidFill>
                  <a:srgbClr val="FFFFFF"/>
                </a:solidFill>
                <a:latin typeface="Poppins"/>
              </a:rPr>
              <a:t>bank-to-bank loop</a:t>
            </a:r>
          </a:p>
        </p:txBody>
      </p:sp>
      <p:sp>
        <p:nvSpPr>
          <p:cNvPr id="15" name="Rounded Rectangle 14"/>
          <p:cNvSpPr/>
          <p:nvPr/>
        </p:nvSpPr>
        <p:spPr>
          <a:xfrm>
            <a:off x="3630168" y="3703320"/>
            <a:ext cx="4937760" cy="640080"/>
          </a:xfrm>
          <a:prstGeom prst="roundRect">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800" b="1">
                <a:solidFill>
                  <a:srgbClr val="FFFFFF"/>
                </a:solidFill>
                <a:latin typeface="Poppins"/>
              </a:rPr>
              <a:t>PROVEN IN CONTROLLED LIVE TEST</a:t>
            </a:r>
          </a:p>
        </p:txBody>
      </p:sp>
      <p:sp>
        <p:nvSpPr>
          <p:cNvPr id="16" name="TextBox 15"/>
          <p:cNvSpPr txBox="1"/>
          <p:nvPr/>
        </p:nvSpPr>
        <p:spPr>
          <a:xfrm>
            <a:off x="1280160" y="4572000"/>
            <a:ext cx="9601200" cy="1828800"/>
          </a:xfrm>
          <a:prstGeom prst="rect">
            <a:avLst/>
          </a:prstGeom>
          <a:noFill/>
        </p:spPr>
        <p:txBody>
          <a:bodyPr wrap="square">
            <a:spAutoFit/>
          </a:bodyPr>
          <a:lstStyle/>
          <a:p>
            <a:pPr algn="l">
              <a:spcAft>
                <a:spcPts val="900"/>
              </a:spcAft>
            </a:pPr>
            <a:r>
              <a:rPr sz="1600" b="0">
                <a:solidFill>
                  <a:srgbClr val="C9C7F9"/>
                </a:solidFill>
                <a:latin typeface="Poppins"/>
              </a:rPr>
              <a:t>•  The amount was intentionally small — and the test used the founder's own controlled, allowlisted account</a:t>
            </a:r>
          </a:p>
          <a:p>
            <a:pPr algn="l">
              <a:spcAft>
                <a:spcPts val="900"/>
              </a:spcAft>
            </a:pPr>
            <a:r>
              <a:rPr sz="1600" b="0">
                <a:solidFill>
                  <a:srgbClr val="C9C7F9"/>
                </a:solidFill>
                <a:latin typeface="Poppins"/>
              </a:rPr>
              <a:t>•  The payment moved through real production rails; the payout confirmed the underlying system works</a:t>
            </a:r>
          </a:p>
          <a:p>
            <a:pPr algn="l">
              <a:spcAft>
                <a:spcPts val="900"/>
              </a:spcAft>
            </a:pPr>
            <a:r>
              <a:rPr sz="1600" b="1">
                <a:solidFill>
                  <a:srgbClr val="E8B84B"/>
                </a:solidFill>
                <a:latin typeface="Poppins"/>
              </a:rPr>
              <a:t>•  This did NOT mean public transfers were enabled — public bank linking still awaits external approval</a:t>
            </a:r>
          </a:p>
        </p:txBody>
      </p:sp>
      <p:sp>
        <p:nvSpPr>
          <p:cNvPr id="17" name="TextBox 16"/>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C9C7F9"/>
                </a:solidFill>
                <a:latin typeface="Poppins"/>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WHAT DID NOT HAPPEN OVERNIGHT</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The Invisible Work Behind a Launch</a:t>
            </a:r>
          </a:p>
        </p:txBody>
      </p:sp>
      <p:sp>
        <p:nvSpPr>
          <p:cNvPr id="6" name="TextBox 5"/>
          <p:cNvSpPr txBox="1"/>
          <p:nvPr/>
        </p:nvSpPr>
        <p:spPr>
          <a:xfrm>
            <a:off x="822960" y="1828800"/>
            <a:ext cx="5212080" cy="3657600"/>
          </a:xfrm>
          <a:prstGeom prst="rect">
            <a:avLst/>
          </a:prstGeom>
          <a:noFill/>
        </p:spPr>
        <p:txBody>
          <a:bodyPr wrap="square">
            <a:spAutoFit/>
          </a:bodyPr>
          <a:lstStyle/>
          <a:p>
            <a:pPr algn="l">
              <a:spcAft>
                <a:spcPts val="1000"/>
              </a:spcAft>
            </a:pPr>
            <a:r>
              <a:rPr sz="1700" b="0">
                <a:solidFill>
                  <a:srgbClr val="2D2A4A"/>
                </a:solidFill>
                <a:latin typeface="Poppins"/>
              </a:rPr>
              <a:t>•  App Store reviews and resubmissions</a:t>
            </a:r>
          </a:p>
          <a:p>
            <a:pPr algn="l">
              <a:spcAft>
                <a:spcPts val="1000"/>
              </a:spcAft>
            </a:pPr>
            <a:r>
              <a:rPr sz="1700" b="0">
                <a:solidFill>
                  <a:srgbClr val="2D2A4A"/>
                </a:solidFill>
                <a:latin typeface="Poppins"/>
              </a:rPr>
              <a:t>•  Resolving a duplicate-app rejection</a:t>
            </a:r>
          </a:p>
          <a:p>
            <a:pPr algn="l">
              <a:spcAft>
                <a:spcPts val="1000"/>
              </a:spcAft>
            </a:pPr>
            <a:r>
              <a:rPr sz="1700" b="0">
                <a:solidFill>
                  <a:srgbClr val="2D2A4A"/>
                </a:solidFill>
                <a:latin typeface="Poppins"/>
              </a:rPr>
              <a:t>•  Payment-provider applications</a:t>
            </a:r>
          </a:p>
          <a:p>
            <a:pPr algn="l">
              <a:spcAft>
                <a:spcPts val="1000"/>
              </a:spcAft>
            </a:pPr>
            <a:r>
              <a:rPr sz="1700" b="0">
                <a:solidFill>
                  <a:srgbClr val="2D2A4A"/>
                </a:solidFill>
                <a:latin typeface="Poppins"/>
              </a:rPr>
              <a:t>•  Bank-connectivity approvals</a:t>
            </a:r>
          </a:p>
          <a:p>
            <a:pPr algn="l">
              <a:spcAft>
                <a:spcPts val="1000"/>
              </a:spcAft>
            </a:pPr>
            <a:r>
              <a:rPr sz="1700" b="0">
                <a:solidFill>
                  <a:srgbClr val="2D2A4A"/>
                </a:solidFill>
                <a:latin typeface="Poppins"/>
              </a:rPr>
              <a:t>•  Security reviews</a:t>
            </a:r>
          </a:p>
          <a:p>
            <a:pPr algn="l">
              <a:spcAft>
                <a:spcPts val="1000"/>
              </a:spcAft>
            </a:pPr>
            <a:r>
              <a:rPr sz="1700" b="0">
                <a:solidFill>
                  <a:srgbClr val="2D2A4A"/>
                </a:solidFill>
                <a:latin typeface="Poppins"/>
              </a:rPr>
              <a:t>•  Legal documentation</a:t>
            </a:r>
          </a:p>
        </p:txBody>
      </p:sp>
      <p:sp>
        <p:nvSpPr>
          <p:cNvPr id="7" name="TextBox 6"/>
          <p:cNvSpPr txBox="1"/>
          <p:nvPr/>
        </p:nvSpPr>
        <p:spPr>
          <a:xfrm>
            <a:off x="6217920" y="1828800"/>
            <a:ext cx="5212080" cy="3657600"/>
          </a:xfrm>
          <a:prstGeom prst="rect">
            <a:avLst/>
          </a:prstGeom>
          <a:noFill/>
        </p:spPr>
        <p:txBody>
          <a:bodyPr wrap="square">
            <a:spAutoFit/>
          </a:bodyPr>
          <a:lstStyle/>
          <a:p>
            <a:pPr algn="l">
              <a:spcAft>
                <a:spcPts val="1000"/>
              </a:spcAft>
            </a:pPr>
            <a:r>
              <a:rPr sz="1700" b="0">
                <a:solidFill>
                  <a:srgbClr val="2D2A4A"/>
                </a:solidFill>
                <a:latin typeface="Poppins"/>
              </a:rPr>
              <a:t>•  Email reliability fixes</a:t>
            </a:r>
          </a:p>
          <a:p>
            <a:pPr algn="l">
              <a:spcAft>
                <a:spcPts val="1000"/>
              </a:spcAft>
            </a:pPr>
            <a:r>
              <a:rPr sz="1700" b="0">
                <a:solidFill>
                  <a:srgbClr val="2D2A4A"/>
                </a:solidFill>
                <a:latin typeface="Poppins"/>
              </a:rPr>
              <a:t>•  OAuth and universal-link work</a:t>
            </a:r>
          </a:p>
          <a:p>
            <a:pPr algn="l">
              <a:spcAft>
                <a:spcPts val="1000"/>
              </a:spcAft>
            </a:pPr>
            <a:r>
              <a:rPr sz="1700" b="0">
                <a:solidFill>
                  <a:srgbClr val="2D2A4A"/>
                </a:solidFill>
                <a:latin typeface="Poppins"/>
              </a:rPr>
              <a:t>•  Mobile screenshot preparation</a:t>
            </a:r>
          </a:p>
          <a:p>
            <a:pPr algn="l">
              <a:spcAft>
                <a:spcPts val="1000"/>
              </a:spcAft>
            </a:pPr>
            <a:r>
              <a:rPr sz="1700" b="0">
                <a:solidFill>
                  <a:srgbClr val="2D2A4A"/>
                </a:solidFill>
                <a:latin typeface="Poppins"/>
              </a:rPr>
              <a:t>•  Version and build management</a:t>
            </a:r>
          </a:p>
          <a:p>
            <a:pPr algn="l">
              <a:spcAft>
                <a:spcPts val="1000"/>
              </a:spcAft>
            </a:pPr>
            <a:r>
              <a:rPr sz="1700" b="0">
                <a:solidFill>
                  <a:srgbClr val="2D2A4A"/>
                </a:solidFill>
                <a:latin typeface="Poppins"/>
              </a:rPr>
              <a:t>•  Android permission &amp; signing preparation</a:t>
            </a:r>
          </a:p>
          <a:p>
            <a:pPr algn="l">
              <a:spcAft>
                <a:spcPts val="1000"/>
              </a:spcAft>
            </a:pPr>
            <a:r>
              <a:rPr sz="1700" b="0">
                <a:solidFill>
                  <a:srgbClr val="2D2A4A"/>
                </a:solidFill>
                <a:latin typeface="Poppins"/>
              </a:rPr>
              <a:t>•  Waiting through third-party review queues</a:t>
            </a:r>
          </a:p>
        </p:txBody>
      </p:sp>
      <p:sp>
        <p:nvSpPr>
          <p:cNvPr id="8" name="Rounded Rectangle 7"/>
          <p:cNvSpPr/>
          <p:nvPr/>
        </p:nvSpPr>
        <p:spPr>
          <a:xfrm>
            <a:off x="822960" y="5486400"/>
            <a:ext cx="10607040" cy="96012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5641848"/>
            <a:ext cx="10058400" cy="731520"/>
          </a:xfrm>
          <a:prstGeom prst="rect">
            <a:avLst/>
          </a:prstGeom>
          <a:noFill/>
        </p:spPr>
        <p:txBody>
          <a:bodyPr wrap="square">
            <a:spAutoFit/>
          </a:bodyPr>
          <a:lstStyle/>
          <a:p>
            <a:pPr algn="l">
              <a:spcAft>
                <a:spcPts val="600"/>
              </a:spcAft>
            </a:pPr>
            <a:r>
              <a:rPr sz="1700" b="1">
                <a:solidFill>
                  <a:srgbClr val="FFFFFF"/>
                </a:solidFill>
                <a:latin typeface="Poppins"/>
              </a:rPr>
              <a:t>The public sees a launch date. The founder experiences hundreds of small decisions, failures, corrections and verification steps.</a:t>
            </a:r>
          </a:p>
        </p:txBody>
      </p:sp>
      <p:sp>
        <p:nvSpPr>
          <p:cNvPr id="10" name="TextBox 9"/>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SETBACKS AS SYSTEM FEEDBACK</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Every Failure Became a Better Control</a:t>
            </a:r>
          </a:p>
        </p:txBody>
      </p:sp>
      <p:sp>
        <p:nvSpPr>
          <p:cNvPr id="6" name="Rounded Rectangle 5"/>
          <p:cNvSpPr/>
          <p:nvPr/>
        </p:nvSpPr>
        <p:spPr>
          <a:xfrm>
            <a:off x="640080" y="1755648"/>
            <a:ext cx="3017520" cy="45720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CHALLENGE</a:t>
            </a:r>
          </a:p>
        </p:txBody>
      </p:sp>
      <p:sp>
        <p:nvSpPr>
          <p:cNvPr id="7" name="Rounded Rectangle 6"/>
          <p:cNvSpPr/>
          <p:nvPr/>
        </p:nvSpPr>
        <p:spPr>
          <a:xfrm>
            <a:off x="3794760" y="1755648"/>
            <a:ext cx="3977639" cy="45720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RESPONSE</a:t>
            </a:r>
          </a:p>
        </p:txBody>
      </p:sp>
      <p:sp>
        <p:nvSpPr>
          <p:cNvPr id="8" name="Rounded Rectangle 7"/>
          <p:cNvSpPr/>
          <p:nvPr/>
        </p:nvSpPr>
        <p:spPr>
          <a:xfrm>
            <a:off x="7909560" y="1755648"/>
            <a:ext cx="3657600" cy="45720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LESSON</a:t>
            </a:r>
          </a:p>
        </p:txBody>
      </p:sp>
      <p:sp>
        <p:nvSpPr>
          <p:cNvPr id="9" name="Rectangle 8"/>
          <p:cNvSpPr/>
          <p:nvPr/>
        </p:nvSpPr>
        <p:spPr>
          <a:xfrm>
            <a:off x="548640" y="2304288"/>
            <a:ext cx="11155680" cy="786384"/>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2340864"/>
            <a:ext cx="2880360" cy="777240"/>
          </a:xfrm>
          <a:prstGeom prst="rect">
            <a:avLst/>
          </a:prstGeom>
          <a:noFill/>
        </p:spPr>
        <p:txBody>
          <a:bodyPr wrap="square">
            <a:spAutoFit/>
          </a:bodyPr>
          <a:lstStyle/>
          <a:p>
            <a:pPr algn="l">
              <a:spcAft>
                <a:spcPts val="0"/>
              </a:spcAft>
            </a:pPr>
            <a:r>
              <a:rPr sz="1400" b="1">
                <a:solidFill>
                  <a:srgbClr val="2D2A4A"/>
                </a:solidFill>
                <a:latin typeface="Poppins"/>
              </a:rPr>
              <a:t>App Store duplicate-app rejection</a:t>
            </a:r>
          </a:p>
        </p:txBody>
      </p:sp>
      <p:sp>
        <p:nvSpPr>
          <p:cNvPr id="11" name="TextBox 10"/>
          <p:cNvSpPr txBox="1"/>
          <p:nvPr/>
        </p:nvSpPr>
        <p:spPr>
          <a:xfrm>
            <a:off x="3886200" y="2340864"/>
            <a:ext cx="3840479" cy="777240"/>
          </a:xfrm>
          <a:prstGeom prst="rect">
            <a:avLst/>
          </a:prstGeom>
          <a:noFill/>
        </p:spPr>
        <p:txBody>
          <a:bodyPr wrap="square">
            <a:spAutoFit/>
          </a:bodyPr>
          <a:lstStyle/>
          <a:p>
            <a:pPr algn="l">
              <a:spcAft>
                <a:spcPts val="0"/>
              </a:spcAft>
            </a:pPr>
            <a:r>
              <a:rPr sz="1400" b="0">
                <a:solidFill>
                  <a:srgbClr val="2D2A4A"/>
                </a:solidFill>
                <a:latin typeface="Poppins"/>
              </a:rPr>
              <a:t>Removed the obsolete record and clarified the production app</a:t>
            </a:r>
          </a:p>
        </p:txBody>
      </p:sp>
      <p:sp>
        <p:nvSpPr>
          <p:cNvPr id="12" name="TextBox 11"/>
          <p:cNvSpPr txBox="1"/>
          <p:nvPr/>
        </p:nvSpPr>
        <p:spPr>
          <a:xfrm>
            <a:off x="8001000" y="2340864"/>
            <a:ext cx="3520440" cy="777240"/>
          </a:xfrm>
          <a:prstGeom prst="rect">
            <a:avLst/>
          </a:prstGeom>
          <a:noFill/>
        </p:spPr>
        <p:txBody>
          <a:bodyPr wrap="square">
            <a:spAutoFit/>
          </a:bodyPr>
          <a:lstStyle/>
          <a:p>
            <a:pPr algn="l">
              <a:spcAft>
                <a:spcPts val="0"/>
              </a:spcAft>
            </a:pPr>
            <a:r>
              <a:rPr sz="1400" b="1">
                <a:solidFill>
                  <a:srgbClr val="4A468F"/>
                </a:solidFill>
                <a:latin typeface="Poppins"/>
              </a:rPr>
              <a:t>Compliance problems require evidence and precise communication</a:t>
            </a:r>
          </a:p>
        </p:txBody>
      </p:sp>
      <p:sp>
        <p:nvSpPr>
          <p:cNvPr id="13" name="TextBox 12"/>
          <p:cNvSpPr txBox="1"/>
          <p:nvPr/>
        </p:nvSpPr>
        <p:spPr>
          <a:xfrm>
            <a:off x="731519" y="3127248"/>
            <a:ext cx="2880360" cy="777240"/>
          </a:xfrm>
          <a:prstGeom prst="rect">
            <a:avLst/>
          </a:prstGeom>
          <a:noFill/>
        </p:spPr>
        <p:txBody>
          <a:bodyPr wrap="square">
            <a:spAutoFit/>
          </a:bodyPr>
          <a:lstStyle/>
          <a:p>
            <a:pPr algn="l">
              <a:spcAft>
                <a:spcPts val="0"/>
              </a:spcAft>
            </a:pPr>
            <a:r>
              <a:rPr sz="1400" b="1">
                <a:solidFill>
                  <a:srgbClr val="2D2A4A"/>
                </a:solidFill>
                <a:latin typeface="Poppins"/>
              </a:rPr>
              <a:t>Production email failures</a:t>
            </a:r>
          </a:p>
        </p:txBody>
      </p:sp>
      <p:sp>
        <p:nvSpPr>
          <p:cNvPr id="14" name="TextBox 13"/>
          <p:cNvSpPr txBox="1"/>
          <p:nvPr/>
        </p:nvSpPr>
        <p:spPr>
          <a:xfrm>
            <a:off x="3886200" y="3127248"/>
            <a:ext cx="3840479" cy="777240"/>
          </a:xfrm>
          <a:prstGeom prst="rect">
            <a:avLst/>
          </a:prstGeom>
          <a:noFill/>
        </p:spPr>
        <p:txBody>
          <a:bodyPr wrap="square">
            <a:spAutoFit/>
          </a:bodyPr>
          <a:lstStyle/>
          <a:p>
            <a:pPr algn="l">
              <a:spcAft>
                <a:spcPts val="0"/>
              </a:spcAft>
            </a:pPr>
            <a:r>
              <a:rPr sz="1400" b="0">
                <a:solidFill>
                  <a:srgbClr val="2D2A4A"/>
                </a:solidFill>
                <a:latin typeface="Poppins"/>
              </a:rPr>
              <a:t>Diagnosed delivery paths, corrected notifications, added tests</a:t>
            </a:r>
          </a:p>
        </p:txBody>
      </p:sp>
      <p:sp>
        <p:nvSpPr>
          <p:cNvPr id="15" name="TextBox 14"/>
          <p:cNvSpPr txBox="1"/>
          <p:nvPr/>
        </p:nvSpPr>
        <p:spPr>
          <a:xfrm>
            <a:off x="8001000" y="3127248"/>
            <a:ext cx="3520440" cy="777240"/>
          </a:xfrm>
          <a:prstGeom prst="rect">
            <a:avLst/>
          </a:prstGeom>
          <a:noFill/>
        </p:spPr>
        <p:txBody>
          <a:bodyPr wrap="square">
            <a:spAutoFit/>
          </a:bodyPr>
          <a:lstStyle/>
          <a:p>
            <a:pPr algn="l">
              <a:spcAft>
                <a:spcPts val="0"/>
              </a:spcAft>
            </a:pPr>
            <a:r>
              <a:rPr sz="1400" b="1">
                <a:solidFill>
                  <a:srgbClr val="4A468F"/>
                </a:solidFill>
                <a:latin typeface="Poppins"/>
              </a:rPr>
              <a:t>A feature is not working merely because the interface says it is</a:t>
            </a:r>
          </a:p>
        </p:txBody>
      </p:sp>
      <p:sp>
        <p:nvSpPr>
          <p:cNvPr id="16" name="Rectangle 15"/>
          <p:cNvSpPr/>
          <p:nvPr/>
        </p:nvSpPr>
        <p:spPr>
          <a:xfrm>
            <a:off x="548640" y="3877056"/>
            <a:ext cx="11155680" cy="786384"/>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19" y="3913632"/>
            <a:ext cx="2880360" cy="777240"/>
          </a:xfrm>
          <a:prstGeom prst="rect">
            <a:avLst/>
          </a:prstGeom>
          <a:noFill/>
        </p:spPr>
        <p:txBody>
          <a:bodyPr wrap="square">
            <a:spAutoFit/>
          </a:bodyPr>
          <a:lstStyle/>
          <a:p>
            <a:pPr algn="l">
              <a:spcAft>
                <a:spcPts val="0"/>
              </a:spcAft>
            </a:pPr>
            <a:r>
              <a:rPr sz="1400" b="1">
                <a:solidFill>
                  <a:srgbClr val="2D2A4A"/>
                </a:solidFill>
                <a:latin typeface="Poppins"/>
              </a:rPr>
              <a:t>Real-money risk</a:t>
            </a:r>
          </a:p>
        </p:txBody>
      </p:sp>
      <p:sp>
        <p:nvSpPr>
          <p:cNvPr id="18" name="TextBox 17"/>
          <p:cNvSpPr txBox="1"/>
          <p:nvPr/>
        </p:nvSpPr>
        <p:spPr>
          <a:xfrm>
            <a:off x="3886200" y="3913632"/>
            <a:ext cx="3840479" cy="777240"/>
          </a:xfrm>
          <a:prstGeom prst="rect">
            <a:avLst/>
          </a:prstGeom>
          <a:noFill/>
        </p:spPr>
        <p:txBody>
          <a:bodyPr wrap="square">
            <a:spAutoFit/>
          </a:bodyPr>
          <a:lstStyle/>
          <a:p>
            <a:pPr algn="l">
              <a:spcAft>
                <a:spcPts val="0"/>
              </a:spcAft>
            </a:pPr>
            <a:r>
              <a:rPr sz="1400" b="0">
                <a:solidFill>
                  <a:srgbClr val="2D2A4A"/>
                </a:solidFill>
                <a:latin typeface="Poppins"/>
              </a:rPr>
              <a:t>Added feature switches, allowlisting, limits and audit controls</a:t>
            </a:r>
          </a:p>
        </p:txBody>
      </p:sp>
      <p:sp>
        <p:nvSpPr>
          <p:cNvPr id="19" name="TextBox 18"/>
          <p:cNvSpPr txBox="1"/>
          <p:nvPr/>
        </p:nvSpPr>
        <p:spPr>
          <a:xfrm>
            <a:off x="8001000" y="3913632"/>
            <a:ext cx="3520440" cy="777240"/>
          </a:xfrm>
          <a:prstGeom prst="rect">
            <a:avLst/>
          </a:prstGeom>
          <a:noFill/>
        </p:spPr>
        <p:txBody>
          <a:bodyPr wrap="square">
            <a:spAutoFit/>
          </a:bodyPr>
          <a:lstStyle/>
          <a:p>
            <a:pPr algn="l">
              <a:spcAft>
                <a:spcPts val="0"/>
              </a:spcAft>
            </a:pPr>
            <a:r>
              <a:rPr sz="1400" b="1">
                <a:solidFill>
                  <a:srgbClr val="4A468F"/>
                </a:solidFill>
                <a:latin typeface="Poppins"/>
              </a:rPr>
              <a:t>Safety must be designed before activation</a:t>
            </a:r>
          </a:p>
        </p:txBody>
      </p:sp>
      <p:sp>
        <p:nvSpPr>
          <p:cNvPr id="20" name="TextBox 19"/>
          <p:cNvSpPr txBox="1"/>
          <p:nvPr/>
        </p:nvSpPr>
        <p:spPr>
          <a:xfrm>
            <a:off x="731519" y="4700016"/>
            <a:ext cx="2880360" cy="777240"/>
          </a:xfrm>
          <a:prstGeom prst="rect">
            <a:avLst/>
          </a:prstGeom>
          <a:noFill/>
        </p:spPr>
        <p:txBody>
          <a:bodyPr wrap="square">
            <a:spAutoFit/>
          </a:bodyPr>
          <a:lstStyle/>
          <a:p>
            <a:pPr algn="l">
              <a:spcAft>
                <a:spcPts val="0"/>
              </a:spcAft>
            </a:pPr>
            <a:r>
              <a:rPr sz="1400" b="1">
                <a:solidFill>
                  <a:srgbClr val="2D2A4A"/>
                </a:solidFill>
                <a:latin typeface="Poppins"/>
              </a:rPr>
              <a:t>OAuth return-flow issues</a:t>
            </a:r>
          </a:p>
        </p:txBody>
      </p:sp>
      <p:sp>
        <p:nvSpPr>
          <p:cNvPr id="21" name="TextBox 20"/>
          <p:cNvSpPr txBox="1"/>
          <p:nvPr/>
        </p:nvSpPr>
        <p:spPr>
          <a:xfrm>
            <a:off x="3886200" y="4700016"/>
            <a:ext cx="3840479" cy="777240"/>
          </a:xfrm>
          <a:prstGeom prst="rect">
            <a:avLst/>
          </a:prstGeom>
          <a:noFill/>
        </p:spPr>
        <p:txBody>
          <a:bodyPr wrap="square">
            <a:spAutoFit/>
          </a:bodyPr>
          <a:lstStyle/>
          <a:p>
            <a:pPr algn="l">
              <a:spcAft>
                <a:spcPts val="0"/>
              </a:spcAft>
            </a:pPr>
            <a:r>
              <a:rPr sz="1400" b="0">
                <a:solidFill>
                  <a:srgbClr val="2D2A4A"/>
                </a:solidFill>
                <a:latin typeface="Poppins"/>
              </a:rPr>
              <a:t>Added universal-link and resume handling</a:t>
            </a:r>
          </a:p>
        </p:txBody>
      </p:sp>
      <p:sp>
        <p:nvSpPr>
          <p:cNvPr id="22" name="TextBox 21"/>
          <p:cNvSpPr txBox="1"/>
          <p:nvPr/>
        </p:nvSpPr>
        <p:spPr>
          <a:xfrm>
            <a:off x="8001000" y="4700016"/>
            <a:ext cx="3520440" cy="777240"/>
          </a:xfrm>
          <a:prstGeom prst="rect">
            <a:avLst/>
          </a:prstGeom>
          <a:noFill/>
        </p:spPr>
        <p:txBody>
          <a:bodyPr wrap="square">
            <a:spAutoFit/>
          </a:bodyPr>
          <a:lstStyle/>
          <a:p>
            <a:pPr algn="l">
              <a:spcAft>
                <a:spcPts val="0"/>
              </a:spcAft>
            </a:pPr>
            <a:r>
              <a:rPr sz="1400" b="1">
                <a:solidFill>
                  <a:srgbClr val="4A468F"/>
                </a:solidFill>
                <a:latin typeface="Poppins"/>
              </a:rPr>
              <a:t>The complete user journey matters, not only the API call</a:t>
            </a:r>
          </a:p>
        </p:txBody>
      </p:sp>
      <p:sp>
        <p:nvSpPr>
          <p:cNvPr id="23" name="Rectangle 22"/>
          <p:cNvSpPr/>
          <p:nvPr/>
        </p:nvSpPr>
        <p:spPr>
          <a:xfrm>
            <a:off x="548640" y="5449824"/>
            <a:ext cx="11155680" cy="786384"/>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19" y="5486400"/>
            <a:ext cx="2880360" cy="777240"/>
          </a:xfrm>
          <a:prstGeom prst="rect">
            <a:avLst/>
          </a:prstGeom>
          <a:noFill/>
        </p:spPr>
        <p:txBody>
          <a:bodyPr wrap="square">
            <a:spAutoFit/>
          </a:bodyPr>
          <a:lstStyle/>
          <a:p>
            <a:pPr algn="l">
              <a:spcAft>
                <a:spcPts val="0"/>
              </a:spcAft>
            </a:pPr>
            <a:r>
              <a:rPr sz="1400" b="1">
                <a:solidFill>
                  <a:srgbClr val="2D2A4A"/>
                </a:solidFill>
                <a:latin typeface="Poppins"/>
              </a:rPr>
              <a:t>Android permission risk</a:t>
            </a:r>
          </a:p>
        </p:txBody>
      </p:sp>
      <p:sp>
        <p:nvSpPr>
          <p:cNvPr id="25" name="TextBox 24"/>
          <p:cNvSpPr txBox="1"/>
          <p:nvPr/>
        </p:nvSpPr>
        <p:spPr>
          <a:xfrm>
            <a:off x="3886200" y="5486400"/>
            <a:ext cx="3840479" cy="777240"/>
          </a:xfrm>
          <a:prstGeom prst="rect">
            <a:avLst/>
          </a:prstGeom>
          <a:noFill/>
        </p:spPr>
        <p:txBody>
          <a:bodyPr wrap="square">
            <a:spAutoFit/>
          </a:bodyPr>
          <a:lstStyle/>
          <a:p>
            <a:pPr algn="l">
              <a:spcAft>
                <a:spcPts val="0"/>
              </a:spcAft>
            </a:pPr>
            <a:r>
              <a:rPr sz="1400" b="0">
                <a:solidFill>
                  <a:srgbClr val="2D2A4A"/>
                </a:solidFill>
                <a:latin typeface="Poppins"/>
              </a:rPr>
              <a:t>Removed permissions the product did not need</a:t>
            </a:r>
          </a:p>
        </p:txBody>
      </p:sp>
      <p:sp>
        <p:nvSpPr>
          <p:cNvPr id="26" name="TextBox 25"/>
          <p:cNvSpPr txBox="1"/>
          <p:nvPr/>
        </p:nvSpPr>
        <p:spPr>
          <a:xfrm>
            <a:off x="8001000" y="5486400"/>
            <a:ext cx="3520440" cy="777240"/>
          </a:xfrm>
          <a:prstGeom prst="rect">
            <a:avLst/>
          </a:prstGeom>
          <a:noFill/>
        </p:spPr>
        <p:txBody>
          <a:bodyPr wrap="square">
            <a:spAutoFit/>
          </a:bodyPr>
          <a:lstStyle/>
          <a:p>
            <a:pPr algn="l">
              <a:spcAft>
                <a:spcPts val="0"/>
              </a:spcAft>
            </a:pPr>
            <a:r>
              <a:rPr sz="1400" b="1">
                <a:solidFill>
                  <a:srgbClr val="4A468F"/>
                </a:solidFill>
                <a:latin typeface="Poppins"/>
              </a:rPr>
              <a:t>Minimize access and justify every permission</a:t>
            </a:r>
          </a:p>
        </p:txBody>
      </p:sp>
      <p:sp>
        <p:nvSpPr>
          <p:cNvPr id="27" name="TextBox 26"/>
          <p:cNvSpPr txBox="1"/>
          <p:nvPr/>
        </p:nvSpPr>
        <p:spPr>
          <a:xfrm>
            <a:off x="640080" y="6355080"/>
            <a:ext cx="10789920" cy="365760"/>
          </a:xfrm>
          <a:prstGeom prst="rect">
            <a:avLst/>
          </a:prstGeom>
          <a:noFill/>
        </p:spPr>
        <p:txBody>
          <a:bodyPr wrap="square">
            <a:spAutoFit/>
          </a:bodyPr>
          <a:lstStyle/>
          <a:p>
            <a:pPr algn="l">
              <a:spcAft>
                <a:spcPts val="600"/>
              </a:spcAft>
            </a:pPr>
            <a:r>
              <a:rPr sz="1400" b="0">
                <a:solidFill>
                  <a:srgbClr val="4A468F"/>
                </a:solidFill>
                <a:latin typeface="Poppins"/>
              </a:rPr>
              <a:t>Presented as learning and responsible iteration — not blame.</a:t>
            </a:r>
          </a:p>
        </p:txBody>
      </p:sp>
      <p:sp>
        <p:nvSpPr>
          <p:cNvPr id="28" name="TextBox 27"/>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WHAT AI DID AND DID NOT DO</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AI as a Force Multiplier, Not an Autopilot</a:t>
            </a:r>
          </a:p>
        </p:txBody>
      </p:sp>
      <p:sp>
        <p:nvSpPr>
          <p:cNvPr id="6" name="Rounded Rectangle 5"/>
          <p:cNvSpPr/>
          <p:nvPr/>
        </p:nvSpPr>
        <p:spPr>
          <a:xfrm>
            <a:off x="822960" y="1783080"/>
            <a:ext cx="5212080" cy="3703320"/>
          </a:xfrm>
          <a:prstGeom prst="roundRect">
            <a:avLst/>
          </a:prstGeom>
          <a:solidFill>
            <a:srgbClr val="FFFFFF"/>
          </a:solidFill>
          <a:ln w="25400">
            <a:solidFill>
              <a:srgbClr val="918E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965960"/>
            <a:ext cx="4572000" cy="3383280"/>
          </a:xfrm>
          <a:prstGeom prst="rect">
            <a:avLst/>
          </a:prstGeom>
          <a:noFill/>
        </p:spPr>
        <p:txBody>
          <a:bodyPr wrap="square">
            <a:spAutoFit/>
          </a:bodyPr>
          <a:lstStyle/>
          <a:p>
            <a:pPr algn="l">
              <a:spcAft>
                <a:spcPts val="800"/>
              </a:spcAft>
            </a:pPr>
            <a:r>
              <a:rPr sz="1500" b="1">
                <a:solidFill>
                  <a:srgbClr val="4A468F"/>
                </a:solidFill>
                <a:latin typeface="Poppins"/>
              </a:rPr>
              <a:t>WHAT AI HELPED WITH</a:t>
            </a:r>
          </a:p>
          <a:p>
            <a:pPr algn="l">
              <a:spcAft>
                <a:spcPts val="500"/>
              </a:spcAft>
            </a:pPr>
            <a:r>
              <a:rPr sz="1550" b="0">
                <a:solidFill>
                  <a:srgbClr val="2D2A4A"/>
                </a:solidFill>
                <a:latin typeface="Poppins"/>
              </a:rPr>
              <a:t>•  Explaining technical concepts</a:t>
            </a:r>
          </a:p>
          <a:p>
            <a:pPr algn="l">
              <a:spcAft>
                <a:spcPts val="500"/>
              </a:spcAft>
            </a:pPr>
            <a:r>
              <a:rPr sz="1550" b="0">
                <a:solidFill>
                  <a:srgbClr val="2D2A4A"/>
                </a:solidFill>
                <a:latin typeface="Poppins"/>
              </a:rPr>
              <a:t>•  Drafting implementation plans</a:t>
            </a:r>
          </a:p>
          <a:p>
            <a:pPr algn="l">
              <a:spcAft>
                <a:spcPts val="500"/>
              </a:spcAft>
            </a:pPr>
            <a:r>
              <a:rPr sz="1550" b="0">
                <a:solidFill>
                  <a:srgbClr val="2D2A4A"/>
                </a:solidFill>
                <a:latin typeface="Poppins"/>
              </a:rPr>
              <a:t>•  Reviewing code and configuration</a:t>
            </a:r>
          </a:p>
          <a:p>
            <a:pPr algn="l">
              <a:spcAft>
                <a:spcPts val="500"/>
              </a:spcAft>
            </a:pPr>
            <a:r>
              <a:rPr sz="1550" b="0">
                <a:solidFill>
                  <a:srgbClr val="2D2A4A"/>
                </a:solidFill>
                <a:latin typeface="Poppins"/>
              </a:rPr>
              <a:t>•  Generating tests</a:t>
            </a:r>
          </a:p>
          <a:p>
            <a:pPr algn="l">
              <a:spcAft>
                <a:spcPts val="500"/>
              </a:spcAft>
            </a:pPr>
            <a:r>
              <a:rPr sz="1550" b="0">
                <a:solidFill>
                  <a:srgbClr val="2D2A4A"/>
                </a:solidFill>
                <a:latin typeface="Poppins"/>
              </a:rPr>
              <a:t>•  Diagnosing failures</a:t>
            </a:r>
          </a:p>
          <a:p>
            <a:pPr algn="l">
              <a:spcAft>
                <a:spcPts val="500"/>
              </a:spcAft>
            </a:pPr>
            <a:r>
              <a:rPr sz="1550" b="0">
                <a:solidFill>
                  <a:srgbClr val="2D2A4A"/>
                </a:solidFill>
                <a:latin typeface="Poppins"/>
              </a:rPr>
              <a:t>•  Preparing documentation</a:t>
            </a:r>
          </a:p>
          <a:p>
            <a:pPr algn="l">
              <a:spcAft>
                <a:spcPts val="500"/>
              </a:spcAft>
            </a:pPr>
            <a:r>
              <a:rPr sz="1550" b="0">
                <a:solidFill>
                  <a:srgbClr val="2D2A4A"/>
                </a:solidFill>
                <a:latin typeface="Poppins"/>
              </a:rPr>
              <a:t>•  Structuring compliance checklists</a:t>
            </a:r>
          </a:p>
          <a:p>
            <a:pPr algn="l">
              <a:spcAft>
                <a:spcPts val="500"/>
              </a:spcAft>
            </a:pPr>
            <a:r>
              <a:rPr sz="1550" b="0">
                <a:solidFill>
                  <a:srgbClr val="2D2A4A"/>
                </a:solidFill>
                <a:latin typeface="Poppins"/>
              </a:rPr>
              <a:t>•  Accelerating iteration</a:t>
            </a:r>
          </a:p>
        </p:txBody>
      </p:sp>
      <p:sp>
        <p:nvSpPr>
          <p:cNvPr id="8" name="Rounded Rectangle 7"/>
          <p:cNvSpPr/>
          <p:nvPr/>
        </p:nvSpPr>
        <p:spPr>
          <a:xfrm>
            <a:off x="6309360" y="1783080"/>
            <a:ext cx="5212080" cy="370332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965960"/>
            <a:ext cx="4572000" cy="3383280"/>
          </a:xfrm>
          <a:prstGeom prst="rect">
            <a:avLst/>
          </a:prstGeom>
          <a:noFill/>
        </p:spPr>
        <p:txBody>
          <a:bodyPr wrap="square">
            <a:spAutoFit/>
          </a:bodyPr>
          <a:lstStyle/>
          <a:p>
            <a:pPr algn="l">
              <a:spcAft>
                <a:spcPts val="800"/>
              </a:spcAft>
            </a:pPr>
            <a:r>
              <a:rPr sz="1500" b="1">
                <a:solidFill>
                  <a:srgbClr val="E8B84B"/>
                </a:solidFill>
                <a:latin typeface="Poppins"/>
              </a:rPr>
              <a:t>WHAT STILL REQUIRED THE FOUNDER</a:t>
            </a:r>
          </a:p>
          <a:p>
            <a:pPr algn="l">
              <a:spcAft>
                <a:spcPts val="400"/>
              </a:spcAft>
            </a:pPr>
            <a:r>
              <a:rPr sz="1550" b="0">
                <a:solidFill>
                  <a:srgbClr val="FFFFFF"/>
                </a:solidFill>
                <a:latin typeface="Poppins"/>
              </a:rPr>
              <a:t>•  Choosing the problem</a:t>
            </a:r>
          </a:p>
          <a:p>
            <a:pPr algn="l">
              <a:spcAft>
                <a:spcPts val="400"/>
              </a:spcAft>
            </a:pPr>
            <a:r>
              <a:rPr sz="1550" b="0">
                <a:solidFill>
                  <a:srgbClr val="FFFFFF"/>
                </a:solidFill>
                <a:latin typeface="Poppins"/>
              </a:rPr>
              <a:t>•  Defining the product</a:t>
            </a:r>
          </a:p>
          <a:p>
            <a:pPr algn="l">
              <a:spcAft>
                <a:spcPts val="400"/>
              </a:spcAft>
            </a:pPr>
            <a:r>
              <a:rPr sz="1550" b="0">
                <a:solidFill>
                  <a:srgbClr val="FFFFFF"/>
                </a:solidFill>
                <a:latin typeface="Poppins"/>
              </a:rPr>
              <a:t>•  Making risk decisions</a:t>
            </a:r>
          </a:p>
          <a:p>
            <a:pPr algn="l">
              <a:spcAft>
                <a:spcPts val="400"/>
              </a:spcAft>
            </a:pPr>
            <a:r>
              <a:rPr sz="1550" b="0">
                <a:solidFill>
                  <a:srgbClr val="FFFFFF"/>
                </a:solidFill>
                <a:latin typeface="Poppins"/>
              </a:rPr>
              <a:t>•  Opening provider accounts</a:t>
            </a:r>
          </a:p>
          <a:p>
            <a:pPr algn="l">
              <a:spcAft>
                <a:spcPts val="400"/>
              </a:spcAft>
            </a:pPr>
            <a:r>
              <a:rPr sz="1550" b="0">
                <a:solidFill>
                  <a:srgbClr val="FFFFFF"/>
                </a:solidFill>
                <a:latin typeface="Poppins"/>
              </a:rPr>
              <a:t>•  Identity and business verification</a:t>
            </a:r>
          </a:p>
          <a:p>
            <a:pPr algn="l">
              <a:spcAft>
                <a:spcPts val="400"/>
              </a:spcAft>
            </a:pPr>
            <a:r>
              <a:rPr sz="1550" b="0">
                <a:solidFill>
                  <a:srgbClr val="FFFFFF"/>
                </a:solidFill>
                <a:latin typeface="Poppins"/>
              </a:rPr>
              <a:t>•  Reviewing financial behavior</a:t>
            </a:r>
          </a:p>
          <a:p>
            <a:pPr algn="l">
              <a:spcAft>
                <a:spcPts val="400"/>
              </a:spcAft>
            </a:pPr>
            <a:r>
              <a:rPr sz="1550" b="0">
                <a:solidFill>
                  <a:srgbClr val="FFFFFF"/>
                </a:solidFill>
                <a:latin typeface="Poppins"/>
              </a:rPr>
              <a:t>•  Running controlled live tests</a:t>
            </a:r>
          </a:p>
          <a:p>
            <a:pPr algn="l">
              <a:spcAft>
                <a:spcPts val="400"/>
              </a:spcAft>
            </a:pPr>
            <a:r>
              <a:rPr sz="1550" b="0">
                <a:solidFill>
                  <a:srgbClr val="FFFFFF"/>
                </a:solidFill>
                <a:latin typeface="Poppins"/>
              </a:rPr>
              <a:t>•  Deciding when NOT to launch</a:t>
            </a:r>
          </a:p>
          <a:p>
            <a:pPr algn="l">
              <a:spcAft>
                <a:spcPts val="400"/>
              </a:spcAft>
            </a:pPr>
            <a:r>
              <a:rPr sz="1550" b="0">
                <a:solidFill>
                  <a:srgbClr val="FFFFFF"/>
                </a:solidFill>
                <a:latin typeface="Poppins"/>
              </a:rPr>
              <a:t>•  Accepting responsibility for the outcome</a:t>
            </a:r>
          </a:p>
        </p:txBody>
      </p:sp>
      <p:sp>
        <p:nvSpPr>
          <p:cNvPr id="10" name="Rounded Rectangle 9"/>
          <p:cNvSpPr/>
          <p:nvPr/>
        </p:nvSpPr>
        <p:spPr>
          <a:xfrm>
            <a:off x="822960" y="5715000"/>
            <a:ext cx="10607040" cy="82296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852160"/>
            <a:ext cx="10058400" cy="594360"/>
          </a:xfrm>
          <a:prstGeom prst="rect">
            <a:avLst/>
          </a:prstGeom>
          <a:noFill/>
        </p:spPr>
        <p:txBody>
          <a:bodyPr wrap="square">
            <a:spAutoFit/>
          </a:bodyPr>
          <a:lstStyle/>
          <a:p>
            <a:pPr algn="l">
              <a:spcAft>
                <a:spcPts val="600"/>
              </a:spcAft>
            </a:pPr>
            <a:r>
              <a:rPr sz="1600" b="1">
                <a:solidFill>
                  <a:srgbClr val="FFFFFF"/>
                </a:solidFill>
                <a:latin typeface="Poppins"/>
              </a:rPr>
              <a:t>The advantage is not access to AI — it is the ability to direct it, question it, verify it and combine it with real-world judgment.</a:t>
            </a:r>
          </a:p>
        </p:txBody>
      </p:sp>
      <p:sp>
        <p:nvSpPr>
          <p:cNvPr id="12" name="TextBox 11"/>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D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C9C7F9"/>
                </a:solidFill>
                <a:latin typeface="Poppins"/>
              </a:rPr>
              <a:t>LESSONS FOR STUDENTS</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FFFFFF"/>
                </a:solidFill>
                <a:latin typeface="Poppins"/>
              </a:rPr>
              <a:t>What I Wish More Students Knew</a:t>
            </a:r>
          </a:p>
        </p:txBody>
      </p:sp>
      <p:sp>
        <p:nvSpPr>
          <p:cNvPr id="6" name="TextBox 5"/>
          <p:cNvSpPr txBox="1"/>
          <p:nvPr/>
        </p:nvSpPr>
        <p:spPr>
          <a:xfrm>
            <a:off x="822960" y="1783080"/>
            <a:ext cx="5303520" cy="3840480"/>
          </a:xfrm>
          <a:prstGeom prst="rect">
            <a:avLst/>
          </a:prstGeom>
          <a:noFill/>
        </p:spPr>
        <p:txBody>
          <a:bodyPr wrap="square">
            <a:spAutoFit/>
          </a:bodyPr>
          <a:lstStyle/>
          <a:p>
            <a:pPr algn="l">
              <a:spcAft>
                <a:spcPts val="1400"/>
              </a:spcAft>
            </a:pPr>
            <a:r>
              <a:rPr sz="1700" b="0">
                <a:solidFill>
                  <a:srgbClr val="FFFFFF"/>
                </a:solidFill>
                <a:latin typeface="Poppins"/>
              </a:rPr>
              <a:t>1.  You do not need permission to begin learning.</a:t>
            </a:r>
          </a:p>
          <a:p>
            <a:pPr algn="l">
              <a:spcAft>
                <a:spcPts val="1400"/>
              </a:spcAft>
            </a:pPr>
            <a:r>
              <a:rPr sz="1700" b="0">
                <a:solidFill>
                  <a:srgbClr val="C9C7F9"/>
                </a:solidFill>
                <a:latin typeface="Poppins"/>
              </a:rPr>
              <a:t>2.  Your previous career may contain your founder advantage.</a:t>
            </a:r>
          </a:p>
          <a:p>
            <a:pPr algn="l">
              <a:spcAft>
                <a:spcPts val="1400"/>
              </a:spcAft>
            </a:pPr>
            <a:r>
              <a:rPr sz="1700" b="0">
                <a:solidFill>
                  <a:srgbClr val="FFFFFF"/>
                </a:solidFill>
                <a:latin typeface="Poppins"/>
              </a:rPr>
              <a:t>3.  A prototype starts a conversation; a production system earns trust.</a:t>
            </a:r>
          </a:p>
          <a:p>
            <a:pPr algn="l">
              <a:spcAft>
                <a:spcPts val="1400"/>
              </a:spcAft>
            </a:pPr>
            <a:r>
              <a:rPr sz="1700" b="0">
                <a:solidFill>
                  <a:srgbClr val="C9C7F9"/>
                </a:solidFill>
                <a:latin typeface="Poppins"/>
              </a:rPr>
              <a:t>4.  Learn enough technology to ask better questions.</a:t>
            </a:r>
          </a:p>
          <a:p>
            <a:pPr algn="l">
              <a:spcAft>
                <a:spcPts val="1400"/>
              </a:spcAft>
            </a:pPr>
            <a:r>
              <a:rPr sz="1700" b="0">
                <a:solidFill>
                  <a:srgbClr val="FFFFFF"/>
                </a:solidFill>
                <a:latin typeface="Poppins"/>
              </a:rPr>
              <a:t>5.  Evidence is stronger than confidence.</a:t>
            </a:r>
          </a:p>
        </p:txBody>
      </p:sp>
      <p:sp>
        <p:nvSpPr>
          <p:cNvPr id="7" name="TextBox 6"/>
          <p:cNvSpPr txBox="1"/>
          <p:nvPr/>
        </p:nvSpPr>
        <p:spPr>
          <a:xfrm>
            <a:off x="6309360" y="1783080"/>
            <a:ext cx="5303520" cy="3840480"/>
          </a:xfrm>
          <a:prstGeom prst="rect">
            <a:avLst/>
          </a:prstGeom>
          <a:noFill/>
        </p:spPr>
        <p:txBody>
          <a:bodyPr wrap="square">
            <a:spAutoFit/>
          </a:bodyPr>
          <a:lstStyle/>
          <a:p>
            <a:pPr algn="l">
              <a:spcAft>
                <a:spcPts val="1400"/>
              </a:spcAft>
            </a:pPr>
            <a:r>
              <a:rPr sz="1700" b="0">
                <a:solidFill>
                  <a:srgbClr val="C9C7F9"/>
                </a:solidFill>
                <a:latin typeface="Poppins"/>
              </a:rPr>
              <a:t>6.  Compliance is part of product design.</a:t>
            </a:r>
          </a:p>
          <a:p>
            <a:pPr algn="l">
              <a:spcAft>
                <a:spcPts val="1400"/>
              </a:spcAft>
            </a:pPr>
            <a:r>
              <a:rPr sz="1700" b="0">
                <a:solidFill>
                  <a:srgbClr val="FFFFFF"/>
                </a:solidFill>
                <a:latin typeface="Poppins"/>
              </a:rPr>
              <a:t>7.  Small controlled tests beat large uncontrolled bets.</a:t>
            </a:r>
          </a:p>
          <a:p>
            <a:pPr algn="l">
              <a:spcAft>
                <a:spcPts val="1400"/>
              </a:spcAft>
            </a:pPr>
            <a:r>
              <a:rPr sz="1700" b="0">
                <a:solidFill>
                  <a:srgbClr val="C9C7F9"/>
                </a:solidFill>
                <a:latin typeface="Poppins"/>
              </a:rPr>
              <a:t>8.  Do not confuse activity with progress.</a:t>
            </a:r>
          </a:p>
          <a:p>
            <a:pPr algn="l">
              <a:spcAft>
                <a:spcPts val="1400"/>
              </a:spcAft>
            </a:pPr>
            <a:r>
              <a:rPr sz="1700" b="0">
                <a:solidFill>
                  <a:srgbClr val="FFFFFF"/>
                </a:solidFill>
                <a:latin typeface="Poppins"/>
              </a:rPr>
              <a:t>9.  External rejection is information, not identity.</a:t>
            </a:r>
          </a:p>
          <a:p>
            <a:pPr algn="l">
              <a:spcAft>
                <a:spcPts val="1400"/>
              </a:spcAft>
            </a:pPr>
            <a:r>
              <a:rPr sz="1700" b="0">
                <a:solidFill>
                  <a:srgbClr val="C9C7F9"/>
                </a:solidFill>
                <a:latin typeface="Poppins"/>
              </a:rPr>
              <a:t>10.  Shipping creates opportunities that planning alone cannot.</a:t>
            </a:r>
          </a:p>
        </p:txBody>
      </p:sp>
      <p:sp>
        <p:nvSpPr>
          <p:cNvPr id="8" name="Rounded Rectangle 7"/>
          <p:cNvSpPr/>
          <p:nvPr/>
        </p:nvSpPr>
        <p:spPr>
          <a:xfrm>
            <a:off x="1554480" y="5760720"/>
            <a:ext cx="9144000" cy="77724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5916168"/>
            <a:ext cx="8595360" cy="548640"/>
          </a:xfrm>
          <a:prstGeom prst="rect">
            <a:avLst/>
          </a:prstGeom>
          <a:noFill/>
        </p:spPr>
        <p:txBody>
          <a:bodyPr wrap="square">
            <a:spAutoFit/>
          </a:bodyPr>
          <a:lstStyle/>
          <a:p>
            <a:pPr algn="ctr">
              <a:spcAft>
                <a:spcPts val="600"/>
              </a:spcAft>
            </a:pPr>
            <a:r>
              <a:rPr sz="1700" b="1">
                <a:solidFill>
                  <a:srgbClr val="FFFFFF"/>
                </a:solidFill>
                <a:latin typeface="Poppins"/>
              </a:rPr>
              <a:t>“Your background does not disqualify you. It gives you a different set of raw materials.”</a:t>
            </a:r>
          </a:p>
        </p:txBody>
      </p:sp>
      <p:sp>
        <p:nvSpPr>
          <p:cNvPr id="10" name="TextBox 9"/>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C9C7F9"/>
                </a:solidFill>
                <a:latin typeface="Poppins"/>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WHAT COMES NEXT</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The Next Chapter</a:t>
            </a:r>
          </a:p>
        </p:txBody>
      </p:sp>
      <p:sp>
        <p:nvSpPr>
          <p:cNvPr id="6" name="Rounded Rectangle 5"/>
          <p:cNvSpPr/>
          <p:nvPr/>
        </p:nvSpPr>
        <p:spPr>
          <a:xfrm>
            <a:off x="822960" y="1737360"/>
            <a:ext cx="5669280" cy="502920"/>
          </a:xfrm>
          <a:prstGeom prst="round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2D2A4A"/>
                </a:solidFill>
                <a:latin typeface="Poppins"/>
              </a:rPr>
              <a:t>CURRENT ROADMAP — NOT COMPLETED MILESTONES</a:t>
            </a:r>
          </a:p>
        </p:txBody>
      </p:sp>
      <p:sp>
        <p:nvSpPr>
          <p:cNvPr id="7" name="TextBox 6"/>
          <p:cNvSpPr txBox="1"/>
          <p:nvPr/>
        </p:nvSpPr>
        <p:spPr>
          <a:xfrm>
            <a:off x="822960" y="2468880"/>
            <a:ext cx="10789920" cy="3657600"/>
          </a:xfrm>
          <a:prstGeom prst="rect">
            <a:avLst/>
          </a:prstGeom>
          <a:noFill/>
        </p:spPr>
        <p:txBody>
          <a:bodyPr wrap="square">
            <a:spAutoFit/>
          </a:bodyPr>
          <a:lstStyle/>
          <a:p>
            <a:pPr algn="l">
              <a:spcAft>
                <a:spcPts val="1100"/>
              </a:spcAft>
            </a:pPr>
            <a:r>
              <a:rPr sz="1800" b="0">
                <a:solidFill>
                  <a:srgbClr val="2D2A4A"/>
                </a:solidFill>
                <a:latin typeface="Poppins"/>
              </a:rPr>
              <a:t>→  Complete Google Play identity and organization verification</a:t>
            </a:r>
          </a:p>
          <a:p>
            <a:pPr algn="l">
              <a:spcAft>
                <a:spcPts val="1100"/>
              </a:spcAft>
            </a:pPr>
            <a:r>
              <a:rPr sz="1800" b="0">
                <a:solidFill>
                  <a:srgbClr val="2D2A4A"/>
                </a:solidFill>
                <a:latin typeface="Poppins"/>
              </a:rPr>
              <a:t>→  Complete Android signing and first production build; test on real hardware</a:t>
            </a:r>
          </a:p>
          <a:p>
            <a:pPr algn="l">
              <a:spcAft>
                <a:spcPts val="1100"/>
              </a:spcAft>
            </a:pPr>
            <a:r>
              <a:rPr sz="1800" b="0">
                <a:solidFill>
                  <a:srgbClr val="2D2A4A"/>
                </a:solidFill>
                <a:latin typeface="Poppins"/>
              </a:rPr>
              <a:t>→  Submit Dime Time to Google Play</a:t>
            </a:r>
          </a:p>
          <a:p>
            <a:pPr algn="l">
              <a:spcAft>
                <a:spcPts val="1100"/>
              </a:spcAft>
            </a:pPr>
            <a:r>
              <a:rPr sz="1800" b="0">
                <a:solidFill>
                  <a:srgbClr val="2D2A4A"/>
                </a:solidFill>
                <a:latin typeface="Poppins"/>
              </a:rPr>
              <a:t>→  Receive Stripe Financial Connections approval → enable controlled public bank linking</a:t>
            </a:r>
          </a:p>
          <a:p>
            <a:pPr algn="l">
              <a:spcAft>
                <a:spcPts val="1100"/>
              </a:spcAft>
            </a:pPr>
            <a:r>
              <a:rPr sz="1800" b="0">
                <a:solidFill>
                  <a:srgbClr val="2D2A4A"/>
                </a:solidFill>
                <a:latin typeface="Poppins"/>
              </a:rPr>
              <a:t>→  Receive Plaid Liabilities approval → verify automatic debt import</a:t>
            </a:r>
          </a:p>
          <a:p>
            <a:pPr algn="l">
              <a:spcAft>
                <a:spcPts val="1100"/>
              </a:spcAft>
            </a:pPr>
            <a:r>
              <a:rPr sz="1800" b="1">
                <a:solidFill>
                  <a:srgbClr val="2D2A4A"/>
                </a:solidFill>
                <a:latin typeface="Poppins"/>
              </a:rPr>
              <a:t>→  Begin controlled public user acquisition</a:t>
            </a:r>
          </a:p>
          <a:p>
            <a:pPr algn="l">
              <a:spcAft>
                <a:spcPts val="1100"/>
              </a:spcAft>
            </a:pPr>
            <a:r>
              <a:rPr sz="1800" b="1">
                <a:solidFill>
                  <a:srgbClr val="2D2A4A"/>
                </a:solidFill>
                <a:latin typeface="Poppins"/>
              </a:rPr>
              <a:t>→  Measure activation, retention, ACH volume and subscription conversion</a:t>
            </a:r>
          </a:p>
          <a:p>
            <a:pPr algn="l">
              <a:spcAft>
                <a:spcPts val="1100"/>
              </a:spcAft>
            </a:pPr>
            <a:r>
              <a:rPr sz="1800" b="1">
                <a:solidFill>
                  <a:srgbClr val="2D2A4A"/>
                </a:solidFill>
                <a:latin typeface="Poppins"/>
              </a:rPr>
              <a:t>→  Raise $150,000 in pre-seed capital after launch milestones strengthen the story</a:t>
            </a:r>
          </a:p>
        </p:txBody>
      </p:sp>
      <p:sp>
        <p:nvSpPr>
          <p:cNvPr id="8" name="TextBox 7"/>
          <p:cNvSpPr txBox="1"/>
          <p:nvPr/>
        </p:nvSpPr>
        <p:spPr>
          <a:xfrm>
            <a:off x="822960" y="6172200"/>
            <a:ext cx="10789920" cy="457200"/>
          </a:xfrm>
          <a:prstGeom prst="rect">
            <a:avLst/>
          </a:prstGeom>
          <a:noFill/>
        </p:spPr>
        <p:txBody>
          <a:bodyPr wrap="square">
            <a:spAutoFit/>
          </a:bodyPr>
          <a:lstStyle/>
          <a:p>
            <a:pPr algn="l">
              <a:spcAft>
                <a:spcPts val="600"/>
              </a:spcAft>
            </a:pPr>
            <a:r>
              <a:rPr sz="1400" b="1">
                <a:solidFill>
                  <a:srgbClr val="4A468F"/>
                </a:solidFill>
                <a:latin typeface="Poppins"/>
              </a:rPr>
              <a:t>No guaranteed approval dates or launch dates — external review timelines are not ours to promise.</a:t>
            </a:r>
          </a:p>
        </p:txBody>
      </p:sp>
      <p:sp>
        <p:nvSpPr>
          <p:cNvPr id="9" name="TextBox 8"/>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logo_transparent.png"/>
          <p:cNvPicPr>
            <a:picLocks noChangeAspect="1"/>
          </p:cNvPicPr>
          <p:nvPr/>
        </p:nvPicPr>
        <p:blipFill>
          <a:blip r:embed="rId2"/>
          <a:stretch>
            <a:fillRect/>
          </a:stretch>
        </p:blipFill>
        <p:spPr>
          <a:xfrm>
            <a:off x="5458968" y="502920"/>
            <a:ext cx="1280160" cy="1280160"/>
          </a:xfrm>
          <a:prstGeom prst="rect">
            <a:avLst/>
          </a:prstGeom>
        </p:spPr>
      </p:pic>
      <p:sp>
        <p:nvSpPr>
          <p:cNvPr id="4" name="TextBox 3"/>
          <p:cNvSpPr txBox="1"/>
          <p:nvPr/>
        </p:nvSpPr>
        <p:spPr>
          <a:xfrm>
            <a:off x="731520" y="2011680"/>
            <a:ext cx="10698480" cy="1005840"/>
          </a:xfrm>
          <a:prstGeom prst="rect">
            <a:avLst/>
          </a:prstGeom>
          <a:noFill/>
        </p:spPr>
        <p:txBody>
          <a:bodyPr wrap="square">
            <a:spAutoFit/>
          </a:bodyPr>
          <a:lstStyle/>
          <a:p>
            <a:pPr algn="ctr">
              <a:spcAft>
                <a:spcPts val="600"/>
              </a:spcAft>
            </a:pPr>
            <a:r>
              <a:rPr sz="4800" b="1">
                <a:solidFill>
                  <a:srgbClr val="FFFFFF"/>
                </a:solidFill>
                <a:latin typeface="Poppins"/>
              </a:rPr>
              <a:t>WHAT WILL YOU BUILD?</a:t>
            </a:r>
          </a:p>
        </p:txBody>
      </p:sp>
      <p:sp>
        <p:nvSpPr>
          <p:cNvPr id="5" name="TextBox 4"/>
          <p:cNvSpPr txBox="1"/>
          <p:nvPr/>
        </p:nvSpPr>
        <p:spPr>
          <a:xfrm>
            <a:off x="1371600" y="3291840"/>
            <a:ext cx="9418320" cy="1188720"/>
          </a:xfrm>
          <a:prstGeom prst="rect">
            <a:avLst/>
          </a:prstGeom>
          <a:noFill/>
        </p:spPr>
        <p:txBody>
          <a:bodyPr wrap="square">
            <a:spAutoFit/>
          </a:bodyPr>
          <a:lstStyle/>
          <a:p>
            <a:pPr algn="ctr">
              <a:spcAft>
                <a:spcPts val="600"/>
              </a:spcAft>
            </a:pPr>
            <a:r>
              <a:rPr sz="1900" b="0">
                <a:solidFill>
                  <a:srgbClr val="C9C7F9"/>
                </a:solidFill>
                <a:latin typeface="Poppins"/>
              </a:rPr>
              <a:t>“Dime Time began as an idea about spare change. It became a lesson in persistence, systems thinking and turning education into execution.”</a:t>
            </a:r>
          </a:p>
        </p:txBody>
      </p:sp>
      <p:sp>
        <p:nvSpPr>
          <p:cNvPr id="6" name="TextBox 5"/>
          <p:cNvSpPr txBox="1"/>
          <p:nvPr/>
        </p:nvSpPr>
        <p:spPr>
          <a:xfrm>
            <a:off x="731520" y="4709160"/>
            <a:ext cx="10698480" cy="1097280"/>
          </a:xfrm>
          <a:prstGeom prst="rect">
            <a:avLst/>
          </a:prstGeom>
          <a:noFill/>
        </p:spPr>
        <p:txBody>
          <a:bodyPr wrap="square">
            <a:spAutoFit/>
          </a:bodyPr>
          <a:lstStyle/>
          <a:p>
            <a:pPr algn="ctr">
              <a:spcAft>
                <a:spcPts val="400"/>
              </a:spcAft>
            </a:pPr>
            <a:r>
              <a:rPr sz="1800" b="1">
                <a:solidFill>
                  <a:srgbClr val="FFFFFF"/>
                </a:solidFill>
                <a:latin typeface="Poppins"/>
              </a:rPr>
              <a:t>Tim Carlisle  —  Founder &amp; CEO, Dime Time Technologies LLC</a:t>
            </a:r>
          </a:p>
          <a:p>
            <a:pPr algn="ctr">
              <a:spcAft>
                <a:spcPts val="600"/>
              </a:spcAft>
            </a:pPr>
            <a:r>
              <a:rPr sz="1700" b="0">
                <a:solidFill>
                  <a:srgbClr val="C9C7F9"/>
                </a:solidFill>
                <a:latin typeface="Poppins"/>
              </a:rPr>
              <a:t>dime-time.com   •   tim@dime-time.com</a:t>
            </a:r>
          </a:p>
        </p:txBody>
      </p:sp>
      <p:sp>
        <p:nvSpPr>
          <p:cNvPr id="7" name="TextBox 6"/>
          <p:cNvSpPr txBox="1"/>
          <p:nvPr/>
        </p:nvSpPr>
        <p:spPr>
          <a:xfrm>
            <a:off x="731520" y="5989320"/>
            <a:ext cx="10698480" cy="548640"/>
          </a:xfrm>
          <a:prstGeom prst="rect">
            <a:avLst/>
          </a:prstGeom>
          <a:noFill/>
        </p:spPr>
        <p:txBody>
          <a:bodyPr wrap="square">
            <a:spAutoFit/>
          </a:bodyPr>
          <a:lstStyle/>
          <a:p>
            <a:pPr algn="ctr">
              <a:spcAft>
                <a:spcPts val="600"/>
              </a:spcAft>
            </a:pPr>
            <a:r>
              <a:rPr sz="1800" b="1">
                <a:solidFill>
                  <a:srgbClr val="918EF4"/>
                </a:solidFill>
                <a:latin typeface="Poppins"/>
              </a:rPr>
              <a:t>Get out of debt, one dime at a time with Dime Time!</a:t>
            </a:r>
          </a:p>
        </p:txBody>
      </p:sp>
      <p:sp>
        <p:nvSpPr>
          <p:cNvPr id="8" name="TextBox 7"/>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C9C7F9"/>
                </a:solidFill>
                <a:latin typeface="Poppins"/>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APPENDIX A — FOR CLASS DISCUSSION</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Fintech Terminology</a:t>
            </a:r>
          </a:p>
        </p:txBody>
      </p:sp>
      <p:sp>
        <p:nvSpPr>
          <p:cNvPr id="6" name="TextBox 5"/>
          <p:cNvSpPr txBox="1"/>
          <p:nvPr/>
        </p:nvSpPr>
        <p:spPr>
          <a:xfrm>
            <a:off x="822960" y="1828800"/>
            <a:ext cx="5212080" cy="822960"/>
          </a:xfrm>
          <a:prstGeom prst="rect">
            <a:avLst/>
          </a:prstGeom>
          <a:noFill/>
        </p:spPr>
        <p:txBody>
          <a:bodyPr wrap="square">
            <a:spAutoFit/>
          </a:bodyPr>
          <a:lstStyle/>
          <a:p>
            <a:pPr algn="l">
              <a:spcAft>
                <a:spcPts val="100"/>
              </a:spcAft>
            </a:pPr>
            <a:r>
              <a:rPr sz="1600" b="1">
                <a:solidFill>
                  <a:srgbClr val="4A468F"/>
                </a:solidFill>
                <a:latin typeface="Poppins"/>
              </a:rPr>
              <a:t>ACH</a:t>
            </a:r>
          </a:p>
          <a:p>
            <a:pPr algn="l">
              <a:spcAft>
                <a:spcPts val="0"/>
              </a:spcAft>
            </a:pPr>
            <a:r>
              <a:rPr sz="1400" b="0">
                <a:solidFill>
                  <a:srgbClr val="2D2A4A"/>
                </a:solidFill>
                <a:latin typeface="Poppins"/>
              </a:rPr>
              <a:t>The U.S. bank-to-bank transfer network; settles in days, not seconds</a:t>
            </a:r>
          </a:p>
        </p:txBody>
      </p:sp>
      <p:sp>
        <p:nvSpPr>
          <p:cNvPr id="7" name="TextBox 6"/>
          <p:cNvSpPr txBox="1"/>
          <p:nvPr/>
        </p:nvSpPr>
        <p:spPr>
          <a:xfrm>
            <a:off x="822960" y="2670048"/>
            <a:ext cx="5212080" cy="822960"/>
          </a:xfrm>
          <a:prstGeom prst="rect">
            <a:avLst/>
          </a:prstGeom>
          <a:noFill/>
        </p:spPr>
        <p:txBody>
          <a:bodyPr wrap="square">
            <a:spAutoFit/>
          </a:bodyPr>
          <a:lstStyle/>
          <a:p>
            <a:pPr algn="l">
              <a:spcAft>
                <a:spcPts val="100"/>
              </a:spcAft>
            </a:pPr>
            <a:r>
              <a:rPr sz="1600" b="1">
                <a:solidFill>
                  <a:srgbClr val="4A468F"/>
                </a:solidFill>
                <a:latin typeface="Poppins"/>
              </a:rPr>
              <a:t>Bank linking</a:t>
            </a:r>
          </a:p>
          <a:p>
            <a:pPr algn="l">
              <a:spcAft>
                <a:spcPts val="0"/>
              </a:spcAft>
            </a:pPr>
            <a:r>
              <a:rPr sz="1400" b="0">
                <a:solidFill>
                  <a:srgbClr val="2D2A4A"/>
                </a:solidFill>
                <a:latin typeface="Poppins"/>
              </a:rPr>
              <a:t>Letting an app securely connect to a user's bank account</a:t>
            </a:r>
          </a:p>
        </p:txBody>
      </p:sp>
      <p:sp>
        <p:nvSpPr>
          <p:cNvPr id="8" name="TextBox 7"/>
          <p:cNvSpPr txBox="1"/>
          <p:nvPr/>
        </p:nvSpPr>
        <p:spPr>
          <a:xfrm>
            <a:off x="822960" y="3511296"/>
            <a:ext cx="5212080" cy="822960"/>
          </a:xfrm>
          <a:prstGeom prst="rect">
            <a:avLst/>
          </a:prstGeom>
          <a:noFill/>
        </p:spPr>
        <p:txBody>
          <a:bodyPr wrap="square">
            <a:spAutoFit/>
          </a:bodyPr>
          <a:lstStyle/>
          <a:p>
            <a:pPr algn="l">
              <a:spcAft>
                <a:spcPts val="100"/>
              </a:spcAft>
            </a:pPr>
            <a:r>
              <a:rPr sz="1600" b="1">
                <a:solidFill>
                  <a:srgbClr val="4A468F"/>
                </a:solidFill>
                <a:latin typeface="Poppins"/>
              </a:rPr>
              <a:t>Financial Connections</a:t>
            </a:r>
          </a:p>
          <a:p>
            <a:pPr algn="l">
              <a:spcAft>
                <a:spcPts val="0"/>
              </a:spcAft>
            </a:pPr>
            <a:r>
              <a:rPr sz="1400" b="0">
                <a:solidFill>
                  <a:srgbClr val="2D2A4A"/>
                </a:solidFill>
                <a:latin typeface="Poppins"/>
              </a:rPr>
              <a:t>Stripe's product for verified bank account linking</a:t>
            </a:r>
          </a:p>
        </p:txBody>
      </p:sp>
      <p:sp>
        <p:nvSpPr>
          <p:cNvPr id="9" name="TextBox 8"/>
          <p:cNvSpPr txBox="1"/>
          <p:nvPr/>
        </p:nvSpPr>
        <p:spPr>
          <a:xfrm>
            <a:off x="822960" y="4352544"/>
            <a:ext cx="5212080" cy="822960"/>
          </a:xfrm>
          <a:prstGeom prst="rect">
            <a:avLst/>
          </a:prstGeom>
          <a:noFill/>
        </p:spPr>
        <p:txBody>
          <a:bodyPr wrap="square">
            <a:spAutoFit/>
          </a:bodyPr>
          <a:lstStyle/>
          <a:p>
            <a:pPr algn="l">
              <a:spcAft>
                <a:spcPts val="100"/>
              </a:spcAft>
            </a:pPr>
            <a:r>
              <a:rPr sz="1600" b="1">
                <a:solidFill>
                  <a:srgbClr val="4A468F"/>
                </a:solidFill>
                <a:latin typeface="Poppins"/>
              </a:rPr>
              <a:t>Payment authorization</a:t>
            </a:r>
          </a:p>
          <a:p>
            <a:pPr algn="l">
              <a:spcAft>
                <a:spcPts val="0"/>
              </a:spcAft>
            </a:pPr>
            <a:r>
              <a:rPr sz="1400" b="0">
                <a:solidFill>
                  <a:srgbClr val="2D2A4A"/>
                </a:solidFill>
                <a:latin typeface="Poppins"/>
              </a:rPr>
              <a:t>Recorded user consent before money moves</a:t>
            </a:r>
          </a:p>
        </p:txBody>
      </p:sp>
      <p:sp>
        <p:nvSpPr>
          <p:cNvPr id="10" name="TextBox 9"/>
          <p:cNvSpPr txBox="1"/>
          <p:nvPr/>
        </p:nvSpPr>
        <p:spPr>
          <a:xfrm>
            <a:off x="822960" y="5193792"/>
            <a:ext cx="5212080" cy="822960"/>
          </a:xfrm>
          <a:prstGeom prst="rect">
            <a:avLst/>
          </a:prstGeom>
          <a:noFill/>
        </p:spPr>
        <p:txBody>
          <a:bodyPr wrap="square">
            <a:spAutoFit/>
          </a:bodyPr>
          <a:lstStyle/>
          <a:p>
            <a:pPr algn="l">
              <a:spcAft>
                <a:spcPts val="100"/>
              </a:spcAft>
            </a:pPr>
            <a:r>
              <a:rPr sz="1600" b="1">
                <a:solidFill>
                  <a:srgbClr val="4A468F"/>
                </a:solidFill>
                <a:latin typeface="Poppins"/>
              </a:rPr>
              <a:t>Idempotency</a:t>
            </a:r>
          </a:p>
          <a:p>
            <a:pPr algn="l">
              <a:spcAft>
                <a:spcPts val="0"/>
              </a:spcAft>
            </a:pPr>
            <a:r>
              <a:rPr sz="1400" b="0">
                <a:solidFill>
                  <a:srgbClr val="2D2A4A"/>
                </a:solidFill>
                <a:latin typeface="Poppins"/>
              </a:rPr>
              <a:t>Ensuring a repeated request cannot cause a duplicate payment</a:t>
            </a:r>
          </a:p>
        </p:txBody>
      </p:sp>
      <p:sp>
        <p:nvSpPr>
          <p:cNvPr id="11" name="TextBox 10"/>
          <p:cNvSpPr txBox="1"/>
          <p:nvPr/>
        </p:nvSpPr>
        <p:spPr>
          <a:xfrm>
            <a:off x="6309360" y="1828800"/>
            <a:ext cx="5212080" cy="822960"/>
          </a:xfrm>
          <a:prstGeom prst="rect">
            <a:avLst/>
          </a:prstGeom>
          <a:noFill/>
        </p:spPr>
        <p:txBody>
          <a:bodyPr wrap="square">
            <a:spAutoFit/>
          </a:bodyPr>
          <a:lstStyle/>
          <a:p>
            <a:pPr algn="l">
              <a:spcAft>
                <a:spcPts val="100"/>
              </a:spcAft>
            </a:pPr>
            <a:r>
              <a:rPr sz="1600" b="1">
                <a:solidFill>
                  <a:srgbClr val="4A468F"/>
                </a:solidFill>
                <a:latin typeface="Poppins"/>
              </a:rPr>
              <a:t>Webhook</a:t>
            </a:r>
          </a:p>
          <a:p>
            <a:pPr algn="l">
              <a:spcAft>
                <a:spcPts val="0"/>
              </a:spcAft>
            </a:pPr>
            <a:r>
              <a:rPr sz="1400" b="0">
                <a:solidFill>
                  <a:srgbClr val="2D2A4A"/>
                </a:solidFill>
                <a:latin typeface="Poppins"/>
              </a:rPr>
              <a:t>A provider's callback that reports events (like settlement) to the app</a:t>
            </a:r>
          </a:p>
        </p:txBody>
      </p:sp>
      <p:sp>
        <p:nvSpPr>
          <p:cNvPr id="12" name="TextBox 11"/>
          <p:cNvSpPr txBox="1"/>
          <p:nvPr/>
        </p:nvSpPr>
        <p:spPr>
          <a:xfrm>
            <a:off x="6309360" y="2670048"/>
            <a:ext cx="5212080" cy="822960"/>
          </a:xfrm>
          <a:prstGeom prst="rect">
            <a:avLst/>
          </a:prstGeom>
          <a:noFill/>
        </p:spPr>
        <p:txBody>
          <a:bodyPr wrap="square">
            <a:spAutoFit/>
          </a:bodyPr>
          <a:lstStyle/>
          <a:p>
            <a:pPr algn="l">
              <a:spcAft>
                <a:spcPts val="100"/>
              </a:spcAft>
            </a:pPr>
            <a:r>
              <a:rPr sz="1600" b="1">
                <a:solidFill>
                  <a:srgbClr val="4A468F"/>
                </a:solidFill>
                <a:latin typeface="Poppins"/>
              </a:rPr>
              <a:t>Feature flag</a:t>
            </a:r>
          </a:p>
          <a:p>
            <a:pPr algn="l">
              <a:spcAft>
                <a:spcPts val="0"/>
              </a:spcAft>
            </a:pPr>
            <a:r>
              <a:rPr sz="1400" b="0">
                <a:solidFill>
                  <a:srgbClr val="2D2A4A"/>
                </a:solidFill>
                <a:latin typeface="Poppins"/>
              </a:rPr>
              <a:t>A switch that turns functionality on or off without redeploying</a:t>
            </a:r>
          </a:p>
        </p:txBody>
      </p:sp>
      <p:sp>
        <p:nvSpPr>
          <p:cNvPr id="13" name="TextBox 12"/>
          <p:cNvSpPr txBox="1"/>
          <p:nvPr/>
        </p:nvSpPr>
        <p:spPr>
          <a:xfrm>
            <a:off x="6309360" y="3511296"/>
            <a:ext cx="5212080" cy="822960"/>
          </a:xfrm>
          <a:prstGeom prst="rect">
            <a:avLst/>
          </a:prstGeom>
          <a:noFill/>
        </p:spPr>
        <p:txBody>
          <a:bodyPr wrap="square">
            <a:spAutoFit/>
          </a:bodyPr>
          <a:lstStyle/>
          <a:p>
            <a:pPr algn="l">
              <a:spcAft>
                <a:spcPts val="100"/>
              </a:spcAft>
            </a:pPr>
            <a:r>
              <a:rPr sz="1600" b="1">
                <a:solidFill>
                  <a:srgbClr val="4A468F"/>
                </a:solidFill>
                <a:latin typeface="Poppins"/>
              </a:rPr>
              <a:t>Allowlist</a:t>
            </a:r>
          </a:p>
          <a:p>
            <a:pPr algn="l">
              <a:spcAft>
                <a:spcPts val="0"/>
              </a:spcAft>
            </a:pPr>
            <a:r>
              <a:rPr sz="1400" b="0">
                <a:solidFill>
                  <a:srgbClr val="2D2A4A"/>
                </a:solidFill>
                <a:latin typeface="Poppins"/>
              </a:rPr>
              <a:t>An explicit list of approved users — everyone else is denied</a:t>
            </a:r>
          </a:p>
        </p:txBody>
      </p:sp>
      <p:sp>
        <p:nvSpPr>
          <p:cNvPr id="14" name="TextBox 13"/>
          <p:cNvSpPr txBox="1"/>
          <p:nvPr/>
        </p:nvSpPr>
        <p:spPr>
          <a:xfrm>
            <a:off x="6309360" y="4352544"/>
            <a:ext cx="5212080" cy="822960"/>
          </a:xfrm>
          <a:prstGeom prst="rect">
            <a:avLst/>
          </a:prstGeom>
          <a:noFill/>
        </p:spPr>
        <p:txBody>
          <a:bodyPr wrap="square">
            <a:spAutoFit/>
          </a:bodyPr>
          <a:lstStyle/>
          <a:p>
            <a:pPr algn="l">
              <a:spcAft>
                <a:spcPts val="100"/>
              </a:spcAft>
            </a:pPr>
            <a:r>
              <a:rPr sz="1600" b="1">
                <a:solidFill>
                  <a:srgbClr val="4A468F"/>
                </a:solidFill>
                <a:latin typeface="Poppins"/>
              </a:rPr>
              <a:t>Production vs. sandbox</a:t>
            </a:r>
          </a:p>
          <a:p>
            <a:pPr algn="l">
              <a:spcAft>
                <a:spcPts val="0"/>
              </a:spcAft>
            </a:pPr>
            <a:r>
              <a:rPr sz="1400" b="0">
                <a:solidFill>
                  <a:srgbClr val="2D2A4A"/>
                </a:solidFill>
                <a:latin typeface="Poppins"/>
              </a:rPr>
              <a:t>Real money and real data vs. a safe simulated environment</a:t>
            </a:r>
          </a:p>
        </p:txBody>
      </p:sp>
      <p:sp>
        <p:nvSpPr>
          <p:cNvPr id="15" name="TextBox 14"/>
          <p:cNvSpPr txBox="1"/>
          <p:nvPr/>
        </p:nvSpPr>
        <p:spPr>
          <a:xfrm>
            <a:off x="6309360" y="5193792"/>
            <a:ext cx="5212080" cy="822960"/>
          </a:xfrm>
          <a:prstGeom prst="rect">
            <a:avLst/>
          </a:prstGeom>
          <a:noFill/>
        </p:spPr>
        <p:txBody>
          <a:bodyPr wrap="square">
            <a:spAutoFit/>
          </a:bodyPr>
          <a:lstStyle/>
          <a:p>
            <a:pPr algn="l">
              <a:spcAft>
                <a:spcPts val="100"/>
              </a:spcAft>
            </a:pPr>
            <a:r>
              <a:rPr sz="1600" b="1">
                <a:solidFill>
                  <a:srgbClr val="4A468F"/>
                </a:solidFill>
                <a:latin typeface="Poppins"/>
              </a:rPr>
              <a:t>Settlement</a:t>
            </a:r>
          </a:p>
          <a:p>
            <a:pPr algn="l">
              <a:spcAft>
                <a:spcPts val="0"/>
              </a:spcAft>
            </a:pPr>
            <a:r>
              <a:rPr sz="1400" b="0">
                <a:solidFill>
                  <a:srgbClr val="2D2A4A"/>
                </a:solidFill>
                <a:latin typeface="Poppins"/>
              </a:rPr>
              <a:t>The moment transferred funds actually arrive and are final</a:t>
            </a:r>
          </a:p>
        </p:txBody>
      </p:sp>
      <p:sp>
        <p:nvSpPr>
          <p:cNvPr id="16" name="TextBox 15"/>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APPENDIX B — FOR CLASS DISCUSSION</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Classroom Discussion Questions</a:t>
            </a:r>
          </a:p>
        </p:txBody>
      </p:sp>
      <p:sp>
        <p:nvSpPr>
          <p:cNvPr id="6" name="TextBox 5"/>
          <p:cNvSpPr txBox="1"/>
          <p:nvPr/>
        </p:nvSpPr>
        <p:spPr>
          <a:xfrm>
            <a:off x="822960" y="1874519"/>
            <a:ext cx="10789920" cy="4389120"/>
          </a:xfrm>
          <a:prstGeom prst="rect">
            <a:avLst/>
          </a:prstGeom>
          <a:noFill/>
        </p:spPr>
        <p:txBody>
          <a:bodyPr wrap="square">
            <a:spAutoFit/>
          </a:bodyPr>
          <a:lstStyle/>
          <a:p>
            <a:pPr algn="l">
              <a:spcAft>
                <a:spcPts val="1400"/>
              </a:spcAft>
            </a:pPr>
            <a:r>
              <a:rPr sz="1900" b="0">
                <a:solidFill>
                  <a:srgbClr val="2D2A4A"/>
                </a:solidFill>
                <a:latin typeface="Poppins"/>
              </a:rPr>
              <a:t>1.  Which part of Dime Time's moat is technical, and which is operational?</a:t>
            </a:r>
          </a:p>
          <a:p>
            <a:pPr algn="l">
              <a:spcAft>
                <a:spcPts val="1400"/>
              </a:spcAft>
            </a:pPr>
            <a:r>
              <a:rPr sz="1900" b="0">
                <a:solidFill>
                  <a:srgbClr val="2D2A4A"/>
                </a:solidFill>
                <a:latin typeface="Poppins"/>
              </a:rPr>
              <a:t>2.  When should a founder stop building and begin acquiring users?</a:t>
            </a:r>
          </a:p>
          <a:p>
            <a:pPr algn="l">
              <a:spcAft>
                <a:spcPts val="1400"/>
              </a:spcAft>
            </a:pPr>
            <a:r>
              <a:rPr sz="1900" b="0">
                <a:solidFill>
                  <a:srgbClr val="2D2A4A"/>
                </a:solidFill>
                <a:latin typeface="Poppins"/>
              </a:rPr>
              <a:t>3.  How should a fintech balance speed with safety?</a:t>
            </a:r>
          </a:p>
          <a:p>
            <a:pPr algn="l">
              <a:spcAft>
                <a:spcPts val="1400"/>
              </a:spcAft>
            </a:pPr>
            <a:r>
              <a:rPr sz="1900" b="0">
                <a:solidFill>
                  <a:srgbClr val="2D2A4A"/>
                </a:solidFill>
                <a:latin typeface="Poppins"/>
              </a:rPr>
              <a:t>4.  What should AI be trusted to do?</a:t>
            </a:r>
          </a:p>
          <a:p>
            <a:pPr algn="l">
              <a:spcAft>
                <a:spcPts val="1400"/>
              </a:spcAft>
            </a:pPr>
            <a:r>
              <a:rPr sz="1900" b="0">
                <a:solidFill>
                  <a:srgbClr val="2D2A4A"/>
                </a:solidFill>
                <a:latin typeface="Poppins"/>
              </a:rPr>
              <a:t>5.  What evidence would you require before investing?</a:t>
            </a:r>
          </a:p>
          <a:p>
            <a:pPr algn="l">
              <a:spcAft>
                <a:spcPts val="1400"/>
              </a:spcAft>
            </a:pPr>
            <a:r>
              <a:rPr sz="1900" b="0">
                <a:solidFill>
                  <a:srgbClr val="2D2A4A"/>
                </a:solidFill>
                <a:latin typeface="Poppins"/>
              </a:rPr>
              <a:t>6.  Which acquisition channel should Dime Time test first?</a:t>
            </a:r>
          </a:p>
          <a:p>
            <a:pPr algn="l">
              <a:spcAft>
                <a:spcPts val="1400"/>
              </a:spcAft>
            </a:pPr>
            <a:r>
              <a:rPr sz="1900" b="0">
                <a:solidFill>
                  <a:srgbClr val="2D2A4A"/>
                </a:solidFill>
                <a:latin typeface="Poppins"/>
              </a:rPr>
              <a:t>7.  How would you define an activated user?</a:t>
            </a:r>
          </a:p>
          <a:p>
            <a:pPr algn="l">
              <a:spcAft>
                <a:spcPts val="1400"/>
              </a:spcAft>
            </a:pPr>
            <a:r>
              <a:rPr sz="1900" b="0">
                <a:solidFill>
                  <a:srgbClr val="2D2A4A"/>
                </a:solidFill>
                <a:latin typeface="Poppins"/>
              </a:rPr>
              <a:t>8.  What ethical obligations come with automating financial behavior?</a:t>
            </a:r>
          </a:p>
        </p:txBody>
      </p:sp>
      <p:sp>
        <p:nvSpPr>
          <p:cNvPr id="7" name="TextBox 6"/>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72800" cy="411480"/>
          </a:xfrm>
          <a:prstGeom prst="rect">
            <a:avLst/>
          </a:prstGeom>
          <a:noFill/>
        </p:spPr>
        <p:txBody>
          <a:bodyPr wrap="square">
            <a:spAutoFit/>
          </a:bodyPr>
          <a:lstStyle/>
          <a:p>
            <a:pPr algn="l">
              <a:spcAft>
                <a:spcPts val="600"/>
              </a:spcAft>
            </a:pPr>
            <a:r>
              <a:rPr sz="1400" b="1">
                <a:solidFill>
                  <a:srgbClr val="4A468F"/>
                </a:solidFill>
                <a:latin typeface="Poppins"/>
              </a:rPr>
              <a:t>APPENDIX C — HONEST LABELS</a:t>
            </a:r>
          </a:p>
        </p:txBody>
      </p:sp>
      <p:sp>
        <p:nvSpPr>
          <p:cNvPr id="5" name="TextBox 4"/>
          <p:cNvSpPr txBox="1"/>
          <p:nvPr/>
        </p:nvSpPr>
        <p:spPr>
          <a:xfrm>
            <a:off x="640080" y="749808"/>
            <a:ext cx="10972800" cy="868680"/>
          </a:xfrm>
          <a:prstGeom prst="rect">
            <a:avLst/>
          </a:prstGeom>
          <a:noFill/>
        </p:spPr>
        <p:txBody>
          <a:bodyPr wrap="square">
            <a:spAutoFit/>
          </a:bodyPr>
          <a:lstStyle/>
          <a:p>
            <a:pPr algn="l">
              <a:spcAft>
                <a:spcPts val="600"/>
              </a:spcAft>
            </a:pPr>
            <a:r>
              <a:rPr sz="3200" b="1">
                <a:solidFill>
                  <a:srgbClr val="2D2A4A"/>
                </a:solidFill>
                <a:latin typeface="Poppins"/>
              </a:rPr>
              <a:t>Verified Project Status</a:t>
            </a:r>
          </a:p>
        </p:txBody>
      </p:sp>
      <p:sp>
        <p:nvSpPr>
          <p:cNvPr id="6" name="Rounded Rectangle 5"/>
          <p:cNvSpPr/>
          <p:nvPr/>
        </p:nvSpPr>
        <p:spPr>
          <a:xfrm>
            <a:off x="502920" y="1783080"/>
            <a:ext cx="2377440" cy="685800"/>
          </a:xfrm>
          <a:prstGeom prst="roundRect">
            <a:avLst/>
          </a:prstGeom>
          <a:solidFill>
            <a:srgbClr val="2E9E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LIVE</a:t>
            </a:r>
          </a:p>
        </p:txBody>
      </p:sp>
      <p:sp>
        <p:nvSpPr>
          <p:cNvPr id="7" name="TextBox 6"/>
          <p:cNvSpPr txBox="1"/>
          <p:nvPr/>
        </p:nvSpPr>
        <p:spPr>
          <a:xfrm>
            <a:off x="502920" y="2606040"/>
            <a:ext cx="2377440" cy="3566160"/>
          </a:xfrm>
          <a:prstGeom prst="rect">
            <a:avLst/>
          </a:prstGeom>
          <a:noFill/>
        </p:spPr>
        <p:txBody>
          <a:bodyPr wrap="square">
            <a:spAutoFit/>
          </a:bodyPr>
          <a:lstStyle/>
          <a:p>
            <a:pPr algn="l">
              <a:spcAft>
                <a:spcPts val="700"/>
              </a:spcAft>
            </a:pPr>
            <a:r>
              <a:rPr sz="1400" b="0">
                <a:solidFill>
                  <a:srgbClr val="2D2A4A"/>
                </a:solidFill>
                <a:latin typeface="Poppins"/>
              </a:rPr>
              <a:t>•  iOS v1.0.5, build 207 on the Apple App Store</a:t>
            </a:r>
          </a:p>
          <a:p>
            <a:pPr algn="l">
              <a:spcAft>
                <a:spcPts val="700"/>
              </a:spcAft>
            </a:pPr>
            <a:r>
              <a:rPr sz="1400" b="0">
                <a:solidFill>
                  <a:srgbClr val="2D2A4A"/>
                </a:solidFill>
                <a:latin typeface="Poppins"/>
              </a:rPr>
              <a:t>•  Core product interface</a:t>
            </a:r>
          </a:p>
          <a:p>
            <a:pPr algn="l">
              <a:spcAft>
                <a:spcPts val="700"/>
              </a:spcAft>
            </a:pPr>
            <a:r>
              <a:rPr sz="1400" b="0">
                <a:solidFill>
                  <a:srgbClr val="2D2A4A"/>
                </a:solidFill>
                <a:latin typeface="Poppins"/>
              </a:rPr>
              <a:t>•  Production access for approved Plaid products</a:t>
            </a:r>
          </a:p>
          <a:p>
            <a:pPr algn="l">
              <a:spcAft>
                <a:spcPts val="700"/>
              </a:spcAft>
            </a:pPr>
            <a:r>
              <a:rPr sz="1400" b="0">
                <a:solidFill>
                  <a:srgbClr val="2D2A4A"/>
                </a:solidFill>
                <a:latin typeface="Poppins"/>
              </a:rPr>
              <a:t>•  Stripe ACH infrastructure</a:t>
            </a:r>
          </a:p>
        </p:txBody>
      </p:sp>
      <p:sp>
        <p:nvSpPr>
          <p:cNvPr id="8" name="Rounded Rectangle 7"/>
          <p:cNvSpPr/>
          <p:nvPr/>
        </p:nvSpPr>
        <p:spPr>
          <a:xfrm>
            <a:off x="3017520" y="1783080"/>
            <a:ext cx="2377440" cy="685800"/>
          </a:xfrm>
          <a:prstGeom prst="roundRect">
            <a:avLst/>
          </a:prstGeom>
          <a:solidFill>
            <a:srgbClr val="4A46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FFFFF"/>
                </a:solidFill>
                <a:latin typeface="Poppins"/>
              </a:rPr>
              <a:t>PROVEN IN CONTROLLED LIVE TEST</a:t>
            </a:r>
          </a:p>
        </p:txBody>
      </p:sp>
      <p:sp>
        <p:nvSpPr>
          <p:cNvPr id="9" name="TextBox 8"/>
          <p:cNvSpPr txBox="1"/>
          <p:nvPr/>
        </p:nvSpPr>
        <p:spPr>
          <a:xfrm>
            <a:off x="3017520" y="2606040"/>
            <a:ext cx="2377440" cy="3566160"/>
          </a:xfrm>
          <a:prstGeom prst="rect">
            <a:avLst/>
          </a:prstGeom>
          <a:noFill/>
        </p:spPr>
        <p:txBody>
          <a:bodyPr wrap="square">
            <a:spAutoFit/>
          </a:bodyPr>
          <a:lstStyle/>
          <a:p>
            <a:pPr algn="l">
              <a:spcAft>
                <a:spcPts val="700"/>
              </a:spcAft>
            </a:pPr>
            <a:r>
              <a:rPr sz="1400" b="0">
                <a:solidFill>
                  <a:srgbClr val="2D2A4A"/>
                </a:solidFill>
                <a:latin typeface="Poppins"/>
              </a:rPr>
              <a:t>•  $1.00 ACH payment</a:t>
            </a:r>
          </a:p>
          <a:p>
            <a:pPr algn="l">
              <a:spcAft>
                <a:spcPts val="700"/>
              </a:spcAft>
            </a:pPr>
            <a:r>
              <a:rPr sz="1400" b="0">
                <a:solidFill>
                  <a:srgbClr val="2D2A4A"/>
                </a:solidFill>
                <a:latin typeface="Poppins"/>
              </a:rPr>
              <a:t>•  $0.99 Mercury payout</a:t>
            </a:r>
          </a:p>
          <a:p>
            <a:pPr algn="l">
              <a:spcAft>
                <a:spcPts val="700"/>
              </a:spcAft>
            </a:pPr>
            <a:r>
              <a:rPr sz="1400" b="0">
                <a:solidFill>
                  <a:srgbClr val="2D2A4A"/>
                </a:solidFill>
                <a:latin typeface="Poppins"/>
              </a:rPr>
              <a:t>•  Bank-to-bank financial loop</a:t>
            </a:r>
          </a:p>
        </p:txBody>
      </p:sp>
      <p:sp>
        <p:nvSpPr>
          <p:cNvPr id="10" name="Rounded Rectangle 9"/>
          <p:cNvSpPr/>
          <p:nvPr/>
        </p:nvSpPr>
        <p:spPr>
          <a:xfrm>
            <a:off x="5532120" y="1783080"/>
            <a:ext cx="2148840" cy="685800"/>
          </a:xfrm>
          <a:prstGeom prst="roundRect">
            <a:avLst/>
          </a:prstGeom>
          <a:solidFill>
            <a:srgbClr val="918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a:solidFill>
                  <a:srgbClr val="FFFFFF"/>
                </a:solidFill>
                <a:latin typeface="Poppins"/>
              </a:rPr>
              <a:t>BUILT • FEATURE-GATED</a:t>
            </a:r>
          </a:p>
        </p:txBody>
      </p:sp>
      <p:sp>
        <p:nvSpPr>
          <p:cNvPr id="11" name="TextBox 10"/>
          <p:cNvSpPr txBox="1"/>
          <p:nvPr/>
        </p:nvSpPr>
        <p:spPr>
          <a:xfrm>
            <a:off x="5532120" y="2606040"/>
            <a:ext cx="2148840" cy="3566160"/>
          </a:xfrm>
          <a:prstGeom prst="rect">
            <a:avLst/>
          </a:prstGeom>
          <a:noFill/>
        </p:spPr>
        <p:txBody>
          <a:bodyPr wrap="square">
            <a:spAutoFit/>
          </a:bodyPr>
          <a:lstStyle/>
          <a:p>
            <a:pPr algn="l">
              <a:spcAft>
                <a:spcPts val="700"/>
              </a:spcAft>
            </a:pPr>
            <a:r>
              <a:rPr sz="1400" b="0">
                <a:solidFill>
                  <a:srgbClr val="2D2A4A"/>
                </a:solidFill>
                <a:latin typeface="Poppins"/>
              </a:rPr>
              <a:t>•  Core $2.99 subscription functionality</a:t>
            </a:r>
          </a:p>
          <a:p>
            <a:pPr algn="l">
              <a:spcAft>
                <a:spcPts val="700"/>
              </a:spcAft>
            </a:pPr>
            <a:r>
              <a:rPr sz="1400" b="0">
                <a:solidFill>
                  <a:srgbClr val="2D2A4A"/>
                </a:solidFill>
                <a:latin typeface="Poppins"/>
              </a:rPr>
              <a:t>•  Real-transfer functionality behind safeguards</a:t>
            </a:r>
          </a:p>
        </p:txBody>
      </p:sp>
      <p:sp>
        <p:nvSpPr>
          <p:cNvPr id="12" name="Rounded Rectangle 11"/>
          <p:cNvSpPr/>
          <p:nvPr/>
        </p:nvSpPr>
        <p:spPr>
          <a:xfrm>
            <a:off x="7818120" y="1783080"/>
            <a:ext cx="2103120" cy="685800"/>
          </a:xfrm>
          <a:prstGeom prst="round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2D2A4A"/>
                </a:solidFill>
                <a:latin typeface="Poppins"/>
              </a:rPr>
              <a:t>PENDING</a:t>
            </a:r>
          </a:p>
        </p:txBody>
      </p:sp>
      <p:sp>
        <p:nvSpPr>
          <p:cNvPr id="13" name="TextBox 12"/>
          <p:cNvSpPr txBox="1"/>
          <p:nvPr/>
        </p:nvSpPr>
        <p:spPr>
          <a:xfrm>
            <a:off x="7818120" y="2606040"/>
            <a:ext cx="2103120" cy="3566160"/>
          </a:xfrm>
          <a:prstGeom prst="rect">
            <a:avLst/>
          </a:prstGeom>
          <a:noFill/>
        </p:spPr>
        <p:txBody>
          <a:bodyPr wrap="square">
            <a:spAutoFit/>
          </a:bodyPr>
          <a:lstStyle/>
          <a:p>
            <a:pPr algn="l">
              <a:spcAft>
                <a:spcPts val="700"/>
              </a:spcAft>
            </a:pPr>
            <a:r>
              <a:rPr sz="1400" b="0">
                <a:solidFill>
                  <a:srgbClr val="2D2A4A"/>
                </a:solidFill>
                <a:latin typeface="Poppins"/>
              </a:rPr>
              <a:t>•  Stripe Financial Connections public bank-linking approval</a:t>
            </a:r>
          </a:p>
          <a:p>
            <a:pPr algn="l">
              <a:spcAft>
                <a:spcPts val="700"/>
              </a:spcAft>
            </a:pPr>
            <a:r>
              <a:rPr sz="1400" b="0">
                <a:solidFill>
                  <a:srgbClr val="2D2A4A"/>
                </a:solidFill>
                <a:latin typeface="Poppins"/>
              </a:rPr>
              <a:t>•  Plaid Liabilities approval</a:t>
            </a:r>
          </a:p>
          <a:p>
            <a:pPr algn="l">
              <a:spcAft>
                <a:spcPts val="700"/>
              </a:spcAft>
            </a:pPr>
            <a:r>
              <a:rPr sz="1400" b="0">
                <a:solidFill>
                  <a:srgbClr val="2D2A4A"/>
                </a:solidFill>
                <a:latin typeface="Poppins"/>
              </a:rPr>
              <a:t>•  Google Play launch process</a:t>
            </a:r>
          </a:p>
        </p:txBody>
      </p:sp>
      <p:sp>
        <p:nvSpPr>
          <p:cNvPr id="14" name="Rounded Rectangle 13"/>
          <p:cNvSpPr/>
          <p:nvPr/>
        </p:nvSpPr>
        <p:spPr>
          <a:xfrm>
            <a:off x="10058400" y="1783080"/>
            <a:ext cx="1783080" cy="685800"/>
          </a:xfrm>
          <a:prstGeom prst="roundRect">
            <a:avLst/>
          </a:prstGeom>
          <a:solidFill>
            <a:srgbClr val="2D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a:solidFill>
                  <a:srgbClr val="FFFFFF"/>
                </a:solidFill>
                <a:latin typeface="Poppins"/>
              </a:rPr>
              <a:t>PLANNED</a:t>
            </a:r>
          </a:p>
        </p:txBody>
      </p:sp>
      <p:sp>
        <p:nvSpPr>
          <p:cNvPr id="15" name="TextBox 14"/>
          <p:cNvSpPr txBox="1"/>
          <p:nvPr/>
        </p:nvSpPr>
        <p:spPr>
          <a:xfrm>
            <a:off x="10058400" y="2606040"/>
            <a:ext cx="1783080" cy="3566160"/>
          </a:xfrm>
          <a:prstGeom prst="rect">
            <a:avLst/>
          </a:prstGeom>
          <a:noFill/>
        </p:spPr>
        <p:txBody>
          <a:bodyPr wrap="square">
            <a:spAutoFit/>
          </a:bodyPr>
          <a:lstStyle/>
          <a:p>
            <a:pPr algn="l">
              <a:spcAft>
                <a:spcPts val="700"/>
              </a:spcAft>
            </a:pPr>
            <a:r>
              <a:rPr sz="1400" b="0">
                <a:solidFill>
                  <a:srgbClr val="2D2A4A"/>
                </a:solidFill>
                <a:latin typeface="Poppins"/>
              </a:rPr>
              <a:t>•  Coinbase / Bitcoin allocation</a:t>
            </a:r>
          </a:p>
          <a:p>
            <a:pPr algn="l">
              <a:spcAft>
                <a:spcPts val="700"/>
              </a:spcAft>
            </a:pPr>
            <a:r>
              <a:rPr sz="1400" b="0">
                <a:solidFill>
                  <a:srgbClr val="2D2A4A"/>
                </a:solidFill>
                <a:latin typeface="Poppins"/>
              </a:rPr>
              <a:t>•  Pro and Premium subscription tiers</a:t>
            </a:r>
          </a:p>
          <a:p>
            <a:pPr algn="l">
              <a:spcAft>
                <a:spcPts val="700"/>
              </a:spcAft>
            </a:pPr>
            <a:r>
              <a:rPr sz="1400" b="0">
                <a:solidFill>
                  <a:srgbClr val="2D2A4A"/>
                </a:solidFill>
                <a:latin typeface="Poppins"/>
              </a:rPr>
              <a:t>•  Broader public acquisition</a:t>
            </a:r>
          </a:p>
        </p:txBody>
      </p:sp>
      <p:sp>
        <p:nvSpPr>
          <p:cNvPr id="16" name="TextBox 15"/>
          <p:cNvSpPr txBox="1"/>
          <p:nvPr/>
        </p:nvSpPr>
        <p:spPr>
          <a:xfrm>
            <a:off x="502920" y="6172200"/>
            <a:ext cx="11155680" cy="457200"/>
          </a:xfrm>
          <a:prstGeom prst="rect">
            <a:avLst/>
          </a:prstGeom>
          <a:noFill/>
        </p:spPr>
        <p:txBody>
          <a:bodyPr wrap="square">
            <a:spAutoFit/>
          </a:bodyPr>
          <a:lstStyle/>
          <a:p>
            <a:pPr algn="l">
              <a:spcAft>
                <a:spcPts val="600"/>
              </a:spcAft>
            </a:pPr>
            <a:r>
              <a:rPr sz="1400" b="1">
                <a:solidFill>
                  <a:srgbClr val="4A468F"/>
                </a:solidFill>
                <a:latin typeface="Poppins"/>
              </a:rPr>
              <a:t>Statuses are kept deliberately distinct — the honesty of the labels is part of the company's operating discipline.</a:t>
            </a:r>
          </a:p>
        </p:txBody>
      </p:sp>
      <p:sp>
        <p:nvSpPr>
          <p:cNvPr id="17" name="TextBox 16"/>
          <p:cNvSpPr txBox="1"/>
          <p:nvPr/>
        </p:nvSpPr>
        <p:spPr>
          <a:xfrm>
            <a:off x="9966960" y="6455664"/>
            <a:ext cx="1828800" cy="329184"/>
          </a:xfrm>
          <a:prstGeom prst="rect">
            <a:avLst/>
          </a:prstGeom>
          <a:noFill/>
        </p:spPr>
        <p:txBody>
          <a:bodyPr wrap="square">
            <a:spAutoFit/>
          </a:bodyPr>
          <a:lstStyle/>
          <a:p>
            <a:pPr algn="r">
              <a:spcAft>
                <a:spcPts val="600"/>
              </a:spcAft>
            </a:pPr>
            <a:r>
              <a:rPr sz="1400" b="1">
                <a:solidFill>
                  <a:srgbClr val="4A468F"/>
                </a:solidFill>
                <a:latin typeface="Poppins"/>
              </a:rP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