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68580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Poppins"/>
              </a:rPr>
              <a:t>DIME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2D2A4A"/>
                </a:solidFill>
                <a:latin typeface="Poppins"/>
              </a:rPr>
              <a:t>One Founder. 12 Months. From Zero Code to Live Money Movement.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Poppins"/>
              </a:rPr>
              <a:t>Tim Carlisle, Founder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Poppins"/>
              </a:rPr>
              <a:t>U.S. Navy Veteran  |  MBA + MIS (UNLV)  |  Dallas, Texas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THE IDEA ERA  •  2014–2025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8800" b="1">
                <a:solidFill>
                  <a:srgbClr val="918EF4"/>
                </a:solidFill>
                <a:latin typeface="Poppins"/>
              </a:rPr>
              <a:t>11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No Funding</a:t>
            </a:r>
          </a:p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No Team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No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>
                <a:solidFill>
                  <a:srgbClr val="4A468F"/>
                </a:solidFill>
                <a:latin typeface="Poppins"/>
              </a:rPr>
              <a:t>Just an idea: redirect spare change toward DEBT, not savings.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6048" y="5349240"/>
            <a:ext cx="2286000" cy="3175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800" b="1">
                <a:solidFill>
                  <a:srgbClr val="2D2A4A"/>
                </a:solidFill>
                <a:latin typeface="Poppins"/>
              </a:rPr>
              <a:t>August 3, 2025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18EF4"/>
                </a:solidFill>
                <a:latin typeface="Poppins"/>
              </a:rPr>
              <a:t>Everything changed.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THE YEAR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1,216 commits, month by month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0904" y="3731760"/>
            <a:ext cx="548030" cy="129744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8024" y="334771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30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Aug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74824" y="2507760"/>
            <a:ext cx="548030" cy="252144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944" y="212371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206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622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Sep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8744" y="3744000"/>
            <a:ext cx="548030" cy="128520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75864" y="335995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014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Oct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42664" y="3474720"/>
            <a:ext cx="548030" cy="155448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9784" y="309067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406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Nov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584" y="3315600"/>
            <a:ext cx="548030" cy="171360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704" y="293155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98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Dec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0504" y="4772160"/>
            <a:ext cx="548030" cy="25704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624" y="438811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90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Jan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4424" y="4870080"/>
            <a:ext cx="548030" cy="15912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11544" y="448603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582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Feb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78344" y="4649760"/>
            <a:ext cx="548030" cy="37944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464" y="426571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74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Mar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2264" y="4551840"/>
            <a:ext cx="548030" cy="47736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9384" y="416779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366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Apr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46184" y="4184639"/>
            <a:ext cx="548030" cy="84456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63304" y="380059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1758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May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30104" y="3744000"/>
            <a:ext cx="548030" cy="128520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7224" y="335995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105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50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Jun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4024" y="1920240"/>
            <a:ext cx="548030" cy="31089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1144" y="1536192"/>
            <a:ext cx="91379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2D2A4A"/>
                </a:solidFill>
                <a:latin typeface="Poppins"/>
              </a:rPr>
              <a:t>254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5424" y="5084064"/>
            <a:ext cx="100523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4A468F"/>
                </a:solidFill>
                <a:latin typeface="Poppins"/>
              </a:rPr>
              <a:t>Jul</a:t>
            </a:r>
          </a:p>
        </p:txBody>
      </p:sp>
      <p:sp>
        <p:nvSpPr>
          <p:cNvPr id="41" name="Oval 40"/>
          <p:cNvSpPr/>
          <p:nvPr/>
        </p:nvSpPr>
        <p:spPr>
          <a:xfrm>
            <a:off x="1182624" y="5431536"/>
            <a:ext cx="164592" cy="164592"/>
          </a:xfrm>
          <a:prstGeom prst="ellipse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066544" y="5431536"/>
            <a:ext cx="164592" cy="164592"/>
          </a:xfrm>
          <a:prstGeom prst="ellipse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370064" y="5431536"/>
            <a:ext cx="164592" cy="164592"/>
          </a:xfrm>
          <a:prstGeom prst="ellipse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37903" y="5431536"/>
            <a:ext cx="164592" cy="164592"/>
          </a:xfrm>
          <a:prstGeom prst="ellipse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021824" y="5431536"/>
            <a:ext cx="164592" cy="164592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905744" y="5431536"/>
            <a:ext cx="164592" cy="164592"/>
          </a:xfrm>
          <a:prstGeom prst="ellipse">
            <a:avLst/>
          </a:prstGeom>
          <a:solidFill>
            <a:srgbClr val="2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22960" y="6053328"/>
            <a:ext cx="146304" cy="146304"/>
          </a:xfrm>
          <a:prstGeom prst="ellipse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First Commit</a:t>
            </a:r>
          </a:p>
        </p:txBody>
      </p:sp>
      <p:sp>
        <p:nvSpPr>
          <p:cNvPr id="49" name="Oval 48"/>
          <p:cNvSpPr/>
          <p:nvPr/>
        </p:nvSpPr>
        <p:spPr>
          <a:xfrm>
            <a:off x="2428646" y="6053328"/>
            <a:ext cx="146304" cy="146304"/>
          </a:xfrm>
          <a:prstGeom prst="ellipse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29814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Rejected 9/19</a:t>
            </a:r>
          </a:p>
        </p:txBody>
      </p:sp>
      <p:sp>
        <p:nvSpPr>
          <p:cNvPr id="51" name="Oval 50"/>
          <p:cNvSpPr/>
          <p:nvPr/>
        </p:nvSpPr>
        <p:spPr>
          <a:xfrm>
            <a:off x="4114800" y="6053328"/>
            <a:ext cx="146304" cy="146304"/>
          </a:xfrm>
          <a:prstGeom prst="ellipse">
            <a:avLst/>
          </a:prstGeom>
          <a:solidFill>
            <a:srgbClr val="E8B8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8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Mercury</a:t>
            </a:r>
          </a:p>
        </p:txBody>
      </p:sp>
      <p:sp>
        <p:nvSpPr>
          <p:cNvPr id="53" name="Oval 52"/>
          <p:cNvSpPr/>
          <p:nvPr/>
        </p:nvSpPr>
        <p:spPr>
          <a:xfrm>
            <a:off x="5318150" y="6053328"/>
            <a:ext cx="146304" cy="146304"/>
          </a:xfrm>
          <a:prstGeom prst="ellipse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19318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Stripe</a:t>
            </a:r>
          </a:p>
        </p:txBody>
      </p:sp>
      <p:sp>
        <p:nvSpPr>
          <p:cNvPr id="55" name="Oval 54"/>
          <p:cNvSpPr/>
          <p:nvPr/>
        </p:nvSpPr>
        <p:spPr>
          <a:xfrm>
            <a:off x="6441033" y="6053328"/>
            <a:ext cx="146304" cy="146304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42201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App Store LIVE</a:t>
            </a:r>
          </a:p>
        </p:txBody>
      </p:sp>
      <p:sp>
        <p:nvSpPr>
          <p:cNvPr id="57" name="Oval 56"/>
          <p:cNvSpPr/>
          <p:nvPr/>
        </p:nvSpPr>
        <p:spPr>
          <a:xfrm>
            <a:off x="8207654" y="6053328"/>
            <a:ext cx="146304" cy="146304"/>
          </a:xfrm>
          <a:prstGeom prst="ellipse">
            <a:avLst/>
          </a:prstGeom>
          <a:solidFill>
            <a:srgbClr val="2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08822" y="5943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D2A4A"/>
                </a:solidFill>
                <a:latin typeface="Poppins"/>
              </a:rPr>
              <a:t>First Real $1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1  • 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The Explosion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106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2D2A4A"/>
                </a:solidFill>
                <a:latin typeface="Poppins"/>
              </a:rPr>
              <a:t>First commit: August 3, 2025.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Core app, purple brand, and crypto round-ups — built in the FIRST WEEKEND.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By August 12: database, bank linking, PIN security, and the round-up engine.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Day 11: iPhone app development begins.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A first iOS app (“Dime Time Technologies”) starts taking shape — ~60 commits of work that won't survive the year.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2  •  SEPTEMBER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Biggest Month. First Heartbreak.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206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6035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Lavender brand locked in. Legal agreements. Analytics.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Sila Money wired up as the ACH test sandbox — then quoted $5,000/month. Never viable.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TestFlight, CI/CD pipeline, and encryption all arrive the same month.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4572000" cy="3931920"/>
          </a:xfrm>
          <a:prstGeom prst="roundRect">
            <a:avLst/>
          </a:prstGeom>
          <a:solidFill>
            <a:srgbClr val="F5F4FE"/>
          </a:solidFill>
          <a:ln w="2540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0" y="2286000"/>
            <a:ext cx="4023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2D2A4A"/>
                </a:solidFill>
                <a:latin typeface="Poppins"/>
              </a:rPr>
              <a:t>SEPTEMBER 19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4A468F"/>
                </a:solidFill>
                <a:latin typeface="Poppins"/>
              </a:rPr>
              <a:t>Founder's Birthday</a:t>
            </a:r>
          </a:p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4A468F"/>
                </a:solidFill>
                <a:latin typeface="Poppins"/>
              </a:rPr>
              <a:t>First App Submitted to Apple</a:t>
            </a:r>
          </a:p>
          <a:p>
            <a:pPr algn="ctr">
              <a:spcAft>
                <a:spcPts val="800"/>
              </a:spcAft>
            </a:pPr>
            <a:r>
              <a:rPr sz="5400" b="1">
                <a:solidFill>
                  <a:srgbClr val="D63A3A"/>
                </a:solidFill>
                <a:latin typeface="Poppins"/>
              </a:rPr>
              <a:t>REJECTED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D2A4A"/>
                </a:solidFill>
                <a:latin typeface="Poppins"/>
              </a:rPr>
              <a:t>TestFlight opened to a blank landing page. Weeks of fixes couldn't save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9C7F9"/>
                </a:solidFill>
                <a:latin typeface="Poppins"/>
              </a:rPr>
              <a:t>MONTHS 3–5  •  OCTOBER – DECEMBER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7600" b="1">
                <a:solidFill>
                  <a:srgbClr val="FFFFFF"/>
                </a:solidFill>
                <a:latin typeface="Poppins"/>
              </a:rPr>
              <a:t>372 COMMITS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</a:pPr>
            <a:r>
              <a:rPr sz="3200" b="1">
                <a:solidFill>
                  <a:srgbClr val="918EF4"/>
                </a:solidFill>
                <a:latin typeface="Poppins"/>
              </a:rPr>
              <a:t>Three Months. Complete Rebuild.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Poppins"/>
              </a:rPr>
              <a:t>First app scrapped. iOS project reborn under a new identity.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800" b="0">
                <a:solidFill>
                  <a:srgbClr val="C9C7F9"/>
                </a:solidFill>
                <a:latin typeface="Poppins"/>
              </a:rPr>
              <a:t>Certificates. Provisioning profiles. Signed builds. The exact machinery that broke the first app — rebuilt properly this time.</a:t>
            </a:r>
          </a:p>
          <a:p>
            <a:pPr algn="ctr">
              <a:spcAft>
                <a:spcPts val="600"/>
              </a:spcAft>
            </a:pPr>
            <a:r>
              <a:rPr sz="1800" b="1">
                <a:solidFill>
                  <a:srgbClr val="E8B84B"/>
                </a:solidFill>
                <a:latin typeface="Poppins"/>
              </a:rPr>
              <a:t>December's log: “Build application archive and export successfully.”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MONTHS 6–7  •  JANUARY – FEBRUARY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The Quiet Grind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34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2D2A4A"/>
                </a:solidFill>
                <a:latin typeface="Poppins"/>
              </a:rPr>
              <a:t>Lowest commit counts of the year. Highest-stakes work of the year.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Face ID + PIN app lock. Encrypted tokens. Hardened passwords. Rate limiting.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The unglamorous security work fintechs live or die on.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February 21: the first patent documentation enters the project.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2D2A4A"/>
                </a:solidFill>
                <a:latin typeface="Poppins"/>
              </a:rPr>
              <a:t>All of it built nights and weekends around a 30–40 hour/week sommelier job.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8  • 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The Bank That Said Yes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31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48840"/>
            <a:ext cx="49377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D63A3A"/>
                </a:solidFill>
                <a:latin typeface="Poppins"/>
              </a:rPr>
              <a:t>✗  Axos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49377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D63A3A"/>
                </a:solidFill>
                <a:latin typeface="Poppins"/>
              </a:rPr>
              <a:t>✗  Brex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69080"/>
            <a:ext cx="493776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D63A3A"/>
                </a:solidFill>
                <a:latin typeface="Poppins"/>
              </a:rPr>
              <a:t>✗  Two more banks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029200"/>
            <a:ext cx="4937760" cy="77724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400" b="1">
                <a:solidFill>
                  <a:srgbClr val="FFFFFF"/>
                </a:solidFill>
                <a:latin typeface="Poppins"/>
              </a:rPr>
              <a:t>✓  MERCURY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860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Business banking was a wall of rejections — until Mercury said yes.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March 28: Mercury becomes Dime Time's business bank. Sila's sandbox era ends. Plaid moves to production.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4A468F"/>
                </a:solidFill>
                <a:latin typeface="Poppins"/>
              </a:rPr>
              <a:t>The money infrastructure takes its final shape.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MONTHS 9–10  •  APRIL –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Finding the Rails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108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502920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D63A3A"/>
                </a:solidFill>
                <a:latin typeface="Poppins"/>
              </a:rPr>
              <a:t>Plaid said no.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D2A4A"/>
                </a:solidFill>
                <a:latin typeface="Poppins"/>
              </a:rPr>
              <a:t>Rejected for ACH transfers. Dwolla and others evaluated next.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029200" cy="192024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Poppins"/>
              </a:rPr>
              <a:t>Stripe said yes.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Poppins"/>
              </a:rPr>
              <a:t>May 27, 2026: payment rails secured. Money movement had a home.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D2A4A"/>
                </a:solidFill>
                <a:latin typeface="Poppins"/>
              </a:rPr>
              <a:t>Also this stretch:  D-U-N-S number  •  provisional patent drafted (USPTO-ready)  •  patent deck + business plan  •  new marketing site with legal pages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4A468F"/>
                </a:solidFill>
                <a:latin typeface="Poppins"/>
              </a:rPr>
              <a:t>And a security scare handled by the book — an internal config slip exposed an encryption key inside the project (never externally). Treated as compromised anyway: new key, every credential re-encrypted, zero user impact.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oppins"/>
              </a:rPr>
              <a:t>MONTH 11  •  JUNE 2026  •  105 COMMITS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FFFFFF"/>
                </a:solidFill>
                <a:latin typeface="Poppins"/>
              </a:rPr>
              <a:t>JUNE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D2A4A"/>
                </a:solidFill>
                <a:latin typeface="Poppins"/>
              </a:rPr>
              <a:t>DIME TIME GOES LIVE ON THE APPLE APP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700" b="0">
                <a:solidFill>
                  <a:srgbClr val="FFFFFF"/>
                </a:solidFill>
                <a:latin typeface="Poppins"/>
              </a:rPr>
              <a:t>Apple's last punch — a “duplicate app” rejection caused by the first app's ghost record — cleared through the Resolution Center.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D2A4A"/>
                </a:solidFill>
                <a:latin typeface="Poppins"/>
              </a:rPr>
              <a:t>283 days after the birthday rejection, the answer flipped to yes.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MONTH 12  • 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778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D2A4A"/>
                </a:solidFill>
                <a:latin typeface="Poppins"/>
              </a:rPr>
              <a:t>Real Money</a:t>
            </a:r>
          </a:p>
        </p:txBody>
      </p:sp>
      <p:sp>
        <p:nvSpPr>
          <p:cNvPr id="6" name="Oval 5"/>
          <p:cNvSpPr/>
          <p:nvPr/>
        </p:nvSpPr>
        <p:spPr>
          <a:xfrm>
            <a:off x="9784080" y="548640"/>
            <a:ext cx="1828800" cy="1828800"/>
          </a:xfrm>
          <a:prstGeom prst="ellipse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Poppins"/>
              </a:rPr>
              <a:t>254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Poppins"/>
              </a:rPr>
              <a:t>commits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$1.00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Real ACH debit — the founder's own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42616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7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CHASE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Pulled from a real consumer bank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0096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STRIPE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Processed on live payment 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42631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90104" y="2286000"/>
            <a:ext cx="2057400" cy="17373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MERCURY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Settled into the business bank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880360"/>
            <a:ext cx="42062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40112" y="2286000"/>
            <a:ext cx="2057400" cy="173736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Poppins"/>
              </a:rPr>
              <a:t>PROVEN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Poppins"/>
              </a:rPr>
              <a:t>“DIME TIME LLC” on a real bank 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4A468F"/>
                </a:solidFill>
                <a:latin typeface="Poppins"/>
              </a:rPr>
              <a:t>July 7–8: initiated  •  July 13–14: settled  •  July 21: $0.99 payout confirmed in Mercury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D2A4A"/>
                </a:solidFill>
                <a:latin typeface="Poppins"/>
              </a:rPr>
              <a:t>Also this month: v1.0.5 approved &amp; live on the App Store, Google Play account opened, admin money controls, automatic debt import built.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2D2A4A"/>
                </a:solidFill>
                <a:latin typeface="Poppins"/>
              </a:rPr>
              <a:t>The machine works — proven bank-to-bank with real money, 351 days after the first commit.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9C7F9"/>
                </a:solidFill>
                <a:latin typeface="Poppins"/>
              </a:rPr>
              <a:t>WHY DIME TIME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55448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200"/>
              </a:spcAft>
            </a:pPr>
            <a:r>
              <a:rPr sz="3400" b="1">
                <a:solidFill>
                  <a:srgbClr val="FFFFFF"/>
                </a:solidFill>
                <a:latin typeface="Poppins"/>
              </a:rPr>
              <a:t>Americans carry trillions of dollars of consumer debt.</a:t>
            </a:r>
          </a:p>
          <a:p>
            <a:pPr algn="ctr">
              <a:spcAft>
                <a:spcPts val="2200"/>
              </a:spcAft>
            </a:pPr>
            <a:r>
              <a:rPr sz="2600" b="0">
                <a:solidFill>
                  <a:srgbClr val="C9C7F9"/>
                </a:solidFill>
                <a:latin typeface="Poppins"/>
              </a:rPr>
              <a:t>Most financial apps help people save.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918EF4"/>
                </a:solidFill>
                <a:latin typeface="Poppins"/>
              </a:rPr>
              <a:t>Dime Time was built to help people owe less.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THE GAUNTLET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Every rejection was a redirect.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20240"/>
            <a:ext cx="5029200" cy="4206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6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D63A3A"/>
                </a:solidFill>
                <a:latin typeface="Poppins"/>
              </a:rPr>
              <a:t>NO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Apple — birthday submission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Sila — $5,000/month pricing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Plaid — ACH transfers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Axos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Brex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2D2A4A"/>
                </a:solidFill>
                <a:latin typeface="Poppins"/>
              </a:rPr>
              <a:t>✗  Two more banks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5029200" cy="4206240"/>
          </a:xfrm>
          <a:prstGeom prst="roundRect">
            <a:avLst/>
          </a:prstGeom>
          <a:solidFill>
            <a:srgbClr val="2E9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148840"/>
            <a:ext cx="4389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Poppins"/>
              </a:rPr>
              <a:t>YES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Mercury — business banking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Stripe — payment rails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Apple — June 29, 2026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USPTO — provisional patent filed (pending)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Poppins"/>
              </a:rPr>
              <a:t>✓  The first real dollar —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DIME-TIME.COM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The Storefront Before the Store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Aug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2011679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Website live with the lavender brand — two weeks after the first commit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70632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Sep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816351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Privacy policy, Google Analytics, veteran-owned badges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75303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Oct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3621023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QR codes handed out at a finance conference — before the app existed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379976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4425696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Full marketing site: FAQ, legal pages, bot-protected contact 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184648"/>
            <a:ext cx="1554480" cy="621792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Poppins"/>
              </a:rPr>
              <a:t>Jul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5230368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SEO + AI-readable guides — built to be found by Google AND 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264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4A468F"/>
                </a:solidFill>
                <a:latin typeface="Poppins"/>
              </a:rPr>
              <a:t>The storefront existed before the store — and it was already measuring visitors.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Poppins"/>
              </a:rPr>
              <a:t>BY THE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1,216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commits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463040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35,000+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lines of code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1463040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12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months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77639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founder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3977639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$0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raised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977639"/>
            <a:ext cx="3017520" cy="2103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>
                <a:solidFill>
                  <a:srgbClr val="4A468F"/>
                </a:solidFill>
                <a:latin typeface="Poppins"/>
              </a:rPr>
              <a:t>1</a:t>
            </a:r>
          </a:p>
          <a:p>
            <a:pPr algn="ctr"/>
            <a:r>
              <a:rPr sz="1800">
                <a:solidFill>
                  <a:srgbClr val="2D2A4A"/>
                </a:solidFill>
                <a:latin typeface="Poppins"/>
              </a:rPr>
              <a:t>live fintech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Poppins"/>
              </a:rPr>
              <a:t>Built while working 30–40 hours a week on his feet.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A468F"/>
                </a:solidFill>
                <a:latin typeface="Poppin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D2A4A"/>
                </a:solidFill>
                <a:latin typeface="Poppins"/>
              </a:rPr>
              <a:t>The road from here is measured in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103120" cy="128016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2D2A4A"/>
                </a:solidFill>
                <a:latin typeface="Poppins"/>
              </a:rPr>
              <a:t>100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99232" y="2743200"/>
            <a:ext cx="2103120" cy="1280160"/>
          </a:xfrm>
          <a:prstGeom prst="roundRect">
            <a:avLst/>
          </a:prstGeom>
          <a:solidFill>
            <a:srgbClr val="C9C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2D2A4A"/>
                </a:solidFill>
                <a:latin typeface="Poppins"/>
              </a:rPr>
              <a:t>1,000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7488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58384" y="2743200"/>
            <a:ext cx="2103120" cy="12801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National Launch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17536" y="2743200"/>
            <a:ext cx="2103120" cy="1280160"/>
          </a:xfrm>
          <a:prstGeom prst="roundRect">
            <a:avLst/>
          </a:prstGeom>
          <a:solidFill>
            <a:srgbClr val="918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Institution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65792" y="3063240"/>
            <a:ext cx="3840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D2A4A"/>
                </a:solidFill>
                <a:latin typeface="Poppin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76688" y="2743200"/>
            <a:ext cx="2103120" cy="1280160"/>
          </a:xfrm>
          <a:prstGeom prst="round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>
                <a:solidFill>
                  <a:srgbClr val="FFFFFF"/>
                </a:solidFill>
                <a:latin typeface="Poppins"/>
              </a:rPr>
              <a:t>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2D2A4A"/>
                </a:solidFill>
                <a:latin typeface="Poppins"/>
              </a:rPr>
              <a:t>In motion now: Google Play launch prep  •  Stripe Financial Connections &amp; Plaid Liabilities under review  •  first paying subscribers ($2.99/mo)  •  the public launch announcement.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4A468F"/>
                </a:solidFill>
                <a:latin typeface="Poppins"/>
              </a:rPr>
              <a:t>Positioning: a case study in building a regulated fintech from scratch — while working full-time.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Poppins"/>
              </a:rPr>
              <a:t>Built by one person.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C9C7F9"/>
                </a:solidFill>
                <a:latin typeface="Poppins"/>
              </a:rPr>
              <a:t>Nights.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C9C7F9"/>
                </a:solidFill>
                <a:latin typeface="Poppins"/>
              </a:rPr>
              <a:t>Weekends.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Poppins"/>
              </a:rPr>
              <a:t>Seven rejections.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918EF4"/>
                </a:solidFill>
                <a:latin typeface="Poppins"/>
              </a:rPr>
              <a:t>Still launched.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Poppins"/>
              </a:rPr>
              <a:t>dime-time.com   |   Available on the App Store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