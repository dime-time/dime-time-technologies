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t-gly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91440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33172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</a:rPr>
              <a:t>Get out of debt, one dime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6048" y="5074920"/>
            <a:ext cx="2286000" cy="15240"/>
          </a:xfrm>
          <a:prstGeom prst="rect">
            <a:avLst/>
          </a:prstGeom>
          <a:solidFill>
            <a:srgbClr val="BDB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Tim Carlisle · 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A U T O M A T E D     D E B T     R E D U C T I O N     T H R O U G H     E V E R Y D A Y     S P E N D I N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H E     P R O B L E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Americans Are Drowning in Debt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</a:rPr>
              <a:t>$18.8T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U . S .     H O U S E H O L D     D E B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566160"/>
            <a:ext cx="6309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$1.25T of it is credit-card debt — the segment Dime Time attacks first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People intend to pay down debt — but don't follow through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Manual extra payments require discipline most users don't maintain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FFFFFF"/>
                </a:solidFill>
              </a:rPr>
              <a:t>•  Financial stress is rising across all generations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920240"/>
            <a:ext cx="4114800" cy="3657600"/>
          </a:xfrm>
          <a:prstGeom prst="roundRect">
            <a:avLst>
              <a:gd name="adj" fmla="val 875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W H Y     N O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69748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</a:rPr>
              <a:t>91%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of U.S. adults own a smartphone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343400"/>
            <a:ext cx="347472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5262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</a:rPr>
              <a:t>Plaid, ACH rails and mobile banking now make fully automated debt repayment possible.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978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C7F9"/>
                </a:solidFill>
              </a:rPr>
              <a:t>Sources: Federal Reserve Bank of New York, Household Debt &amp; Credit Report Q1 2026 (released May 2026) · Pew Research Center, Mobile Fact Sheet 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S O L U T I O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Automated Debt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7315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Every purchase is rounded up automatically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Users control how their spare change is allocated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Round-ups accumulate, then fund user-authorized ACH debt payments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</a:rPr>
              <a:t>•  No willpower required — it works quietly in the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120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Round-ups are batched and transferred on a schedule the user approves — money does not move on every individual purchase.</a:t>
            </a:r>
          </a:p>
        </p:txBody>
      </p:sp>
      <p:pic>
        <p:nvPicPr>
          <p:cNvPr id="7" name="Picture 6" descr="01-dashboard-i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234440"/>
            <a:ext cx="2384784" cy="4892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B R E A K T H R O U G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Dynamic Allocation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6276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</a:rPr>
              <a:t>Automated allocation from every transaction.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2697480" cy="10515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4A468F"/>
                </a:solidFill>
              </a:rPr>
              <a:t>R O U N D - U P     E X A M P L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4436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4A468F"/>
                </a:solidFill>
              </a:rPr>
              <a:t>$0.37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5120640" cy="1234440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31343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</a:rPr>
              <a:t>Debt Repayment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primary debt payoff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40487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80%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990088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R O V E N     I N     C O N T R O L L E D     L I V E     T E S 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5120640" cy="1234440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867911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</a:rPr>
              <a:t>Bitcoin (Coinbase)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long-term wealth — not yet available to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3959352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544568"/>
            <a:ext cx="155448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9C7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L A N N E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49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•  Real-time allocation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5349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•  User-controlled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3492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</a:rPr>
              <a:t>•  Payments execute over ACH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9893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9E8FD"/>
                </a:solidFill>
              </a:rPr>
              <a:t>Patent-pending allocation workflow · Real transfers roll out with public bank linking.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H E     P R O D U C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</a:rPr>
              <a:t>Live Product — Real Financial Movement</a:t>
            </a:r>
          </a:p>
        </p:txBody>
      </p:sp>
      <p:pic>
        <p:nvPicPr>
          <p:cNvPr id="5" name="Picture 4" descr="01-dashboard-i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1716153" cy="3520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Live dashboard</a:t>
            </a:r>
          </a:p>
        </p:txBody>
      </p:sp>
      <p:pic>
        <p:nvPicPr>
          <p:cNvPr id="7" name="Picture 6" descr="02-debts-i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2367" y="1828800"/>
            <a:ext cx="1716153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30887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Debt tracking</a:t>
            </a:r>
          </a:p>
        </p:txBody>
      </p:sp>
      <p:pic>
        <p:nvPicPr>
          <p:cNvPr id="9" name="Picture 8" descr="03-roundups-i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174" y="1828800"/>
            <a:ext cx="1716153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21694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Round-ups</a:t>
            </a:r>
          </a:p>
        </p:txBody>
      </p:sp>
      <p:pic>
        <p:nvPicPr>
          <p:cNvPr id="11" name="Picture 10" descr="04-insights-i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981" y="1828800"/>
            <a:ext cx="1716153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12501" y="5486400"/>
            <a:ext cx="253911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94360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C9C7F9"/>
                </a:solidFill>
              </a:rPr>
              <a:t>Actual v1.0.5 App Store screenshots — live on the Apple App Store, July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M A R K E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Market Opportunity, Built Bottom-Up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4297680" cy="3566160"/>
          </a:xfrm>
          <a:prstGeom prst="roundRect">
            <a:avLst>
              <a:gd name="adj" fmla="val 8974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 A R K E T     C O N T E X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</a:rPr>
              <a:t>$18.8T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FFFFFF"/>
                </a:solidFill>
              </a:rPr>
              <a:t>U.S. household debt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</a:rPr>
              <a:t>$1.25T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</a:rPr>
              <a:t>credit-card balances — our first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983480"/>
            <a:ext cx="3703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</a:rPr>
              <a:t>Context for the size of the problem — not our revenue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01168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 U B S C R I P T I O N     R E V E N U E     A T     $ 2 . 9 9     /     M O N T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514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1,400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264261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E9E8FD"/>
                </a:solidFill>
              </a:rPr>
              <a:t>paying subscribers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694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$50,232 ARR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3081528"/>
            <a:ext cx="6126480" cy="12700"/>
          </a:xfrm>
          <a:prstGeom prst="rect">
            <a:avLst/>
          </a:prstGeom>
          <a:solidFill>
            <a:srgbClr val="B8B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3355848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5,600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48386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E9E8FD"/>
                </a:solidFill>
              </a:rPr>
              <a:t>paying subscribers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34107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$200,928 ARR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922776"/>
            <a:ext cx="6126480" cy="12700"/>
          </a:xfrm>
          <a:prstGeom prst="rect">
            <a:avLst/>
          </a:prstGeom>
          <a:solidFill>
            <a:srgbClr val="B8B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0680" y="4197096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25,000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43251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E9E8FD"/>
                </a:solidFill>
              </a:rPr>
              <a:t>paying subscribers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25195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$897,000 ARR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4764024"/>
            <a:ext cx="6126480" cy="12700"/>
          </a:xfrm>
          <a:prstGeom prst="rect">
            <a:avLst/>
          </a:prstGeom>
          <a:solidFill>
            <a:srgbClr val="B8B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5084064"/>
            <a:ext cx="6126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Subscriber counts are illustrative milestones — targets, not forecasts. ARR = subscribers × $2.99 ×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978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</a:rPr>
              <a:t>Source: Federal Reserve Bank of New York, Household Debt &amp; Credit Report Q1 2026 (released May 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B U S I N E S S     M O D E 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Simple, Scalable Revenue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3529584" cy="3383280"/>
          </a:xfrm>
          <a:prstGeom prst="roundRect">
            <a:avLst>
              <a:gd name="adj" fmla="val 9459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103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C O R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" y="2487168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B U I L T     ·     F E A T U R E - G A T E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907792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</a:rPr>
              <a:t>$2.99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per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" y="3977639"/>
            <a:ext cx="292608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114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Round-up automation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Debt-first allocation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Progress tracking &amp;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1828800"/>
            <a:ext cx="3529584" cy="3383280"/>
          </a:xfrm>
          <a:prstGeom prst="roundRect">
            <a:avLst>
              <a:gd name="adj" fmla="val 9459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103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 R 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0016" y="2487168"/>
            <a:ext cx="128016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9C7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L A N N E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907792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</a:rPr>
              <a:t>$3.99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per 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0016" y="3977639"/>
            <a:ext cx="292608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Enhanced allocation controls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Advanced analytics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Deeper 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7" y="1828800"/>
            <a:ext cx="3529584" cy="3383280"/>
          </a:xfrm>
          <a:prstGeom prst="roundRect">
            <a:avLst>
              <a:gd name="adj" fmla="val 9459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5" y="2103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 R E M I U 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9055" y="2487168"/>
            <a:ext cx="128016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9C7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P L A N N E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5" y="2907792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400" b="1">
                <a:solidFill>
                  <a:srgbClr val="FFFFFF"/>
                </a:solidFill>
              </a:rPr>
              <a:t>$4.99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per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9055" y="3977639"/>
            <a:ext cx="292608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5" y="41148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Faster transfer options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Multiple funding accounts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•  Priority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C9C7F9"/>
                </a:solidFill>
              </a:rPr>
              <a:t>Core launches with the public rollout; higher tiers add speed, flexibility and multiple accounts as usage deepens.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89788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B98C4"/>
                </a:solidFill>
              </a:rPr>
              <a:t>Subscription model drives predictable recurring revenue.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C O M P E T I T I O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A Capability Gap in the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874519"/>
            <a:ext cx="1828800" cy="3273552"/>
          </a:xfrm>
          <a:prstGeom prst="roundRect">
            <a:avLst>
              <a:gd name="adj" fmla="val 8000"/>
            </a:avLst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9385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DIME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3852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918EF4"/>
                </a:solidFill>
              </a:rPr>
              <a:t>ROUND-UP 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918EF4"/>
                </a:solidFill>
              </a:rPr>
              <a:t>DEBT 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938528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918EF4"/>
                </a:solidFill>
              </a:rPr>
              <a:t>BUDGETING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Purchase round-ups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95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Often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3957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Limited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834640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626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Automated debt payments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96265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6265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Rare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9626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96265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401568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5295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User-controlled 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2958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5295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2958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Limited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35295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68496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965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Real ACH execution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0965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096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0965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Varies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096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535424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63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Debt-first 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663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6344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663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Yes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66344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102352"/>
            <a:ext cx="10835640" cy="1016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458968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Dime Time combines automated round-ups, debt-first allocation and real ACH execution in one product.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5797296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B98C4"/>
                </a:solidFill>
              </a:rPr>
              <a:t>Categories: round-up savings apps, debt-paydown apps, budgeting and financial-wellness apps.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D E F E N S I B I L I T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Built to Be Difficult to Replicate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Patent-pending dynamic allocation workflow (USPTO provisional filed)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Production ACH infrastructure — real bank-to-bank loop already proven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Compliance and partner-approval track record with regulated providers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Repayment-behavior data advantage as the user base grows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</a:rPr>
              <a:t>•  Debt-first brand, user trust and future distribution partnerships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057400"/>
            <a:ext cx="4709160" cy="3429000"/>
          </a:xfrm>
          <a:prstGeom prst="roundRect">
            <a:avLst/>
          </a:prstGeom>
          <a:noFill/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 N F R A S T R U C T U R E     S T A C 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4032" y="2788920"/>
            <a:ext cx="4206240" cy="80467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FFFFFF"/>
                </a:solidFill>
              </a:rPr>
              <a:t>PLAID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Bank connections &amp; verification — production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4032" y="3703320"/>
            <a:ext cx="4206240" cy="80467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FFFFFF"/>
                </a:solidFill>
              </a:rPr>
              <a:t>STRIPE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ACH rails; Financial Connections under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14032" y="4617720"/>
            <a:ext cx="4206240" cy="804672"/>
          </a:xfrm>
          <a:prstGeom prst="roundRect">
            <a:avLst/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FFFFFF"/>
                </a:solidFill>
              </a:rPr>
              <a:t>MERCURY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Business banking &amp; payout destination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596128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</a:rPr>
              <a:t>Partner names indicate service relationships, not endorsements.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89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Proprietary workflow design + production financial infrastructure + partner approvals + a debt-first consumer brand.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G O - T O - M A R K E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Focused Launch. Measurable Growth.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5257800" cy="15544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057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W H O     W E     S E R V E     F I R S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423160"/>
            <a:ext cx="4709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</a:rPr>
              <a:t>Mobile-first consumers carrying credit-card debt who want to make extra payments but struggle with consistency.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566160"/>
            <a:ext cx="5257800" cy="237744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376732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L A U N C H     S E Q U E N C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11480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1.  Activate public bank linking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2.  Founder-led launch communications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3.  Acquire a controlled first cohort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4.  Measure activation, retention, ACH volume, conversion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</a:rPr>
              <a:t>5.  Concentrate spend on channels that prove efficient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257800" cy="4114800"/>
          </a:xfrm>
          <a:prstGeom prst="roundRect">
            <a:avLst>
              <a:gd name="adj" fmla="val 7777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057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I N I T I A L     C H A N N E L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4688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Founder-led LinkedIn and earned media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Veteran and military communities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Financial-wellness creators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University and young-professional communities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Employer financial-wellness partnerships</a:t>
            </a:r>
          </a:p>
          <a:p>
            <a:pPr algn="l">
              <a:spcAft>
                <a:spcPts val="1200"/>
              </a:spcAft>
            </a:pPr>
            <a:r>
              <a:rPr sz="1250" b="0">
                <a:solidFill>
                  <a:srgbClr val="FFFFFF"/>
                </a:solidFill>
              </a:rPr>
              <a:t>•  Referral incentives once retention is validated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08192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C9C7F9"/>
                </a:solidFill>
              </a:rPr>
              <a:t>No paid-spend assumptions — channels are validated before scaling. All growth figures will be reported, not projected.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R A C T I O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Live App. Real Money Moved.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3529584" cy="22402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S T A T U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Live on the Apple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App Store — v1.0.5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approved July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920240"/>
            <a:ext cx="3529584" cy="22402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7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M O N E Y     L O O 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7" y="25603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$1.00 ACH via Stripe;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$0.99 payout in Mercury —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proven bank-to-bank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7" y="1920240"/>
            <a:ext cx="3529584" cy="2240280"/>
          </a:xfrm>
          <a:prstGeom prst="roundRect">
            <a:avLst>
              <a:gd name="adj" fmla="val 12000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7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18EF4"/>
                </a:solidFill>
              </a:rPr>
              <a:t>P I P E L I N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7" y="256032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Google Play, bank linking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&amp; debt import awaiting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</a:rPr>
              <a:t>partner approvals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U S E R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1215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L I N K E D     A C C O U N T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1215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T R A N S A C T I O N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V O L U M 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2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918EF4"/>
                </a:solidFill>
              </a:rPr>
              <a:t>D E B T     R E D U C E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4864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</a:rPr>
              <a:t>Public launch</a:t>
            </a:r>
          </a:p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L I V E     O N     T H E     A P P     S T O R E         ·         V 1 . 0 . 5         ·         B U I L D     2 0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606247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C9C7F9"/>
                </a:solidFill>
              </a:rPr>
              <a:t>No user metrics are reported until public launch — nothing on this slide is estimated.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T H E     T E A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Focused on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737360"/>
            <a:ext cx="7589520" cy="3566160"/>
          </a:xfrm>
          <a:prstGeom prst="roundRect">
            <a:avLst>
              <a:gd name="adj" fmla="val 8974"/>
            </a:avLst>
          </a:prstGeom>
          <a:solidFill>
            <a:srgbClr val="2B274E"/>
          </a:solidFill>
          <a:ln w="12700">
            <a:solidFill>
              <a:srgbClr val="4A4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97480" y="2103120"/>
            <a:ext cx="1234440" cy="123444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96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</a:rPr>
              <a:t>Tim Carlisle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880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F O U N D E R     &amp;     C E 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3611880"/>
            <a:ext cx="67665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3794760"/>
            <a:ext cx="6766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U.S. Navy veteran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MBA • Graduate degree in Management Information Systems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Designed, built and shipped Dime Time end-to-end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</a:rPr>
              <a:t>•  Built with Plaid and Stripe ACH; payout rails verified through Mercury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C7F9"/>
                </a:solidFill>
              </a:rPr>
              <a:t>Solo founder who designed, built and launched a production fintech application with working ACH infrastructure.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T H E     R A I S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$150K to Launch and Prove 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3108960" cy="1170432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8483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R A I S I N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</a:rPr>
              <a:t>$150,000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73552"/>
            <a:ext cx="3108960" cy="1170432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381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I N S T R U M E N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30752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Post-money 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26864"/>
            <a:ext cx="3108960" cy="1170432"/>
          </a:xfrm>
          <a:prstGeom prst="roundRect">
            <a:avLst>
              <a:gd name="adj" fmla="val 12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914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E S T .     R U N W A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84064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</a:rPr>
              <a:t>~12 months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965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 S E     O F     F U N D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42316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96312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</a:rPr>
              <a:t>Marketing &amp; user acquisition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898648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06240" y="2898648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331927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392424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</a:rPr>
              <a:t>Founder compensation &amp; operating runway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3794760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0" y="3794760"/>
            <a:ext cx="301752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4215383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288536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</a:rPr>
              <a:t>Engineering &amp; contractor support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690871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06240" y="4690871"/>
            <a:ext cx="251460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5111496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18464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</a:rPr>
              <a:t>Compliance, infra &amp; operations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5586983"/>
            <a:ext cx="3520440" cy="146304"/>
          </a:xfrm>
          <a:prstGeom prst="roundRect">
            <a:avLst>
              <a:gd name="adj" fmla="val 50000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06240" y="5586983"/>
            <a:ext cx="100584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2440" y="1920240"/>
            <a:ext cx="3456432" cy="3977639"/>
          </a:xfrm>
          <a:prstGeom prst="roundRect">
            <a:avLst>
              <a:gd name="adj" fmla="val 9259"/>
            </a:avLst>
          </a:prstGeom>
          <a:solidFill>
            <a:srgbClr val="A4A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 I L E S T O N E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560320"/>
            <a:ext cx="2971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Launch publicly on iOS and Android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Prove repeatable customer acquisition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Reach an initial paying-subscriber target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Demonstrate recurring ACH payment volume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FFFFFF"/>
                </a:solidFill>
              </a:rPr>
              <a:t>•  Set up a larger seed round with measurable traction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12648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E9E8FD"/>
                </a:solidFill>
              </a:rPr>
              <a:t>SAFE terms available on request. Allocation percentages total 100%.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E9E8FD"/>
                </a:solidFill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A P P E N D I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</a:rPr>
              <a:t>Company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C O M P A N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4884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Dime Time Technologies LLC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51760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F O U N D E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2608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Tim Carlisle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429000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W E B S I T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03320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dime-time.com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06240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18EF4"/>
                </a:solidFill>
              </a:rPr>
              <a:t>E M A I 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480559"/>
            <a:ext cx="6949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tim@dime-time.com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983479"/>
            <a:ext cx="10881360" cy="127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6455664"/>
            <a:ext cx="384048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 I M E     T I M 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55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C9C7F9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endix-ip-1-pa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endix-ip-2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endix-ip-3-ip-cla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