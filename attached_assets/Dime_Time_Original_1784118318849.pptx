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y="5143500" cx="9144000"/>
  <p:notesSz cx="6858000" cy="9144000"/>
  <p:embeddedFontLst>
    <p:embeddedFont>
      <p:font typeface="Robot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049C463-21AF-4B21-A9D0-8BF4301C2F2E}">
  <a:tblStyle styleId="{8049C463-21AF-4B21-A9D0-8BF4301C2F2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Roboto-regular.fntdata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font" Target="fonts/Roboto-italic.fntdata"/><Relationship Id="rId10" Type="http://schemas.openxmlformats.org/officeDocument/2006/relationships/slide" Target="slides/slide3.xml"/><Relationship Id="rId32" Type="http://schemas.openxmlformats.org/officeDocument/2006/relationships/font" Target="fonts/Roboto-bold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34" Type="http://schemas.openxmlformats.org/officeDocument/2006/relationships/font" Target="fonts/Roboto-boldItalic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b2c7dc587e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b2c7dc587e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b2c7dc587e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b2c7dc587e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b2c7dc587e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b2c7dc587e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b2c7dc587e_0_25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b2c7dc587e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b2c7dc587e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b2c7dc587e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b2c7dc587e_0_27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b2c7dc587e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b2c7dc587e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b2c7dc587e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b2c7dc587e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b2c7dc587e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b2c7dc587e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b2c7dc587e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b2c7dc587e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b2c7dc587e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b2c7dc587e_0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b2c7dc587e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b2c7dc587e_0_3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b2c7dc587e_0_3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b2c7dc587e_0_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b2c7dc587e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b2c7dc587e_0_32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b2c7dc587e_0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b2c7dc587e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b2c7dc587e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b2c7dc587e_0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b2c7dc587e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b2c7dc587e_0_3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b2c7dc587e_0_3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b2c7dc587e_0_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b2c7dc587e_0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b2c7dc587e_0_35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b2c7dc587e_0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b2c7dc587e_0_36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b2c7dc587e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b2c7dc587e_0_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b2c7dc587e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b2c7dc587e_0_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b2c7dc587e_0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b2c7dc587e_0_3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b2c7dc587e_0_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4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6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7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7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5" name="Google Shape;75;p1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8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8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0" name="Google Shape;80;p1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9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9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9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5" name="Google Shape;85;p19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6" name="Google Shape;86;p1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0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89" name="Google Shape;89;p2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1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1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4" name="Google Shape;94;p21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5" name="Google Shape;95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2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2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2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2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101" name="Google Shape;101;p2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3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4" name="Google Shape;104;p23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5" name="Google Shape;105;p2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facebook.com/Dime-Time-2111544535596211" TargetMode="External"/><Relationship Id="rId4" Type="http://schemas.openxmlformats.org/officeDocument/2006/relationships/hyperlink" Target="https://www.linkedin.com/in/tim-carlisle-64334233/" TargetMode="External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invis.io/NRNHAMJQZX3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newyorkfed.org/microeconomics/hhdc.html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qz.com/1280927/us-household-debt-has-hit-an-all-time-high-of-13-2-trillion/" TargetMode="External"/><Relationship Id="rId4" Type="http://schemas.openxmlformats.org/officeDocument/2006/relationships/hyperlink" Target="https://www.statista.com/topics/2711/us-smartphone-market/" TargetMode="External"/><Relationship Id="rId5" Type="http://schemas.openxmlformats.org/officeDocument/2006/relationships/hyperlink" Target="https://www.statista.com/statistics/245399/number-of-debit-cards-in-the-united-states-in-millions/" TargetMode="External"/><Relationship Id="rId6" Type="http://schemas.openxmlformats.org/officeDocument/2006/relationships/hyperlink" Target="https://bankingjournal.aba.com/2019/08/digital-transactions-driving-growth-in-debit-survey-shows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cnbc.com/select/average-american-debt-by-age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aws.amazon.com/s3/" TargetMode="External"/><Relationship Id="rId4" Type="http://schemas.openxmlformats.org/officeDocument/2006/relationships/hyperlink" Target="https://plaid.com/security/" TargetMode="External"/><Relationship Id="rId5" Type="http://schemas.openxmlformats.org/officeDocument/2006/relationships/hyperlink" Target="https://www.digicert.com/ssl/" TargetMode="External"/><Relationship Id="rId6" Type="http://schemas.openxmlformats.org/officeDocument/2006/relationships/hyperlink" Target="https://dreamrlabs.co" TargetMode="External"/><Relationship Id="rId7" Type="http://schemas.openxmlformats.org/officeDocument/2006/relationships/image" Target="../media/image1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plaid.com" TargetMode="External"/><Relationship Id="rId4" Type="http://schemas.openxmlformats.org/officeDocument/2006/relationships/image" Target="../media/image16.png"/><Relationship Id="rId5" Type="http://schemas.openxmlformats.org/officeDocument/2006/relationships/hyperlink" Target="https://plaid.com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plaid.com" TargetMode="External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aws.amazon.com" TargetMode="External"/><Relationship Id="rId4" Type="http://schemas.openxmlformats.org/officeDocument/2006/relationships/hyperlink" Target="https://aws.amazon.com/s3/" TargetMode="External"/><Relationship Id="rId5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research.aimultiple.com/data-marketplace/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www.chase.com/investments/sweep-options-yields" TargetMode="External"/><Relationship Id="rId4" Type="http://schemas.openxmlformats.org/officeDocument/2006/relationships/hyperlink" Target="https://www.chase.com/personal/investments/sweep-options-yields" TargetMode="External"/><Relationship Id="rId5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www.creditcards.com/credit-card-news/help/micropayments-cut-down-credit-card-debt-6000.php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www.statista.com/statistics/247614/number-of-monthly-active-facebook-users-worldwide/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hyperlink" Target="https://www.facebook.com/Dime-Time-2111544535596211/insights/?referrer=page_insights_tab_button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Relationship Id="rId4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www.gochanged.com" TargetMode="External"/><Relationship Id="rId4" Type="http://schemas.openxmlformats.org/officeDocument/2006/relationships/hyperlink" Target="https://www.linkedin.com/in/danstelmach/" TargetMode="External"/><Relationship Id="rId5" Type="http://schemas.openxmlformats.org/officeDocument/2006/relationships/hyperlink" Target="https://www.gochanged.com" TargetMode="External"/><Relationship Id="rId6" Type="http://schemas.openxmlformats.org/officeDocument/2006/relationships/image" Target="../media/image10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qoins.io" TargetMode="External"/><Relationship Id="rId4" Type="http://schemas.openxmlformats.org/officeDocument/2006/relationships/hyperlink" Target="https://www.linkedin.com/in/christianzim/" TargetMode="External"/><Relationship Id="rId5" Type="http://schemas.openxmlformats.org/officeDocument/2006/relationships/image" Target="../media/image19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jpg"/><Relationship Id="rId4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www.linkedin.com/in/tim-carlisle-64334233" TargetMode="External"/><Relationship Id="rId4" Type="http://schemas.openxmlformats.org/officeDocument/2006/relationships/hyperlink" Target="https://www.linkedin.com/in/chris-adams-7580ba112/" TargetMode="External"/><Relationship Id="rId5" Type="http://schemas.openxmlformats.org/officeDocument/2006/relationships/hyperlink" Target="https://www.linkedin.com/mynetwork/invite-sent/ian-jay-76381920/?isSendInvite=true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Relationship Id="rId4" Type="http://schemas.openxmlformats.org/officeDocument/2006/relationships/image" Target="../media/image8.png"/><Relationship Id="rId5" Type="http://schemas.openxmlformats.org/officeDocument/2006/relationships/image" Target="../media/image22.png"/><Relationship Id="rId6" Type="http://schemas.openxmlformats.org/officeDocument/2006/relationships/image" Target="../media/image1.png"/><Relationship Id="rId7" Type="http://schemas.openxmlformats.org/officeDocument/2006/relationships/hyperlink" Target="https://invis.io/NRNHAMJQZX3" TargetMode="External"/><Relationship Id="rId8" Type="http://schemas.openxmlformats.org/officeDocument/2006/relationships/hyperlink" Target="https://invis.io/NRNHAMJQZX3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0B8FF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5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hlinkClick r:id="rId3"/>
              </a:rPr>
              <a:t>Dime Time</a:t>
            </a:r>
            <a:endParaRPr/>
          </a:p>
        </p:txBody>
      </p:sp>
      <p:sp>
        <p:nvSpPr>
          <p:cNvPr id="113" name="Google Shape;113;p25"/>
          <p:cNvSpPr txBox="1"/>
          <p:nvPr>
            <p:ph idx="1" type="subTitle"/>
          </p:nvPr>
        </p:nvSpPr>
        <p:spPr>
          <a:xfrm>
            <a:off x="390525" y="2789114"/>
            <a:ext cx="8222100" cy="129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Get out of debt, one dime at a time.</a:t>
            </a:r>
            <a:endParaRPr sz="14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A fintech app by: </a:t>
            </a:r>
            <a:r>
              <a:rPr lang="en" sz="1400" u="sng">
                <a:solidFill>
                  <a:srgbClr val="FFFFFF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Tim Carlisle</a:t>
            </a:r>
            <a:endParaRPr sz="14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pic>
        <p:nvPicPr>
          <p:cNvPr id="114" name="Google Shape;114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43550" y="406075"/>
            <a:ext cx="2197950" cy="433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0B8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6"/>
          <p:cNvSpPr/>
          <p:nvPr/>
        </p:nvSpPr>
        <p:spPr>
          <a:xfrm>
            <a:off x="3476550" y="1555500"/>
            <a:ext cx="2190900" cy="2032500"/>
          </a:xfrm>
          <a:prstGeom prst="ellipse">
            <a:avLst/>
          </a:prstGeom>
          <a:solidFill>
            <a:srgbClr val="B0B8FF"/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" name="Google Shape;120;p26"/>
          <p:cNvSpPr/>
          <p:nvPr/>
        </p:nvSpPr>
        <p:spPr>
          <a:xfrm>
            <a:off x="371800" y="242850"/>
            <a:ext cx="2190900" cy="2032500"/>
          </a:xfrm>
          <a:prstGeom prst="ellipse">
            <a:avLst/>
          </a:prstGeom>
          <a:solidFill>
            <a:srgbClr val="B0B8FF"/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Revenue generated by interest.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1" name="Google Shape;121;p26"/>
          <p:cNvSpPr/>
          <p:nvPr/>
        </p:nvSpPr>
        <p:spPr>
          <a:xfrm>
            <a:off x="371800" y="2841225"/>
            <a:ext cx="2190900" cy="2032500"/>
          </a:xfrm>
          <a:prstGeom prst="ellipse">
            <a:avLst/>
          </a:prstGeom>
          <a:solidFill>
            <a:srgbClr val="B0B8FF"/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Monetized by subscription.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2" name="Google Shape;122;p26"/>
          <p:cNvSpPr/>
          <p:nvPr/>
        </p:nvSpPr>
        <p:spPr>
          <a:xfrm>
            <a:off x="6581300" y="242850"/>
            <a:ext cx="2190900" cy="2032500"/>
          </a:xfrm>
          <a:prstGeom prst="ellipse">
            <a:avLst/>
          </a:prstGeom>
          <a:solidFill>
            <a:srgbClr val="B0B8FF"/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Round up purchases to pay down debt.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" name="Google Shape;123;p26"/>
          <p:cNvSpPr/>
          <p:nvPr/>
        </p:nvSpPr>
        <p:spPr>
          <a:xfrm>
            <a:off x="6581300" y="2841225"/>
            <a:ext cx="2190900" cy="2032500"/>
          </a:xfrm>
          <a:prstGeom prst="ellipse">
            <a:avLst/>
          </a:prstGeom>
          <a:solidFill>
            <a:srgbClr val="B0B8FF"/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Collect financial data from users.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4" name="Google Shape;124;p26"/>
          <p:cNvCxnSpPr>
            <a:stCxn id="120" idx="6"/>
            <a:endCxn id="119" idx="1"/>
          </p:cNvCxnSpPr>
          <p:nvPr/>
        </p:nvCxnSpPr>
        <p:spPr>
          <a:xfrm>
            <a:off x="2562700" y="1259100"/>
            <a:ext cx="1234800" cy="5940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" name="Google Shape;125;p26"/>
          <p:cNvCxnSpPr>
            <a:endCxn id="122" idx="2"/>
          </p:cNvCxnSpPr>
          <p:nvPr/>
        </p:nvCxnSpPr>
        <p:spPr>
          <a:xfrm flipH="1" rot="10800000">
            <a:off x="5346500" y="1259100"/>
            <a:ext cx="1234800" cy="5940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" name="Google Shape;126;p26"/>
          <p:cNvCxnSpPr>
            <a:stCxn id="121" idx="6"/>
            <a:endCxn id="119" idx="3"/>
          </p:cNvCxnSpPr>
          <p:nvPr/>
        </p:nvCxnSpPr>
        <p:spPr>
          <a:xfrm flipH="1" rot="10800000">
            <a:off x="2562700" y="3290475"/>
            <a:ext cx="1234800" cy="5670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" name="Google Shape;127;p26"/>
          <p:cNvCxnSpPr>
            <a:stCxn id="119" idx="5"/>
            <a:endCxn id="123" idx="2"/>
          </p:cNvCxnSpPr>
          <p:nvPr/>
        </p:nvCxnSpPr>
        <p:spPr>
          <a:xfrm>
            <a:off x="5346600" y="3290347"/>
            <a:ext cx="1234800" cy="5670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76550" y="1476300"/>
            <a:ext cx="2190900" cy="21909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9" name="Google Shape;129;p26"/>
          <p:cNvSpPr txBox="1"/>
          <p:nvPr/>
        </p:nvSpPr>
        <p:spPr>
          <a:xfrm>
            <a:off x="950100" y="4028625"/>
            <a:ext cx="7243800" cy="8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Dime Time Value Proposition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0B8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7"/>
          <p:cNvSpPr txBox="1"/>
          <p:nvPr/>
        </p:nvSpPr>
        <p:spPr>
          <a:xfrm>
            <a:off x="939600" y="113500"/>
            <a:ext cx="7264800" cy="8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7"/>
          <p:cNvSpPr txBox="1"/>
          <p:nvPr/>
        </p:nvSpPr>
        <p:spPr>
          <a:xfrm>
            <a:off x="0" y="100"/>
            <a:ext cx="91440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 u="sng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It Works</a:t>
            </a:r>
            <a:endParaRPr b="1" sz="3000" u="sng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6" name="Google Shape;136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9600" y="1490613"/>
            <a:ext cx="1927975" cy="342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76450" y="1490625"/>
            <a:ext cx="1927975" cy="342922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7"/>
          <p:cNvSpPr txBox="1"/>
          <p:nvPr/>
        </p:nvSpPr>
        <p:spPr>
          <a:xfrm>
            <a:off x="916975" y="740025"/>
            <a:ext cx="1973100" cy="75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Step 1: Download app, and select bank.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39" name="Google Shape;139;p27"/>
          <p:cNvSpPr txBox="1"/>
          <p:nvPr/>
        </p:nvSpPr>
        <p:spPr>
          <a:xfrm>
            <a:off x="3630450" y="740025"/>
            <a:ext cx="1928100" cy="75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Step 2: Link debit card to Dime Time.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40" name="Google Shape;140;p27"/>
          <p:cNvSpPr txBox="1"/>
          <p:nvPr/>
        </p:nvSpPr>
        <p:spPr>
          <a:xfrm>
            <a:off x="6298925" y="740025"/>
            <a:ext cx="1928100" cy="75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Step 3: Round-up and pay down debt.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141" name="Google Shape;141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08024" y="1490625"/>
            <a:ext cx="1927975" cy="342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0B8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8"/>
          <p:cNvSpPr txBox="1"/>
          <p:nvPr>
            <p:ph type="title"/>
          </p:nvPr>
        </p:nvSpPr>
        <p:spPr>
          <a:xfrm>
            <a:off x="0" y="49025"/>
            <a:ext cx="9144000" cy="165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/>
              <a:t>Market: $14.3T Debt </a:t>
            </a:r>
            <a:endParaRPr b="1" sz="3600"/>
          </a:p>
        </p:txBody>
      </p:sp>
      <p:sp>
        <p:nvSpPr>
          <p:cNvPr id="147" name="Google Shape;147;p28"/>
          <p:cNvSpPr txBox="1"/>
          <p:nvPr>
            <p:ph idx="1" type="body"/>
          </p:nvPr>
        </p:nvSpPr>
        <p:spPr>
          <a:xfrm>
            <a:off x="471900" y="1777275"/>
            <a:ext cx="3999900" cy="28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</a:rPr>
              <a:t>“In the first quarter of 2020, debt reached $14.3 trillion, a $85 billion increase from the previous quarter. Now, household debt is half a trillion dollars higher than its previous peak in 2008. These debt statistics include mortgage, auto loan, credit card, student loan, and revolving debt.” Americans have amassed a record $14.3 trillion in debt.” What does this mean for Dime Time? It means that the number of Americans in debt will continue to grow. </a:t>
            </a:r>
            <a:r>
              <a:rPr i="1" lang="en" sz="1200" u="sng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Source</a:t>
            </a:r>
            <a:endParaRPr i="1" sz="1200">
              <a:solidFill>
                <a:srgbClr val="000000"/>
              </a:solidFill>
            </a:endParaRPr>
          </a:p>
        </p:txBody>
      </p:sp>
      <p:graphicFrame>
        <p:nvGraphicFramePr>
          <p:cNvPr id="148" name="Google Shape;148;p28"/>
          <p:cNvGraphicFramePr/>
          <p:nvPr/>
        </p:nvGraphicFramePr>
        <p:xfrm>
          <a:off x="5071481" y="45522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{8049C463-21AF-4B21-A9D0-8BF4301C2F2E}</a:tableStyleId>
              </a:tblPr>
              <a:tblGrid>
                <a:gridCol w="821450"/>
                <a:gridCol w="821450"/>
                <a:gridCol w="821450"/>
                <a:gridCol w="821450"/>
              </a:tblGrid>
              <a:tr h="241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2017:Q4</a:t>
                      </a:r>
                      <a:endParaRPr b="1" sz="1200">
                        <a:solidFill>
                          <a:schemeClr val="l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2018:Q4</a:t>
                      </a:r>
                      <a:endParaRPr b="1" sz="1200">
                        <a:solidFill>
                          <a:schemeClr val="l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2019:Q4</a:t>
                      </a:r>
                      <a:endParaRPr b="1" sz="1200">
                        <a:solidFill>
                          <a:schemeClr val="l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2020:Q3</a:t>
                      </a:r>
                      <a:endParaRPr b="1" sz="1200">
                        <a:solidFill>
                          <a:schemeClr val="lt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9" name="Google Shape;149;p28"/>
          <p:cNvSpPr/>
          <p:nvPr/>
        </p:nvSpPr>
        <p:spPr>
          <a:xfrm>
            <a:off x="5154825" y="3536048"/>
            <a:ext cx="722400" cy="990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8"/>
          <p:cNvSpPr/>
          <p:nvPr/>
        </p:nvSpPr>
        <p:spPr>
          <a:xfrm>
            <a:off x="5975583" y="3069166"/>
            <a:ext cx="722400" cy="1457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8"/>
          <p:cNvSpPr/>
          <p:nvPr/>
        </p:nvSpPr>
        <p:spPr>
          <a:xfrm>
            <a:off x="6796350" y="2571750"/>
            <a:ext cx="722400" cy="1954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8"/>
          <p:cNvSpPr/>
          <p:nvPr/>
        </p:nvSpPr>
        <p:spPr>
          <a:xfrm>
            <a:off x="7617100" y="2163901"/>
            <a:ext cx="722400" cy="2363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3" name="Google Shape;153;p28"/>
          <p:cNvCxnSpPr/>
          <p:nvPr/>
        </p:nvCxnSpPr>
        <p:spPr>
          <a:xfrm rot="10800000">
            <a:off x="509400" y="4552050"/>
            <a:ext cx="8147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54" name="Google Shape;154;p28"/>
          <p:cNvSpPr txBox="1"/>
          <p:nvPr/>
        </p:nvSpPr>
        <p:spPr>
          <a:xfrm>
            <a:off x="5154825" y="3536050"/>
            <a:ext cx="722400" cy="990600"/>
          </a:xfrm>
          <a:prstGeom prst="rect">
            <a:avLst/>
          </a:prstGeom>
          <a:solidFill>
            <a:srgbClr val="B0B8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$13.15T</a:t>
            </a:r>
            <a:endParaRPr sz="11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Debt.</a:t>
            </a:r>
            <a:endParaRPr sz="1100">
              <a:solidFill>
                <a:srgbClr val="FFFFFF"/>
              </a:solidFill>
            </a:endParaRPr>
          </a:p>
        </p:txBody>
      </p:sp>
      <p:sp>
        <p:nvSpPr>
          <p:cNvPr id="155" name="Google Shape;155;p28"/>
          <p:cNvSpPr txBox="1"/>
          <p:nvPr/>
        </p:nvSpPr>
        <p:spPr>
          <a:xfrm>
            <a:off x="5975575" y="3069250"/>
            <a:ext cx="738900" cy="1457400"/>
          </a:xfrm>
          <a:prstGeom prst="rect">
            <a:avLst/>
          </a:prstGeom>
          <a:solidFill>
            <a:srgbClr val="B0B8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$13.55T Debt.</a:t>
            </a:r>
            <a:endParaRPr sz="1100">
              <a:solidFill>
                <a:srgbClr val="FFFFFF"/>
              </a:solidFill>
            </a:endParaRPr>
          </a:p>
        </p:txBody>
      </p:sp>
      <p:sp>
        <p:nvSpPr>
          <p:cNvPr id="156" name="Google Shape;156;p28"/>
          <p:cNvSpPr txBox="1"/>
          <p:nvPr/>
        </p:nvSpPr>
        <p:spPr>
          <a:xfrm>
            <a:off x="6796950" y="2571750"/>
            <a:ext cx="738900" cy="1954800"/>
          </a:xfrm>
          <a:prstGeom prst="rect">
            <a:avLst/>
          </a:prstGeom>
          <a:solidFill>
            <a:srgbClr val="B0B8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$14.15T Debt.</a:t>
            </a:r>
            <a:endParaRPr sz="1100">
              <a:solidFill>
                <a:srgbClr val="FFFFFF"/>
              </a:solidFill>
            </a:endParaRPr>
          </a:p>
        </p:txBody>
      </p:sp>
      <p:sp>
        <p:nvSpPr>
          <p:cNvPr id="157" name="Google Shape;157;p28"/>
          <p:cNvSpPr txBox="1"/>
          <p:nvPr/>
        </p:nvSpPr>
        <p:spPr>
          <a:xfrm>
            <a:off x="7618300" y="2163900"/>
            <a:ext cx="738900" cy="2363100"/>
          </a:xfrm>
          <a:prstGeom prst="rect">
            <a:avLst/>
          </a:prstGeom>
          <a:solidFill>
            <a:srgbClr val="B0B8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$14.35T</a:t>
            </a:r>
            <a:endParaRPr sz="1100"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Debt.</a:t>
            </a:r>
            <a:endParaRPr sz="11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0B8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9"/>
          <p:cNvSpPr txBox="1"/>
          <p:nvPr>
            <p:ph type="title"/>
          </p:nvPr>
        </p:nvSpPr>
        <p:spPr>
          <a:xfrm>
            <a:off x="265500" y="724200"/>
            <a:ext cx="40452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000000"/>
                </a:solidFill>
              </a:rPr>
              <a:t>Market Opportunity</a:t>
            </a:r>
            <a:endParaRPr b="1">
              <a:solidFill>
                <a:srgbClr val="000000"/>
              </a:solidFill>
            </a:endParaRPr>
          </a:p>
        </p:txBody>
      </p:sp>
      <p:sp>
        <p:nvSpPr>
          <p:cNvPr id="163" name="Google Shape;163;p29"/>
          <p:cNvSpPr txBox="1"/>
          <p:nvPr>
            <p:ph idx="2" type="body"/>
          </p:nvPr>
        </p:nvSpPr>
        <p:spPr>
          <a:xfrm>
            <a:off x="4939500" y="227025"/>
            <a:ext cx="3837000" cy="470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$14.3T consumer debt market and growing. </a:t>
            </a:r>
            <a:r>
              <a:rPr i="1" lang="en" u="sng">
                <a:hlinkClick r:id="rId3"/>
              </a:rPr>
              <a:t>Source</a:t>
            </a:r>
            <a:endParaRPr i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275M smartphone users in the US and growing. </a:t>
            </a:r>
            <a:r>
              <a:rPr i="1" lang="en" u="sng">
                <a:hlinkClick r:id="rId4"/>
              </a:rPr>
              <a:t>Source</a:t>
            </a:r>
            <a:endParaRPr i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5.63B consumer debit cards and growing.  </a:t>
            </a:r>
            <a:r>
              <a:rPr i="1" lang="en" u="sng">
                <a:hlinkClick r:id="rId5"/>
              </a:rPr>
              <a:t>Source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24.8 average monthly debit  transactions and growing. </a:t>
            </a:r>
            <a:r>
              <a:rPr i="1" lang="en" u="sng">
                <a:hlinkClick r:id="rId6"/>
              </a:rPr>
              <a:t>Source</a:t>
            </a:r>
            <a:endParaRPr i="1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0B8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0"/>
          <p:cNvSpPr txBox="1"/>
          <p:nvPr>
            <p:ph type="title"/>
          </p:nvPr>
        </p:nvSpPr>
        <p:spPr>
          <a:xfrm>
            <a:off x="0" y="49700"/>
            <a:ext cx="9144000" cy="165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/>
              <a:t>Debt by Generation</a:t>
            </a:r>
            <a:endParaRPr b="1" i="1" sz="2000"/>
          </a:p>
        </p:txBody>
      </p:sp>
      <p:sp>
        <p:nvSpPr>
          <p:cNvPr id="169" name="Google Shape;169;p30"/>
          <p:cNvSpPr txBox="1"/>
          <p:nvPr/>
        </p:nvSpPr>
        <p:spPr>
          <a:xfrm>
            <a:off x="0" y="1623900"/>
            <a:ext cx="9144000" cy="35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marR="1905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$9,593: Gen Z (18 to 23).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marR="1905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$78,396: Millennials (24 to 39).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marR="1905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$135,841: Gen X (40 to 55). 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marR="1905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$96,984: Baby Boomers (56 to 74). 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914400" marR="1905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$40,925: Silent Generation (75 and above). </a:t>
            </a:r>
            <a:r>
              <a:rPr i="1" lang="en" sz="1800" u="sng">
                <a:latin typeface="Roboto"/>
                <a:ea typeface="Roboto"/>
                <a:cs typeface="Roboto"/>
                <a:sym typeface="Roboto"/>
                <a:hlinkClick r:id="rId3"/>
              </a:rPr>
              <a:t>Source</a:t>
            </a:r>
            <a:endParaRPr i="1" sz="1800" u="sng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0B8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1"/>
          <p:cNvSpPr txBox="1"/>
          <p:nvPr>
            <p:ph type="title"/>
          </p:nvPr>
        </p:nvSpPr>
        <p:spPr>
          <a:xfrm>
            <a:off x="4337500" y="514150"/>
            <a:ext cx="3753900" cy="962100"/>
          </a:xfrm>
          <a:prstGeom prst="rect">
            <a:avLst/>
          </a:prstGeom>
          <a:solidFill>
            <a:srgbClr val="B0B8FF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AWS: data storage. </a:t>
            </a:r>
            <a:r>
              <a:rPr i="1" lang="en" sz="1400" u="sng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Source</a:t>
            </a:r>
            <a:endParaRPr i="1" sz="1400" u="sng">
              <a:solidFill>
                <a:srgbClr val="FFFFFF"/>
              </a:solidFill>
            </a:endParaRPr>
          </a:p>
        </p:txBody>
      </p:sp>
      <p:cxnSp>
        <p:nvCxnSpPr>
          <p:cNvPr id="175" name="Google Shape;175;p31"/>
          <p:cNvCxnSpPr>
            <a:stCxn id="174" idx="2"/>
            <a:endCxn id="176" idx="0"/>
          </p:cNvCxnSpPr>
          <p:nvPr/>
        </p:nvCxnSpPr>
        <p:spPr>
          <a:xfrm>
            <a:off x="6214450" y="1476250"/>
            <a:ext cx="0" cy="614400"/>
          </a:xfrm>
          <a:prstGeom prst="straightConnector1">
            <a:avLst/>
          </a:prstGeom>
          <a:noFill/>
          <a:ln cap="flat" cmpd="sng" w="9525">
            <a:solidFill>
              <a:srgbClr val="B0B8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6" name="Google Shape;176;p31"/>
          <p:cNvSpPr txBox="1"/>
          <p:nvPr>
            <p:ph type="title"/>
          </p:nvPr>
        </p:nvSpPr>
        <p:spPr>
          <a:xfrm>
            <a:off x="4337500" y="2090676"/>
            <a:ext cx="3753900" cy="962100"/>
          </a:xfrm>
          <a:prstGeom prst="rect">
            <a:avLst/>
          </a:prstGeom>
          <a:solidFill>
            <a:srgbClr val="B0B8FF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Plaid: API code. </a:t>
            </a:r>
            <a:r>
              <a:rPr i="1" lang="en" sz="1400" u="sng">
                <a:solidFill>
                  <a:srgbClr val="FFFFFF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Source</a:t>
            </a:r>
            <a:endParaRPr i="1" sz="1400" u="sng">
              <a:solidFill>
                <a:srgbClr val="FFFFFF"/>
              </a:solidFill>
            </a:endParaRPr>
          </a:p>
        </p:txBody>
      </p:sp>
      <p:cxnSp>
        <p:nvCxnSpPr>
          <p:cNvPr id="177" name="Google Shape;177;p31"/>
          <p:cNvCxnSpPr>
            <a:stCxn id="176" idx="2"/>
            <a:endCxn id="178" idx="0"/>
          </p:cNvCxnSpPr>
          <p:nvPr/>
        </p:nvCxnSpPr>
        <p:spPr>
          <a:xfrm>
            <a:off x="6214450" y="3052776"/>
            <a:ext cx="0" cy="614400"/>
          </a:xfrm>
          <a:prstGeom prst="straightConnector1">
            <a:avLst/>
          </a:prstGeom>
          <a:noFill/>
          <a:ln cap="flat" cmpd="sng" w="9525">
            <a:solidFill>
              <a:srgbClr val="B0B8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8" name="Google Shape;178;p31"/>
          <p:cNvSpPr txBox="1"/>
          <p:nvPr>
            <p:ph type="title"/>
          </p:nvPr>
        </p:nvSpPr>
        <p:spPr>
          <a:xfrm>
            <a:off x="4337501" y="3667157"/>
            <a:ext cx="3753900" cy="962100"/>
          </a:xfrm>
          <a:prstGeom prst="rect">
            <a:avLst/>
          </a:prstGeom>
          <a:solidFill>
            <a:srgbClr val="B0B8FF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Dreamr: development. </a:t>
            </a:r>
            <a:r>
              <a:rPr i="1" lang="en" sz="1400" u="sng">
                <a:solidFill>
                  <a:srgbClr val="FFFFFF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Source</a:t>
            </a:r>
            <a:endParaRPr i="1" sz="1400" u="sng">
              <a:solidFill>
                <a:srgbClr val="FFFFFF"/>
              </a:solidFill>
            </a:endParaRPr>
          </a:p>
        </p:txBody>
      </p:sp>
      <p:sp>
        <p:nvSpPr>
          <p:cNvPr id="179" name="Google Shape;179;p31"/>
          <p:cNvSpPr txBox="1"/>
          <p:nvPr/>
        </p:nvSpPr>
        <p:spPr>
          <a:xfrm>
            <a:off x="14185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Software Development</a:t>
            </a:r>
            <a:endParaRPr b="1" sz="3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Hosted by </a:t>
            </a:r>
            <a:r>
              <a:rPr lang="en" u="sng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Dreamr Labs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0" name="Google Shape;180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2500" y="3000000"/>
            <a:ext cx="1838700" cy="1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0B8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2"/>
          <p:cNvSpPr txBox="1"/>
          <p:nvPr/>
        </p:nvSpPr>
        <p:spPr>
          <a:xfrm>
            <a:off x="3295600" y="0"/>
            <a:ext cx="58485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Name, phone number, address, and email.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Account averages and current account balances.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24 months of transaction history with geolocation, merchant, and category of purchases.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Assets. 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Income sources and verification of employer. 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0" lvl="0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Debt with internal and external accounts that host user’s debt. </a:t>
            </a:r>
            <a:r>
              <a:rPr i="1" lang="en" sz="1600" u="sng">
                <a:latin typeface="Roboto"/>
                <a:ea typeface="Roboto"/>
                <a:cs typeface="Roboto"/>
                <a:sym typeface="Roboto"/>
                <a:hlinkClick r:id="rId3"/>
              </a:rPr>
              <a:t>Source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6" name="Google Shape;186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7850" y="3556350"/>
            <a:ext cx="2808000" cy="117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2"/>
          <p:cNvSpPr txBox="1"/>
          <p:nvPr/>
        </p:nvSpPr>
        <p:spPr>
          <a:xfrm>
            <a:off x="14185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Data Collected</a:t>
            </a:r>
            <a:endParaRPr b="1" sz="3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Hosted by </a:t>
            </a:r>
            <a:r>
              <a:rPr lang="en" u="sng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Plaid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0B8FF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3"/>
          <p:cNvSpPr txBox="1"/>
          <p:nvPr/>
        </p:nvSpPr>
        <p:spPr>
          <a:xfrm>
            <a:off x="3295600" y="0"/>
            <a:ext cx="58485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●"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Provides application programming interface (API) for 25¢ a person. 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●"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The middle man between connecting Dime Time to a person’s bank account(s).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●"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Provides a list of banks to select, then provides the username and password for selected bank to connect Dime Time. </a:t>
            </a:r>
            <a:r>
              <a:rPr i="1" lang="en" sz="1600" u="sng">
                <a:latin typeface="Roboto"/>
                <a:ea typeface="Roboto"/>
                <a:cs typeface="Roboto"/>
                <a:sym typeface="Roboto"/>
                <a:hlinkClick r:id="rId3"/>
              </a:rPr>
              <a:t>Source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oboto"/>
              <a:buChar char="●"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Once a person logs in to their bank account, Dime Time begins to collect financial analytics on the user as they set up their account with Dime Time.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" name="Google Shape;193;p33"/>
          <p:cNvSpPr txBox="1"/>
          <p:nvPr>
            <p:ph type="title"/>
          </p:nvPr>
        </p:nvSpPr>
        <p:spPr>
          <a:xfrm>
            <a:off x="0" y="0"/>
            <a:ext cx="3295500" cy="51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/>
              <a:t>Data by Plaid</a:t>
            </a:r>
            <a:endParaRPr b="1"/>
          </a:p>
        </p:txBody>
      </p:sp>
      <p:pic>
        <p:nvPicPr>
          <p:cNvPr id="194" name="Google Shape;194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4538" y="855050"/>
            <a:ext cx="2066425" cy="367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0B8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4"/>
          <p:cNvSpPr txBox="1"/>
          <p:nvPr>
            <p:ph type="title"/>
          </p:nvPr>
        </p:nvSpPr>
        <p:spPr>
          <a:xfrm>
            <a:off x="265500" y="724200"/>
            <a:ext cx="4045200" cy="369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000000"/>
                </a:solidFill>
              </a:rPr>
              <a:t>Data Storage</a:t>
            </a:r>
            <a:endParaRPr b="1" sz="36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Hosted by </a:t>
            </a:r>
            <a:r>
              <a:rPr lang="en" sz="1400" u="sng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Amazon Web Service</a:t>
            </a:r>
            <a:endParaRPr sz="1400">
              <a:solidFill>
                <a:srgbClr val="000000"/>
              </a:solidFill>
            </a:endParaRPr>
          </a:p>
        </p:txBody>
      </p:sp>
      <p:sp>
        <p:nvSpPr>
          <p:cNvPr id="200" name="Google Shape;200;p34"/>
          <p:cNvSpPr txBox="1"/>
          <p:nvPr>
            <p:ph idx="2" type="body"/>
          </p:nvPr>
        </p:nvSpPr>
        <p:spPr>
          <a:xfrm>
            <a:off x="4939500" y="227025"/>
            <a:ext cx="3837000" cy="470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Cloud storage hosted by Amazon. </a:t>
            </a:r>
            <a:r>
              <a:rPr i="1" lang="en" u="sng">
                <a:solidFill>
                  <a:srgbClr val="FFFFFF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Source</a:t>
            </a:r>
            <a:endParaRPr i="1"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i="1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Dime Time pays Amazon for access and storage of data.</a:t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Amazon enables Dime Time to grow and scale data with increasing users.</a:t>
            </a:r>
            <a:endParaRPr/>
          </a:p>
        </p:txBody>
      </p:sp>
      <p:pic>
        <p:nvPicPr>
          <p:cNvPr id="201" name="Google Shape;201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0250" y="3345938"/>
            <a:ext cx="3495675" cy="130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0B8F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5"/>
          <p:cNvSpPr txBox="1"/>
          <p:nvPr>
            <p:ph idx="1" type="body"/>
          </p:nvPr>
        </p:nvSpPr>
        <p:spPr>
          <a:xfrm>
            <a:off x="0" y="0"/>
            <a:ext cx="3294900" cy="514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/>
              <a:t>Revenue &amp; Monetization</a:t>
            </a:r>
            <a:endParaRPr sz="1800">
              <a:solidFill>
                <a:srgbClr val="FFFFFF"/>
              </a:solidFill>
            </a:endParaRPr>
          </a:p>
        </p:txBody>
      </p:sp>
      <p:sp>
        <p:nvSpPr>
          <p:cNvPr id="207" name="Google Shape;207;p35"/>
          <p:cNvSpPr txBox="1"/>
          <p:nvPr>
            <p:ph type="title"/>
          </p:nvPr>
        </p:nvSpPr>
        <p:spPr>
          <a:xfrm>
            <a:off x="4337500" y="149450"/>
            <a:ext cx="3753900" cy="962100"/>
          </a:xfrm>
          <a:prstGeom prst="rect">
            <a:avLst/>
          </a:prstGeom>
          <a:solidFill>
            <a:srgbClr val="B0B8FF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$1 Monthly Subscription</a:t>
            </a:r>
            <a:endParaRPr sz="2200"/>
          </a:p>
        </p:txBody>
      </p:sp>
      <p:cxnSp>
        <p:nvCxnSpPr>
          <p:cNvPr id="208" name="Google Shape;208;p35"/>
          <p:cNvCxnSpPr>
            <a:stCxn id="207" idx="2"/>
            <a:endCxn id="209" idx="0"/>
          </p:cNvCxnSpPr>
          <p:nvPr/>
        </p:nvCxnSpPr>
        <p:spPr>
          <a:xfrm>
            <a:off x="6214450" y="1111550"/>
            <a:ext cx="0" cy="337800"/>
          </a:xfrm>
          <a:prstGeom prst="straightConnector1">
            <a:avLst/>
          </a:prstGeom>
          <a:noFill/>
          <a:ln cap="flat" cmpd="sng" w="9525">
            <a:solidFill>
              <a:srgbClr val="B0B8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9" name="Google Shape;209;p35"/>
          <p:cNvSpPr txBox="1"/>
          <p:nvPr>
            <p:ph type="title"/>
          </p:nvPr>
        </p:nvSpPr>
        <p:spPr>
          <a:xfrm>
            <a:off x="4337500" y="1449301"/>
            <a:ext cx="3753900" cy="962100"/>
          </a:xfrm>
          <a:prstGeom prst="rect">
            <a:avLst/>
          </a:prstGeom>
          <a:solidFill>
            <a:srgbClr val="B0B8FF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68300" lvl="0" marL="457200" rtl="0" algn="ctr">
              <a:spcBef>
                <a:spcPts val="0"/>
              </a:spcBef>
              <a:spcAft>
                <a:spcPts val="0"/>
              </a:spcAft>
              <a:buSzPts val="2200"/>
              <a:buChar char="+"/>
            </a:pPr>
            <a:r>
              <a:rPr lang="en" sz="2200"/>
              <a:t>1% - 2% Collected on Sweep Account</a:t>
            </a:r>
            <a:endParaRPr sz="2200"/>
          </a:p>
        </p:txBody>
      </p:sp>
      <p:cxnSp>
        <p:nvCxnSpPr>
          <p:cNvPr id="210" name="Google Shape;210;p35"/>
          <p:cNvCxnSpPr>
            <a:stCxn id="209" idx="2"/>
            <a:endCxn id="211" idx="0"/>
          </p:cNvCxnSpPr>
          <p:nvPr/>
        </p:nvCxnSpPr>
        <p:spPr>
          <a:xfrm>
            <a:off x="6214450" y="2411401"/>
            <a:ext cx="0" cy="1570200"/>
          </a:xfrm>
          <a:prstGeom prst="straightConnector1">
            <a:avLst/>
          </a:prstGeom>
          <a:noFill/>
          <a:ln cap="flat" cmpd="sng" w="9525">
            <a:solidFill>
              <a:srgbClr val="B0B8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1" name="Google Shape;211;p35"/>
          <p:cNvSpPr txBox="1"/>
          <p:nvPr>
            <p:ph type="title"/>
          </p:nvPr>
        </p:nvSpPr>
        <p:spPr>
          <a:xfrm>
            <a:off x="4337501" y="3981557"/>
            <a:ext cx="3753900" cy="962100"/>
          </a:xfrm>
          <a:prstGeom prst="rect">
            <a:avLst/>
          </a:prstGeom>
          <a:solidFill>
            <a:srgbClr val="B0B8FF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= Total Revenue</a:t>
            </a:r>
            <a:endParaRPr sz="2200"/>
          </a:p>
        </p:txBody>
      </p:sp>
      <p:sp>
        <p:nvSpPr>
          <p:cNvPr id="212" name="Google Shape;212;p35"/>
          <p:cNvSpPr txBox="1"/>
          <p:nvPr>
            <p:ph type="title"/>
          </p:nvPr>
        </p:nvSpPr>
        <p:spPr>
          <a:xfrm>
            <a:off x="4337500" y="2715425"/>
            <a:ext cx="3753900" cy="962100"/>
          </a:xfrm>
          <a:prstGeom prst="rect">
            <a:avLst/>
          </a:prstGeom>
          <a:solidFill>
            <a:srgbClr val="B0B8FF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68300" lvl="0" marL="457200" rtl="0" algn="ctr">
              <a:spcBef>
                <a:spcPts val="0"/>
              </a:spcBef>
              <a:spcAft>
                <a:spcPts val="0"/>
              </a:spcAft>
              <a:buSzPts val="2200"/>
              <a:buChar char="+"/>
            </a:pPr>
            <a:r>
              <a:rPr lang="en" sz="2200"/>
              <a:t>Sale of financial data on </a:t>
            </a:r>
            <a:r>
              <a:rPr lang="en" sz="2200" u="sng">
                <a:hlinkClick r:id="rId3"/>
              </a:rPr>
              <a:t>data marketplace</a:t>
            </a:r>
            <a:r>
              <a:rPr lang="en" sz="2200"/>
              <a:t>.</a:t>
            </a:r>
            <a:endParaRPr sz="2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0B8FF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6"/>
          <p:cNvSpPr txBox="1"/>
          <p:nvPr>
            <p:ph idx="2" type="body"/>
          </p:nvPr>
        </p:nvSpPr>
        <p:spPr>
          <a:xfrm>
            <a:off x="4572000" y="0"/>
            <a:ext cx="4572000" cy="514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596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</a:pPr>
            <a:r>
              <a:rPr lang="en" sz="1400">
                <a:solidFill>
                  <a:srgbClr val="FFFFFF"/>
                </a:solidFill>
              </a:rPr>
              <a:t>Investment account where round-ups live until the monthly transfer date. </a:t>
            </a:r>
            <a:endParaRPr sz="14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</a:endParaRPr>
          </a:p>
          <a:p>
            <a:pPr indent="-317500" lvl="0" marL="596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</a:pPr>
            <a:r>
              <a:rPr lang="en" sz="1400">
                <a:solidFill>
                  <a:srgbClr val="FFFFFF"/>
                </a:solidFill>
              </a:rPr>
              <a:t>Sweep account linked to Chase  </a:t>
            </a:r>
            <a:r>
              <a:rPr lang="en" sz="1400"/>
              <a:t>market funds </a:t>
            </a:r>
            <a:r>
              <a:rPr lang="en" sz="1400">
                <a:solidFill>
                  <a:srgbClr val="FFFFFF"/>
                </a:solidFill>
              </a:rPr>
              <a:t>(Asia, Middle East, Europe, South America, United States) where money “sweeps” to open market once the preceding market is closed. </a:t>
            </a:r>
            <a:endParaRPr sz="1400">
              <a:solidFill>
                <a:srgbClr val="FFFFFF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</a:endParaRPr>
          </a:p>
          <a:p>
            <a:pPr indent="-317500" lvl="0" marL="596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</a:pPr>
            <a:r>
              <a:rPr lang="en" sz="1400">
                <a:solidFill>
                  <a:srgbClr val="FFFFFF"/>
                </a:solidFill>
              </a:rPr>
              <a:t>Generates interest 24 hours a day in open markets and yields 1% - 2% interest (subject to market fluctuations). </a:t>
            </a:r>
            <a:r>
              <a:rPr i="1" lang="en" sz="1400" u="sng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Source</a:t>
            </a:r>
            <a:endParaRPr sz="1400">
              <a:solidFill>
                <a:srgbClr val="FFFFFF"/>
              </a:solidFill>
            </a:endParaRPr>
          </a:p>
        </p:txBody>
      </p:sp>
      <p:sp>
        <p:nvSpPr>
          <p:cNvPr id="218" name="Google Shape;218;p36"/>
          <p:cNvSpPr txBox="1"/>
          <p:nvPr>
            <p:ph type="title"/>
          </p:nvPr>
        </p:nvSpPr>
        <p:spPr>
          <a:xfrm>
            <a:off x="216400" y="724200"/>
            <a:ext cx="4045200" cy="369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000000"/>
                </a:solidFill>
              </a:rPr>
              <a:t>Sweep Account</a:t>
            </a:r>
            <a:endParaRPr b="1" sz="36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Hosted by </a:t>
            </a:r>
            <a:r>
              <a:rPr lang="en" sz="1400" u="sng">
                <a:solidFill>
                  <a:srgbClr val="000000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JP Morgan Chase</a:t>
            </a:r>
            <a:endParaRPr sz="1400">
              <a:solidFill>
                <a:srgbClr val="000000"/>
              </a:solidFill>
            </a:endParaRPr>
          </a:p>
        </p:txBody>
      </p:sp>
      <p:pic>
        <p:nvPicPr>
          <p:cNvPr id="219" name="Google Shape;219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7013" y="3402100"/>
            <a:ext cx="3403974" cy="144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0B8FF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7"/>
          <p:cNvSpPr txBox="1"/>
          <p:nvPr>
            <p:ph idx="1" type="body"/>
          </p:nvPr>
        </p:nvSpPr>
        <p:spPr>
          <a:xfrm>
            <a:off x="0" y="1677600"/>
            <a:ext cx="9144000" cy="346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Avoids a set amount of payments each month to a credit card.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Payments range one payment every 24 hours to unlimited.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Dime Time would exceed the number of payments in the first few days of the month preventing further payments.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u="sng">
              <a:solidFill>
                <a:srgbClr val="000000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en">
                <a:solidFill>
                  <a:srgbClr val="000000"/>
                </a:solidFill>
              </a:rPr>
              <a:t>Example: American Express allows only 1 payment every 24 hours. </a:t>
            </a:r>
            <a:r>
              <a:rPr i="1" lang="en" u="sng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Source</a:t>
            </a:r>
            <a:endParaRPr i="1" sz="2000" u="sng">
              <a:solidFill>
                <a:srgbClr val="000000"/>
              </a:solidFill>
            </a:endParaRPr>
          </a:p>
        </p:txBody>
      </p:sp>
      <p:sp>
        <p:nvSpPr>
          <p:cNvPr id="225" name="Google Shape;225;p37"/>
          <p:cNvSpPr txBox="1"/>
          <p:nvPr/>
        </p:nvSpPr>
        <p:spPr>
          <a:xfrm>
            <a:off x="0" y="0"/>
            <a:ext cx="9144000" cy="167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Why a Sweep Account?</a:t>
            </a:r>
            <a:endParaRPr b="1" sz="2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0B8FF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8"/>
          <p:cNvSpPr txBox="1"/>
          <p:nvPr>
            <p:ph type="title"/>
          </p:nvPr>
        </p:nvSpPr>
        <p:spPr>
          <a:xfrm>
            <a:off x="0" y="0"/>
            <a:ext cx="9144000" cy="166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b="1" lang="en" sz="3600"/>
              <a:t>Customer Discovery PPC</a:t>
            </a:r>
            <a:endParaRPr b="1" i="1" sz="2000"/>
          </a:p>
        </p:txBody>
      </p:sp>
      <p:sp>
        <p:nvSpPr>
          <p:cNvPr id="231" name="Google Shape;231;p38"/>
          <p:cNvSpPr txBox="1"/>
          <p:nvPr/>
        </p:nvSpPr>
        <p:spPr>
          <a:xfrm>
            <a:off x="0" y="1664700"/>
            <a:ext cx="9144000" cy="34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Pay Per Click (PPC) campaign with targeted audience.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Target audience age 18-44, with credit card and auto debt.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Target cities: New York, Boston, Chicago, Seattle, San Francisco, Los Angeles, San Diego, Miami, Dallas, Denver, and Las Vegas. 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PPC campaign through Facebook (241 million US users). </a:t>
            </a:r>
            <a:r>
              <a:rPr i="1" lang="en" sz="1800" u="sng">
                <a:latin typeface="Roboto"/>
                <a:ea typeface="Roboto"/>
                <a:cs typeface="Roboto"/>
                <a:sym typeface="Roboto"/>
                <a:hlinkClick r:id="rId3"/>
              </a:rPr>
              <a:t>Source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0B8FF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088" y="3639250"/>
            <a:ext cx="3020024" cy="113545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9"/>
          <p:cNvSpPr txBox="1"/>
          <p:nvPr>
            <p:ph idx="2" type="body"/>
          </p:nvPr>
        </p:nvSpPr>
        <p:spPr>
          <a:xfrm>
            <a:off x="4939500" y="227025"/>
            <a:ext cx="3837000" cy="470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●"/>
            </a:pPr>
            <a:r>
              <a:rPr lang="en">
                <a:solidFill>
                  <a:srgbClr val="FFFFFF"/>
                </a:solidFill>
              </a:rPr>
              <a:t>1 month PPC campaign.</a:t>
            </a:r>
            <a:endParaRPr>
              <a:solidFill>
                <a:srgbClr val="FFFFFF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●"/>
            </a:pPr>
            <a:r>
              <a:rPr lang="en">
                <a:solidFill>
                  <a:srgbClr val="FFFFFF"/>
                </a:solidFill>
              </a:rPr>
              <a:t>$101 spent on advertisements.</a:t>
            </a:r>
            <a:endParaRPr>
              <a:solidFill>
                <a:srgbClr val="FFFFFF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●"/>
            </a:pPr>
            <a:r>
              <a:rPr lang="en">
                <a:solidFill>
                  <a:srgbClr val="FFFFFF"/>
                </a:solidFill>
              </a:rPr>
              <a:t>18,746 impressions.</a:t>
            </a:r>
            <a:endParaRPr>
              <a:solidFill>
                <a:srgbClr val="FFFFFF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●"/>
            </a:pPr>
            <a:r>
              <a:rPr lang="en">
                <a:solidFill>
                  <a:srgbClr val="FFFFFF"/>
                </a:solidFill>
              </a:rPr>
              <a:t>8,538 reached domestically.</a:t>
            </a:r>
            <a:endParaRPr>
              <a:solidFill>
                <a:srgbClr val="FFFFFF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●"/>
            </a:pPr>
            <a:r>
              <a:rPr lang="en">
                <a:solidFill>
                  <a:srgbClr val="FFFFFF"/>
                </a:solidFill>
              </a:rPr>
              <a:t>1,433 post engagements.</a:t>
            </a:r>
            <a:endParaRPr>
              <a:solidFill>
                <a:srgbClr val="FFFFFF"/>
              </a:solidFill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●"/>
            </a:pPr>
            <a:r>
              <a:rPr lang="en">
                <a:solidFill>
                  <a:srgbClr val="FFFFFF"/>
                </a:solidFill>
              </a:rPr>
              <a:t>1,319 post reactions.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38" name="Google Shape;238;p39"/>
          <p:cNvSpPr txBox="1"/>
          <p:nvPr>
            <p:ph type="title"/>
          </p:nvPr>
        </p:nvSpPr>
        <p:spPr>
          <a:xfrm>
            <a:off x="265500" y="724200"/>
            <a:ext cx="4045200" cy="369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000000"/>
                </a:solidFill>
              </a:rPr>
              <a:t>Facebook PPC Discovery</a:t>
            </a:r>
            <a:endParaRPr b="1" sz="36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Hosted by </a:t>
            </a:r>
            <a:r>
              <a:rPr lang="en" sz="1400" u="sng">
                <a:solidFill>
                  <a:srgbClr val="000000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Facebook</a:t>
            </a:r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0B8FF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5375" y="152400"/>
            <a:ext cx="8613249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6500" y="830826"/>
            <a:ext cx="3076575" cy="348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0B8FF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638" y="152400"/>
            <a:ext cx="8662726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0B8FF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2"/>
          <p:cNvSpPr txBox="1"/>
          <p:nvPr>
            <p:ph idx="1" type="body"/>
          </p:nvPr>
        </p:nvSpPr>
        <p:spPr>
          <a:xfrm>
            <a:off x="0" y="0"/>
            <a:ext cx="3272100" cy="514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FFFF"/>
                </a:solidFill>
              </a:rPr>
              <a:t>Go To Market Strategy</a:t>
            </a:r>
            <a:endParaRPr b="1" sz="3600">
              <a:solidFill>
                <a:srgbClr val="FFFFFF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FFFF"/>
                </a:solidFill>
              </a:rPr>
              <a:t>$500,000 Pre-Seed Start-Up </a:t>
            </a:r>
            <a:endParaRPr sz="2000"/>
          </a:p>
        </p:txBody>
      </p:sp>
      <p:sp>
        <p:nvSpPr>
          <p:cNvPr id="255" name="Google Shape;255;p42"/>
          <p:cNvSpPr txBox="1"/>
          <p:nvPr>
            <p:ph type="title"/>
          </p:nvPr>
        </p:nvSpPr>
        <p:spPr>
          <a:xfrm>
            <a:off x="4337500" y="514150"/>
            <a:ext cx="3753900" cy="962100"/>
          </a:xfrm>
          <a:prstGeom prst="rect">
            <a:avLst/>
          </a:prstGeom>
          <a:solidFill>
            <a:srgbClr val="B0B8FF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90-180 days for app development for MVP.</a:t>
            </a:r>
            <a:endParaRPr sz="2200"/>
          </a:p>
        </p:txBody>
      </p:sp>
      <p:cxnSp>
        <p:nvCxnSpPr>
          <p:cNvPr id="256" name="Google Shape;256;p42"/>
          <p:cNvCxnSpPr>
            <a:stCxn id="255" idx="2"/>
            <a:endCxn id="257" idx="0"/>
          </p:cNvCxnSpPr>
          <p:nvPr/>
        </p:nvCxnSpPr>
        <p:spPr>
          <a:xfrm>
            <a:off x="6214450" y="1476250"/>
            <a:ext cx="0" cy="614400"/>
          </a:xfrm>
          <a:prstGeom prst="straightConnector1">
            <a:avLst/>
          </a:prstGeom>
          <a:noFill/>
          <a:ln cap="flat" cmpd="sng" w="9525">
            <a:solidFill>
              <a:srgbClr val="B0B8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7" name="Google Shape;257;p42"/>
          <p:cNvSpPr txBox="1"/>
          <p:nvPr>
            <p:ph type="title"/>
          </p:nvPr>
        </p:nvSpPr>
        <p:spPr>
          <a:xfrm>
            <a:off x="4337500" y="2090676"/>
            <a:ext cx="3753900" cy="962100"/>
          </a:xfrm>
          <a:prstGeom prst="rect">
            <a:avLst/>
          </a:prstGeom>
          <a:solidFill>
            <a:srgbClr val="B0B8FF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180-270 days for invite only code to audience of 2,500.</a:t>
            </a:r>
            <a:endParaRPr sz="2200"/>
          </a:p>
        </p:txBody>
      </p:sp>
      <p:cxnSp>
        <p:nvCxnSpPr>
          <p:cNvPr id="258" name="Google Shape;258;p42"/>
          <p:cNvCxnSpPr>
            <a:stCxn id="257" idx="2"/>
            <a:endCxn id="259" idx="0"/>
          </p:cNvCxnSpPr>
          <p:nvPr/>
        </p:nvCxnSpPr>
        <p:spPr>
          <a:xfrm>
            <a:off x="6214450" y="3052776"/>
            <a:ext cx="0" cy="614400"/>
          </a:xfrm>
          <a:prstGeom prst="straightConnector1">
            <a:avLst/>
          </a:prstGeom>
          <a:noFill/>
          <a:ln cap="flat" cmpd="sng" w="9525">
            <a:solidFill>
              <a:srgbClr val="B0B8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9" name="Google Shape;259;p42"/>
          <p:cNvSpPr txBox="1"/>
          <p:nvPr>
            <p:ph type="title"/>
          </p:nvPr>
        </p:nvSpPr>
        <p:spPr>
          <a:xfrm>
            <a:off x="4337501" y="3667207"/>
            <a:ext cx="3753900" cy="962100"/>
          </a:xfrm>
          <a:prstGeom prst="rect">
            <a:avLst/>
          </a:prstGeom>
          <a:solidFill>
            <a:srgbClr val="B0B8FF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365 released to public with marketing to acquire users.</a:t>
            </a:r>
            <a:endParaRPr sz="22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0B8FF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3"/>
          <p:cNvSpPr txBox="1"/>
          <p:nvPr>
            <p:ph type="title"/>
          </p:nvPr>
        </p:nvSpPr>
        <p:spPr>
          <a:xfrm>
            <a:off x="0" y="0"/>
            <a:ext cx="9144000" cy="166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/>
              <a:t>Competitor: </a:t>
            </a:r>
            <a:r>
              <a:rPr b="1" lang="en" sz="3600" u="sng">
                <a:hlinkClick r:id="rId3"/>
              </a:rPr>
              <a:t>changEd</a:t>
            </a:r>
            <a:endParaRPr b="1" sz="3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Founder: </a:t>
            </a:r>
            <a:r>
              <a:rPr lang="en" sz="1400" u="sng">
                <a:hlinkClick r:id="rId4"/>
              </a:rPr>
              <a:t>Dan Steimach</a:t>
            </a:r>
            <a:endParaRPr sz="1400"/>
          </a:p>
        </p:txBody>
      </p:sp>
      <p:sp>
        <p:nvSpPr>
          <p:cNvPr id="265" name="Google Shape;265;p43"/>
          <p:cNvSpPr txBox="1"/>
          <p:nvPr/>
        </p:nvSpPr>
        <p:spPr>
          <a:xfrm>
            <a:off x="460950" y="1718425"/>
            <a:ext cx="8222100" cy="336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ChangEd takes round-ups and applies them to student loans.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$250,000 pre-seed investment for 10% of the company. 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$11,000,000 total sent in student loan payments.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$3 monthly subscription fee. </a:t>
            </a:r>
            <a:r>
              <a:rPr i="1" lang="en" sz="1800" u="sng">
                <a:latin typeface="Roboto"/>
                <a:ea typeface="Roboto"/>
                <a:cs typeface="Roboto"/>
                <a:sym typeface="Roboto"/>
                <a:hlinkClick r:id="rId5"/>
              </a:rPr>
              <a:t>Source</a:t>
            </a:r>
            <a:endParaRPr i="1" sz="1800" u="sng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6" name="Google Shape;266;p4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54300" y="117975"/>
            <a:ext cx="1428750" cy="1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0B8FF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4"/>
          <p:cNvSpPr txBox="1"/>
          <p:nvPr>
            <p:ph type="title"/>
          </p:nvPr>
        </p:nvSpPr>
        <p:spPr>
          <a:xfrm>
            <a:off x="0" y="0"/>
            <a:ext cx="9144000" cy="166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/>
              <a:t>Competitor: </a:t>
            </a:r>
            <a:r>
              <a:rPr b="1" lang="en" sz="3600" u="sng">
                <a:hlinkClick r:id="rId3"/>
              </a:rPr>
              <a:t>Qoins</a:t>
            </a:r>
            <a:endParaRPr b="1" sz="3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Founder: </a:t>
            </a:r>
            <a:r>
              <a:rPr lang="en" sz="1400" u="sng">
                <a:hlinkClick r:id="rId4"/>
              </a:rPr>
              <a:t>Christian Zimmerman</a:t>
            </a:r>
            <a:endParaRPr/>
          </a:p>
        </p:txBody>
      </p:sp>
      <p:sp>
        <p:nvSpPr>
          <p:cNvPr id="272" name="Google Shape;272;p44"/>
          <p:cNvSpPr txBox="1"/>
          <p:nvPr/>
        </p:nvSpPr>
        <p:spPr>
          <a:xfrm>
            <a:off x="460950" y="1718425"/>
            <a:ext cx="8222100" cy="336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2017: Founded. </a:t>
            </a:r>
            <a:endParaRPr sz="18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$500 - $1M: Annual revenue.</a:t>
            </a:r>
            <a:endParaRPr sz="18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$5M - $10M: Valuation.</a:t>
            </a:r>
            <a:endParaRPr sz="1800"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100K +: Downloads. </a:t>
            </a:r>
            <a:endParaRPr sz="1800">
              <a:solidFill>
                <a:srgbClr val="22222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rgbClr val="222222"/>
                </a:solidFill>
                <a:latin typeface="Roboto"/>
                <a:ea typeface="Roboto"/>
                <a:cs typeface="Roboto"/>
                <a:sym typeface="Roboto"/>
              </a:rPr>
              <a:t>$2.99: Monthly subscription. </a:t>
            </a:r>
            <a:endParaRPr sz="1800">
              <a:solidFill>
                <a:srgbClr val="22222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800"/>
              <a:buFont typeface="Roboto"/>
              <a:buChar char="●"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$5.25 +: Monthly transfer cost. </a:t>
            </a:r>
            <a:endParaRPr sz="25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3" name="Google Shape;273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54300" y="117974"/>
            <a:ext cx="1428750" cy="1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0B8FF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7225" y="152400"/>
            <a:ext cx="1201150" cy="120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2525" y="152400"/>
            <a:ext cx="1201150" cy="120115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45"/>
          <p:cNvSpPr txBox="1"/>
          <p:nvPr/>
        </p:nvSpPr>
        <p:spPr>
          <a:xfrm>
            <a:off x="4572000" y="1353550"/>
            <a:ext cx="4582200" cy="37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2385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Seeking pre-seed round funding.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$1 for monthly subscription.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Revenue generated by Sweep Account.</a:t>
            </a:r>
            <a:r>
              <a:rPr lang="en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Financial data sold on data marketplace.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Marketing on Facebook and Tik Tok.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Roboto"/>
              <a:buChar char="●"/>
            </a:pPr>
            <a:r>
              <a:rPr lang="en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Strong brand potential.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1" name="Google Shape;281;p45"/>
          <p:cNvSpPr txBox="1"/>
          <p:nvPr/>
        </p:nvSpPr>
        <p:spPr>
          <a:xfrm>
            <a:off x="-43300" y="1353550"/>
            <a:ext cx="4582200" cy="37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2385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"/>
              <a:buChar char="●"/>
            </a:pPr>
            <a:r>
              <a:rPr lang="en" sz="1500">
                <a:latin typeface="Roboto"/>
                <a:ea typeface="Roboto"/>
                <a:cs typeface="Roboto"/>
                <a:sym typeface="Roboto"/>
              </a:rPr>
              <a:t>First to market.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indent="-32385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"/>
              <a:buChar char="●"/>
            </a:pPr>
            <a:r>
              <a:rPr lang="en" sz="1500">
                <a:latin typeface="Roboto"/>
                <a:ea typeface="Roboto"/>
                <a:cs typeface="Roboto"/>
                <a:sym typeface="Roboto"/>
              </a:rPr>
              <a:t>$2.99 monthly subscription.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indent="-32385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"/>
              <a:buChar char="●"/>
            </a:pPr>
            <a:r>
              <a:rPr lang="en" sz="1500">
                <a:latin typeface="Roboto"/>
                <a:ea typeface="Roboto"/>
                <a:cs typeface="Roboto"/>
                <a:sym typeface="Roboto"/>
              </a:rPr>
              <a:t>$5.25 + a month for funds transfer.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indent="-32385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"/>
              <a:buChar char="●"/>
            </a:pPr>
            <a:r>
              <a:rPr lang="en" sz="1500">
                <a:latin typeface="Roboto"/>
                <a:ea typeface="Roboto"/>
                <a:cs typeface="Roboto"/>
                <a:sym typeface="Roboto"/>
              </a:rPr>
              <a:t>API by Plaid.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indent="-32385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"/>
              <a:buChar char="●"/>
            </a:pPr>
            <a:r>
              <a:rPr lang="en" sz="1500">
                <a:latin typeface="Roboto"/>
                <a:ea typeface="Roboto"/>
                <a:cs typeface="Roboto"/>
                <a:sym typeface="Roboto"/>
              </a:rPr>
              <a:t>Moderate marketing campaign.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indent="-323850" lvl="0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"/>
              <a:buChar char="●"/>
            </a:pPr>
            <a:r>
              <a:rPr lang="en" sz="1500">
                <a:latin typeface="Roboto"/>
                <a:ea typeface="Roboto"/>
                <a:cs typeface="Roboto"/>
                <a:sym typeface="Roboto"/>
              </a:rPr>
              <a:t>$10M debt paid off and counting.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0B8FF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6"/>
          <p:cNvSpPr txBox="1"/>
          <p:nvPr>
            <p:ph type="title"/>
          </p:nvPr>
        </p:nvSpPr>
        <p:spPr>
          <a:xfrm>
            <a:off x="265500" y="724200"/>
            <a:ext cx="40452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000000"/>
                </a:solidFill>
              </a:rPr>
              <a:t>Team Dime Time</a:t>
            </a:r>
            <a:endParaRPr b="1">
              <a:solidFill>
                <a:srgbClr val="000000"/>
              </a:solidFill>
            </a:endParaRPr>
          </a:p>
        </p:txBody>
      </p:sp>
      <p:sp>
        <p:nvSpPr>
          <p:cNvPr id="287" name="Google Shape;287;p46"/>
          <p:cNvSpPr txBox="1"/>
          <p:nvPr>
            <p:ph idx="2" type="body"/>
          </p:nvPr>
        </p:nvSpPr>
        <p:spPr>
          <a:xfrm>
            <a:off x="4939500" y="227025"/>
            <a:ext cx="3837000" cy="470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Char char="●"/>
            </a:pPr>
            <a:r>
              <a:rPr b="1" lang="en" sz="2200" u="sng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Tim Carlisle</a:t>
            </a:r>
            <a:r>
              <a:rPr b="1" lang="en" sz="2200">
                <a:solidFill>
                  <a:srgbClr val="FFFFFF"/>
                </a:solidFill>
              </a:rPr>
              <a:t>; Founder</a:t>
            </a:r>
            <a:endParaRPr b="1" sz="22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Char char="●"/>
            </a:pPr>
            <a:r>
              <a:rPr b="1" lang="en" sz="2200" u="sng">
                <a:solidFill>
                  <a:srgbClr val="FFFFFF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Chris Adams</a:t>
            </a:r>
            <a:r>
              <a:rPr b="1" lang="en" sz="2200">
                <a:solidFill>
                  <a:srgbClr val="FFFFFF"/>
                </a:solidFill>
              </a:rPr>
              <a:t>; Developer</a:t>
            </a:r>
            <a:endParaRPr b="1" sz="2200">
              <a:solidFill>
                <a:srgbClr val="FFFF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Char char="●"/>
            </a:pPr>
            <a:r>
              <a:rPr b="1" lang="en" sz="2200" u="sng">
                <a:solidFill>
                  <a:srgbClr val="FFFFFF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Ian Jay</a:t>
            </a:r>
            <a:r>
              <a:rPr b="1" lang="en" sz="2200">
                <a:solidFill>
                  <a:srgbClr val="FFFFFF"/>
                </a:solidFill>
              </a:rPr>
              <a:t>; Legal</a:t>
            </a:r>
            <a:endParaRPr b="1" sz="2200">
              <a:solidFill>
                <a:srgbClr val="FFFFFF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0B8FF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050" y="1711762"/>
            <a:ext cx="1439325" cy="3023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23025" y="1711750"/>
            <a:ext cx="1390325" cy="302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29725" y="1711750"/>
            <a:ext cx="1390325" cy="302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4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58000" y="1711750"/>
            <a:ext cx="1439325" cy="302315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47"/>
          <p:cNvSpPr txBox="1"/>
          <p:nvPr/>
        </p:nvSpPr>
        <p:spPr>
          <a:xfrm>
            <a:off x="239050" y="301075"/>
            <a:ext cx="8529900" cy="97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r>
              <a:rPr b="1" lang="en" sz="3600">
                <a:solidFill>
                  <a:schemeClr val="lt1"/>
                </a:solidFill>
                <a:uFill>
                  <a:noFill/>
                </a:uFill>
                <a:latin typeface="Roboto"/>
                <a:ea typeface="Roboto"/>
                <a:cs typeface="Roboto"/>
                <a:sym typeface="Roboto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→ </a:t>
            </a:r>
            <a:r>
              <a:rPr b="1" lang="en" sz="3600" u="sng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Dime Time Working Demo</a:t>
            </a:r>
            <a:r>
              <a:rPr b="1" lang="en" sz="3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← </a:t>
            </a:r>
            <a:endParaRPr b="1" sz="3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