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685800"/>
            <a:ext cx="1828800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7432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Poppins"/>
              </a:rPr>
              <a:t>DIME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947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2D2A4A"/>
                </a:solidFill>
                <a:latin typeface="Poppins"/>
              </a:rPr>
              <a:t>One Founder. 12 Months. From Zero Code to Live Money Movement.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Poppins"/>
              </a:rPr>
              <a:t>Tim Carlisle, Founder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Poppins"/>
              </a:rPr>
              <a:t>U.S. Navy Veteran  |  MBA + MIS (UNLV)  |  Dallas, Texas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4A468F"/>
                </a:solidFill>
                <a:latin typeface="Poppins"/>
              </a:rPr>
              <a:t>THE IDEA ERA  •  2014–2025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8800" b="1">
                <a:solidFill>
                  <a:srgbClr val="918EF4"/>
                </a:solidFill>
                <a:latin typeface="Poppins"/>
              </a:rPr>
              <a:t>11 YEARS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2D2A4A"/>
                </a:solidFill>
                <a:latin typeface="Poppins"/>
              </a:rPr>
              <a:t>No Funding</a:t>
            </a:r>
          </a:p>
          <a:p>
            <a:pPr algn="ctr">
              <a:spcAft>
                <a:spcPts val="400"/>
              </a:spcAft>
            </a:pPr>
            <a:r>
              <a:rPr sz="3400" b="1">
                <a:solidFill>
                  <a:srgbClr val="2D2A4A"/>
                </a:solidFill>
                <a:latin typeface="Poppins"/>
              </a:rPr>
              <a:t>No Team</a:t>
            </a:r>
          </a:p>
          <a:p>
            <a:pPr algn="ctr">
              <a:spcAft>
                <a:spcPts val="600"/>
              </a:spcAft>
            </a:pPr>
            <a:r>
              <a:rPr sz="3400" b="1">
                <a:solidFill>
                  <a:srgbClr val="2D2A4A"/>
                </a:solidFill>
                <a:latin typeface="Poppins"/>
              </a:rPr>
              <a:t>No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0">
                <a:solidFill>
                  <a:srgbClr val="4A468F"/>
                </a:solidFill>
                <a:latin typeface="Poppins"/>
              </a:rPr>
              <a:t>Just an idea: redirect spare change toward DEBT, not savings.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6048" y="5349240"/>
            <a:ext cx="2286000" cy="31750"/>
          </a:xfrm>
          <a:prstGeom prst="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53212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800" b="1">
                <a:solidFill>
                  <a:srgbClr val="2D2A4A"/>
                </a:solidFill>
                <a:latin typeface="Poppins"/>
              </a:rPr>
              <a:t>August 3, 2025</a:t>
            </a:r>
          </a:p>
          <a:p>
            <a:pPr algn="ctr">
              <a:spcAft>
                <a:spcPts val="600"/>
              </a:spcAft>
            </a:pPr>
            <a:r>
              <a:rPr sz="2200" b="1">
                <a:solidFill>
                  <a:srgbClr val="918EF4"/>
                </a:solidFill>
                <a:latin typeface="Poppins"/>
              </a:rPr>
              <a:t>Everything changed.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4A468F"/>
                </a:solidFill>
                <a:latin typeface="Poppins"/>
              </a:rPr>
              <a:t>THE YEAR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2D2A4A"/>
                </a:solidFill>
                <a:latin typeface="Poppins"/>
              </a:rPr>
              <a:t>1,099 commits, month by month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0904" y="3429443"/>
            <a:ext cx="548030" cy="1599756"/>
          </a:xfrm>
          <a:prstGeom prst="round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8024" y="3045395"/>
            <a:ext cx="91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D2A4A"/>
                </a:solidFill>
                <a:latin typeface="Poppins"/>
              </a:rPr>
              <a:t>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304" y="5084064"/>
            <a:ext cx="100523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4A468F"/>
                </a:solidFill>
                <a:latin typeface="Poppins"/>
              </a:rPr>
              <a:t>Aug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74824" y="1920240"/>
            <a:ext cx="548030" cy="3108960"/>
          </a:xfrm>
          <a:prstGeom prst="round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91944" y="1536192"/>
            <a:ext cx="91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D2A4A"/>
                </a:solidFill>
                <a:latin typeface="Poppins"/>
              </a:rPr>
              <a:t>206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6224" y="5084064"/>
            <a:ext cx="100523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4A468F"/>
                </a:solidFill>
                <a:latin typeface="Poppins"/>
              </a:rPr>
              <a:t>Sep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58744" y="3444535"/>
            <a:ext cx="548030" cy="1584664"/>
          </a:xfrm>
          <a:prstGeom prst="round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75864" y="3060487"/>
            <a:ext cx="91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D2A4A"/>
                </a:solidFill>
                <a:latin typeface="Poppins"/>
              </a:rPr>
              <a:t>105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30144" y="5084064"/>
            <a:ext cx="100523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4A468F"/>
                </a:solidFill>
                <a:latin typeface="Poppins"/>
              </a:rPr>
              <a:t>Oct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42664" y="3112511"/>
            <a:ext cx="548030" cy="1916688"/>
          </a:xfrm>
          <a:prstGeom prst="round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9784" y="2728463"/>
            <a:ext cx="91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D2A4A"/>
                </a:solidFill>
                <a:latin typeface="Poppins"/>
              </a:rPr>
              <a:t>127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4064" y="5084064"/>
            <a:ext cx="100523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4A468F"/>
                </a:solidFill>
                <a:latin typeface="Poppins"/>
              </a:rPr>
              <a:t>Nov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584" y="2916314"/>
            <a:ext cx="548030" cy="2112885"/>
          </a:xfrm>
          <a:prstGeom prst="round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704" y="2532266"/>
            <a:ext cx="91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D2A4A"/>
                </a:solidFill>
                <a:latin typeface="Poppins"/>
              </a:rPr>
              <a:t>140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984" y="5084064"/>
            <a:ext cx="100523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4A468F"/>
                </a:solidFill>
                <a:latin typeface="Poppins"/>
              </a:rPr>
              <a:t>Dec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10504" y="4712267"/>
            <a:ext cx="548030" cy="316932"/>
          </a:xfrm>
          <a:prstGeom prst="roundRect">
            <a:avLst/>
          </a:prstGeom>
          <a:solidFill>
            <a:srgbClr val="C9C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27624" y="4328219"/>
            <a:ext cx="91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D2A4A"/>
                </a:solidFill>
                <a:latin typeface="Poppins"/>
              </a:rPr>
              <a:t>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1904" y="5084064"/>
            <a:ext cx="100523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4A468F"/>
                </a:solidFill>
                <a:latin typeface="Poppins"/>
              </a:rPr>
              <a:t>Jan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4424" y="4833003"/>
            <a:ext cx="548030" cy="196196"/>
          </a:xfrm>
          <a:prstGeom prst="roundRect">
            <a:avLst/>
          </a:prstGeom>
          <a:solidFill>
            <a:srgbClr val="C9C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11544" y="4448955"/>
            <a:ext cx="91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D2A4A"/>
                </a:solidFill>
                <a:latin typeface="Poppins"/>
              </a:rPr>
              <a:t>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65824" y="5084064"/>
            <a:ext cx="100523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4A468F"/>
                </a:solidFill>
                <a:latin typeface="Poppins"/>
              </a:rPr>
              <a:t>Feb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78344" y="4561346"/>
            <a:ext cx="548030" cy="467853"/>
          </a:xfrm>
          <a:prstGeom prst="roundRect">
            <a:avLst/>
          </a:prstGeom>
          <a:solidFill>
            <a:srgbClr val="C9C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95464" y="4177298"/>
            <a:ext cx="91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D2A4A"/>
                </a:solidFill>
                <a:latin typeface="Poppins"/>
              </a:rPr>
              <a:t>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744" y="5084064"/>
            <a:ext cx="100523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4A468F"/>
                </a:solidFill>
                <a:latin typeface="Poppins"/>
              </a:rPr>
              <a:t>Mar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62264" y="4440610"/>
            <a:ext cx="548030" cy="588589"/>
          </a:xfrm>
          <a:prstGeom prst="roundRect">
            <a:avLst/>
          </a:prstGeom>
          <a:solidFill>
            <a:srgbClr val="C9C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79384" y="4056562"/>
            <a:ext cx="91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D2A4A"/>
                </a:solidFill>
                <a:latin typeface="Poppins"/>
              </a:rPr>
              <a:t>39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33664" y="5084064"/>
            <a:ext cx="100523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4A468F"/>
                </a:solidFill>
                <a:latin typeface="Poppins"/>
              </a:rPr>
              <a:t>Apr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46184" y="3987849"/>
            <a:ext cx="548030" cy="1041350"/>
          </a:xfrm>
          <a:prstGeom prst="roundRect">
            <a:avLst/>
          </a:prstGeom>
          <a:solidFill>
            <a:srgbClr val="C9C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63304" y="3603801"/>
            <a:ext cx="91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D2A4A"/>
                </a:solidFill>
                <a:latin typeface="Poppins"/>
              </a:rPr>
              <a:t>69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17584" y="5084064"/>
            <a:ext cx="100523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4A468F"/>
                </a:solidFill>
                <a:latin typeface="Poppins"/>
              </a:rPr>
              <a:t>May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30104" y="3444535"/>
            <a:ext cx="548030" cy="1584664"/>
          </a:xfrm>
          <a:prstGeom prst="round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47224" y="3060487"/>
            <a:ext cx="91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D2A4A"/>
                </a:solidFill>
                <a:latin typeface="Poppins"/>
              </a:rPr>
              <a:t>105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504" y="5084064"/>
            <a:ext cx="100523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4A468F"/>
                </a:solidFill>
                <a:latin typeface="Poppins"/>
              </a:rPr>
              <a:t>Jun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714024" y="2961590"/>
            <a:ext cx="548030" cy="2067609"/>
          </a:xfrm>
          <a:prstGeom prst="round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31144" y="2577542"/>
            <a:ext cx="91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2D2A4A"/>
                </a:solidFill>
                <a:latin typeface="Poppins"/>
              </a:rPr>
              <a:t>137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85424" y="5084064"/>
            <a:ext cx="100523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4A468F"/>
                </a:solidFill>
                <a:latin typeface="Poppins"/>
              </a:rPr>
              <a:t>Jul</a:t>
            </a:r>
          </a:p>
        </p:txBody>
      </p:sp>
      <p:sp>
        <p:nvSpPr>
          <p:cNvPr id="41" name="Oval 40"/>
          <p:cNvSpPr/>
          <p:nvPr/>
        </p:nvSpPr>
        <p:spPr>
          <a:xfrm>
            <a:off x="1182624" y="5431536"/>
            <a:ext cx="164592" cy="164592"/>
          </a:xfrm>
          <a:prstGeom prst="ellipse">
            <a:avLst/>
          </a:prstGeom>
          <a:solidFill>
            <a:srgbClr val="4A4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066544" y="5431536"/>
            <a:ext cx="164592" cy="164592"/>
          </a:xfrm>
          <a:prstGeom prst="ellipse">
            <a:avLst/>
          </a:prstGeom>
          <a:solidFill>
            <a:srgbClr val="D6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370064" y="5431536"/>
            <a:ext cx="164592" cy="164592"/>
          </a:xfrm>
          <a:prstGeom prst="ellipse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137903" y="5431536"/>
            <a:ext cx="164592" cy="164592"/>
          </a:xfrm>
          <a:prstGeom prst="ellipse">
            <a:avLst/>
          </a:prstGeom>
          <a:solidFill>
            <a:srgbClr val="2E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021824" y="5431536"/>
            <a:ext cx="164592" cy="164592"/>
          </a:xfrm>
          <a:prstGeom prst="ellipse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905744" y="5431536"/>
            <a:ext cx="164592" cy="164592"/>
          </a:xfrm>
          <a:prstGeom prst="ellipse">
            <a:avLst/>
          </a:prstGeom>
          <a:solidFill>
            <a:srgbClr val="2D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22960" y="6053328"/>
            <a:ext cx="146304" cy="146304"/>
          </a:xfrm>
          <a:prstGeom prst="ellipse">
            <a:avLst/>
          </a:prstGeom>
          <a:solidFill>
            <a:srgbClr val="4A4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24128" y="594360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D2A4A"/>
                </a:solidFill>
                <a:latin typeface="Poppins"/>
              </a:rPr>
              <a:t>First Commit</a:t>
            </a:r>
          </a:p>
        </p:txBody>
      </p:sp>
      <p:sp>
        <p:nvSpPr>
          <p:cNvPr id="49" name="Oval 48"/>
          <p:cNvSpPr/>
          <p:nvPr/>
        </p:nvSpPr>
        <p:spPr>
          <a:xfrm>
            <a:off x="2428646" y="6053328"/>
            <a:ext cx="146304" cy="146304"/>
          </a:xfrm>
          <a:prstGeom prst="ellipse">
            <a:avLst/>
          </a:prstGeom>
          <a:solidFill>
            <a:srgbClr val="D6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29814" y="594360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D2A4A"/>
                </a:solidFill>
                <a:latin typeface="Poppins"/>
              </a:rPr>
              <a:t>Rejected 9/19</a:t>
            </a:r>
          </a:p>
        </p:txBody>
      </p:sp>
      <p:sp>
        <p:nvSpPr>
          <p:cNvPr id="51" name="Oval 50"/>
          <p:cNvSpPr/>
          <p:nvPr/>
        </p:nvSpPr>
        <p:spPr>
          <a:xfrm>
            <a:off x="4114800" y="6053328"/>
            <a:ext cx="146304" cy="146304"/>
          </a:xfrm>
          <a:prstGeom prst="ellipse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15968" y="594360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D2A4A"/>
                </a:solidFill>
                <a:latin typeface="Poppins"/>
              </a:rPr>
              <a:t>Mercury</a:t>
            </a:r>
          </a:p>
        </p:txBody>
      </p:sp>
      <p:sp>
        <p:nvSpPr>
          <p:cNvPr id="53" name="Oval 52"/>
          <p:cNvSpPr/>
          <p:nvPr/>
        </p:nvSpPr>
        <p:spPr>
          <a:xfrm>
            <a:off x="5318150" y="6053328"/>
            <a:ext cx="146304" cy="146304"/>
          </a:xfrm>
          <a:prstGeom prst="ellipse">
            <a:avLst/>
          </a:prstGeom>
          <a:solidFill>
            <a:srgbClr val="2E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19318" y="594360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D2A4A"/>
                </a:solidFill>
                <a:latin typeface="Poppins"/>
              </a:rPr>
              <a:t>Stripe</a:t>
            </a:r>
          </a:p>
        </p:txBody>
      </p:sp>
      <p:sp>
        <p:nvSpPr>
          <p:cNvPr id="55" name="Oval 54"/>
          <p:cNvSpPr/>
          <p:nvPr/>
        </p:nvSpPr>
        <p:spPr>
          <a:xfrm>
            <a:off x="6441033" y="6053328"/>
            <a:ext cx="146304" cy="146304"/>
          </a:xfrm>
          <a:prstGeom prst="ellipse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42201" y="594360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D2A4A"/>
                </a:solidFill>
                <a:latin typeface="Poppins"/>
              </a:rPr>
              <a:t>App Store LIVE</a:t>
            </a:r>
          </a:p>
        </p:txBody>
      </p:sp>
      <p:sp>
        <p:nvSpPr>
          <p:cNvPr id="57" name="Oval 56"/>
          <p:cNvSpPr/>
          <p:nvPr/>
        </p:nvSpPr>
        <p:spPr>
          <a:xfrm>
            <a:off x="8207654" y="6053328"/>
            <a:ext cx="146304" cy="146304"/>
          </a:xfrm>
          <a:prstGeom prst="ellipse">
            <a:avLst/>
          </a:prstGeom>
          <a:solidFill>
            <a:srgbClr val="2D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08822" y="594360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D2A4A"/>
                </a:solidFill>
                <a:latin typeface="Poppins"/>
              </a:rPr>
              <a:t>First Real $1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4A468F"/>
                </a:solidFill>
                <a:latin typeface="Poppins"/>
              </a:rPr>
              <a:t>MONTH 1  •  AUGUST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8778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2D2A4A"/>
                </a:solidFill>
                <a:latin typeface="Poppins"/>
              </a:rPr>
              <a:t>The Explosion</a:t>
            </a:r>
          </a:p>
        </p:txBody>
      </p:sp>
      <p:sp>
        <p:nvSpPr>
          <p:cNvPr id="6" name="Oval 5"/>
          <p:cNvSpPr/>
          <p:nvPr/>
        </p:nvSpPr>
        <p:spPr>
          <a:xfrm>
            <a:off x="9784080" y="548640"/>
            <a:ext cx="1828800" cy="1828800"/>
          </a:xfrm>
          <a:prstGeom prst="ellipse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Poppins"/>
              </a:rPr>
              <a:t>106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Poppins"/>
              </a:rPr>
              <a:t>commits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4028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1">
                <a:solidFill>
                  <a:srgbClr val="2D2A4A"/>
                </a:solidFill>
                <a:latin typeface="Poppins"/>
              </a:rPr>
              <a:t>First commit: August 3, 2025.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D2A4A"/>
                </a:solidFill>
                <a:latin typeface="Poppins"/>
              </a:rPr>
              <a:t>Core app, purple brand, and crypto round-ups — built in the FIRST WEEKEND.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D2A4A"/>
                </a:solidFill>
                <a:latin typeface="Poppins"/>
              </a:rPr>
              <a:t>By August 12: database, bank linking, PIN security, and the round-up engine.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D2A4A"/>
                </a:solidFill>
                <a:latin typeface="Poppins"/>
              </a:rPr>
              <a:t>Day 11: iPhone app development begins.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D2A4A"/>
                </a:solidFill>
                <a:latin typeface="Poppins"/>
              </a:rPr>
              <a:t>A first iOS app (“Dime Time Technologies”) starts taking shape — ~60 commits of work that won't survive the year.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9436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A468F"/>
                </a:solidFill>
                <a:latin typeface="Poppins"/>
              </a:rPr>
              <a:t>Tip for the live talk: drop an early app screenshot here — primitive beginnings make the finished product hit harder.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D6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4A468F"/>
                </a:solidFill>
                <a:latin typeface="Poppins"/>
              </a:rPr>
              <a:t>MONTH 2  •  SEPTEMBER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8778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2D2A4A"/>
                </a:solidFill>
                <a:latin typeface="Poppins"/>
              </a:rPr>
              <a:t>Biggest Month. First Heartbreak.</a:t>
            </a:r>
          </a:p>
        </p:txBody>
      </p:sp>
      <p:sp>
        <p:nvSpPr>
          <p:cNvPr id="6" name="Oval 5"/>
          <p:cNvSpPr/>
          <p:nvPr/>
        </p:nvSpPr>
        <p:spPr>
          <a:xfrm>
            <a:off x="9784080" y="548640"/>
            <a:ext cx="1828800" cy="1828800"/>
          </a:xfrm>
          <a:prstGeom prst="ellipse">
            <a:avLst/>
          </a:prstGeom>
          <a:solidFill>
            <a:srgbClr val="D6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Poppins"/>
              </a:rPr>
              <a:t>206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Poppins"/>
              </a:rPr>
              <a:t>commits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6035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2D2A4A"/>
                </a:solidFill>
                <a:latin typeface="Poppins"/>
              </a:rPr>
              <a:t>Lavender brand locked in. Legal agreements. Analytics.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2D2A4A"/>
                </a:solidFill>
                <a:latin typeface="Poppins"/>
              </a:rPr>
              <a:t>Sila Money wired up as the ACH test sandbox — then quoted $5,000/month. Never viable.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D2A4A"/>
                </a:solidFill>
                <a:latin typeface="Poppins"/>
              </a:rPr>
              <a:t>TestFlight, CI/CD pipeline, and encryption all arrive the same month.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2011680"/>
            <a:ext cx="4572000" cy="3931920"/>
          </a:xfrm>
          <a:prstGeom prst="roundRect">
            <a:avLst/>
          </a:prstGeom>
          <a:solidFill>
            <a:srgbClr val="F5F4FE"/>
          </a:solidFill>
          <a:ln w="25400">
            <a:solidFill>
              <a:srgbClr val="D6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0" y="2286000"/>
            <a:ext cx="4023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2D2A4A"/>
                </a:solidFill>
                <a:latin typeface="Poppins"/>
              </a:rPr>
              <a:t>SEPTEMBER 19</a:t>
            </a:r>
          </a:p>
          <a:p>
            <a:pPr algn="ctr">
              <a:spcAft>
                <a:spcPts val="200"/>
              </a:spcAft>
            </a:pPr>
            <a:r>
              <a:rPr sz="1800" b="0">
                <a:solidFill>
                  <a:srgbClr val="4A468F"/>
                </a:solidFill>
                <a:latin typeface="Poppins"/>
              </a:rPr>
              <a:t>Founder's Birthday</a:t>
            </a:r>
          </a:p>
          <a:p>
            <a:pPr algn="ctr">
              <a:spcAft>
                <a:spcPts val="1000"/>
              </a:spcAft>
            </a:pPr>
            <a:r>
              <a:rPr sz="1800" b="0">
                <a:solidFill>
                  <a:srgbClr val="4A468F"/>
                </a:solidFill>
                <a:latin typeface="Poppins"/>
              </a:rPr>
              <a:t>First App Submitted to Apple</a:t>
            </a:r>
          </a:p>
          <a:p>
            <a:pPr algn="ctr">
              <a:spcAft>
                <a:spcPts val="800"/>
              </a:spcAft>
            </a:pPr>
            <a:r>
              <a:rPr sz="5400" b="1">
                <a:solidFill>
                  <a:srgbClr val="D63A3A"/>
                </a:solidFill>
                <a:latin typeface="Poppins"/>
              </a:rPr>
              <a:t>REJECTED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2D2A4A"/>
                </a:solidFill>
                <a:latin typeface="Poppins"/>
              </a:rPr>
              <a:t>TestFlight opened to a blank landing page. Weeks of fixes couldn't save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4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C9C7F9"/>
                </a:solidFill>
                <a:latin typeface="Poppins"/>
              </a:rPr>
              <a:t>MONTHS 3–5  •  OCTOBER – DECEMBER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7600" b="1">
                <a:solidFill>
                  <a:srgbClr val="FFFFFF"/>
                </a:solidFill>
                <a:latin typeface="Poppins"/>
              </a:rPr>
              <a:t>372 COMMITS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3200" b="1">
                <a:solidFill>
                  <a:srgbClr val="918EF4"/>
                </a:solidFill>
                <a:latin typeface="Poppins"/>
              </a:rPr>
              <a:t>Three Months. Complete Rebuild.</a:t>
            </a: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Poppins"/>
              </a:rPr>
              <a:t>First app scrapped. iOS project reborn under a new identity.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0">
                <a:solidFill>
                  <a:srgbClr val="C9C7F9"/>
                </a:solidFill>
                <a:latin typeface="Poppins"/>
              </a:rPr>
              <a:t>Certificates. Provisioning profiles. Signed builds. The exact machinery that broke the first app — rebuilt properly this time.</a:t>
            </a:r>
          </a:p>
          <a:p>
            <a:pPr algn="ctr">
              <a:spcAft>
                <a:spcPts val="600"/>
              </a:spcAft>
            </a:pPr>
            <a:r>
              <a:rPr sz="1800" b="1">
                <a:solidFill>
                  <a:srgbClr val="E8B84B"/>
                </a:solidFill>
                <a:latin typeface="Poppins"/>
              </a:rPr>
              <a:t>December's log: “Build application archive and export successfully.”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4A468F"/>
                </a:solidFill>
                <a:latin typeface="Poppins"/>
              </a:rPr>
              <a:t>MONTHS 6–7  •  JANUARY – FEBRUARY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8778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2D2A4A"/>
                </a:solidFill>
                <a:latin typeface="Poppins"/>
              </a:rPr>
              <a:t>The Quiet Grind</a:t>
            </a:r>
          </a:p>
        </p:txBody>
      </p:sp>
      <p:sp>
        <p:nvSpPr>
          <p:cNvPr id="6" name="Oval 5"/>
          <p:cNvSpPr/>
          <p:nvPr/>
        </p:nvSpPr>
        <p:spPr>
          <a:xfrm>
            <a:off x="9784080" y="548640"/>
            <a:ext cx="1828800" cy="1828800"/>
          </a:xfrm>
          <a:prstGeom prst="ellipse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Poppins"/>
              </a:rPr>
              <a:t>34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Poppins"/>
              </a:rPr>
              <a:t>commits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4028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1">
                <a:solidFill>
                  <a:srgbClr val="2D2A4A"/>
                </a:solidFill>
                <a:latin typeface="Poppins"/>
              </a:rPr>
              <a:t>Lowest commit counts of the year. Highest-stakes work of the year.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D2A4A"/>
                </a:solidFill>
                <a:latin typeface="Poppins"/>
              </a:rPr>
              <a:t>Face ID + PIN app lock. Encrypted tokens. Hardened passwords. Rate limiting.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D2A4A"/>
                </a:solidFill>
                <a:latin typeface="Poppins"/>
              </a:rPr>
              <a:t>The unglamorous security work fintechs live or die on.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D2A4A"/>
                </a:solidFill>
                <a:latin typeface="Poppins"/>
              </a:rPr>
              <a:t>February 21: the first patent documentation enters the project.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D2A4A"/>
                </a:solidFill>
                <a:latin typeface="Poppins"/>
              </a:rPr>
              <a:t>All of it built nights and weekends around a 30–40 hour/week sommelier job.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4A468F"/>
                </a:solidFill>
                <a:latin typeface="Poppins"/>
              </a:rPr>
              <a:t>MONTH 8  •  MARCH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8778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2D2A4A"/>
                </a:solidFill>
                <a:latin typeface="Poppins"/>
              </a:rPr>
              <a:t>The Bank That Said Yes</a:t>
            </a:r>
          </a:p>
        </p:txBody>
      </p:sp>
      <p:sp>
        <p:nvSpPr>
          <p:cNvPr id="6" name="Oval 5"/>
          <p:cNvSpPr/>
          <p:nvPr/>
        </p:nvSpPr>
        <p:spPr>
          <a:xfrm>
            <a:off x="9784080" y="548640"/>
            <a:ext cx="1828800" cy="1828800"/>
          </a:xfrm>
          <a:prstGeom prst="ellipse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Poppins"/>
              </a:rPr>
              <a:t>31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Poppins"/>
              </a:rPr>
              <a:t>commits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48840"/>
            <a:ext cx="493776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400" b="1">
                <a:solidFill>
                  <a:srgbClr val="D63A3A"/>
                </a:solidFill>
                <a:latin typeface="Poppins"/>
              </a:rPr>
              <a:t>✗  Axos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08960"/>
            <a:ext cx="493776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400" b="1">
                <a:solidFill>
                  <a:srgbClr val="D63A3A"/>
                </a:solidFill>
                <a:latin typeface="Poppins"/>
              </a:rPr>
              <a:t>✗  Brex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069080"/>
            <a:ext cx="493776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400" b="1">
                <a:solidFill>
                  <a:srgbClr val="D63A3A"/>
                </a:solidFill>
                <a:latin typeface="Poppins"/>
              </a:rPr>
              <a:t>✗  Two more banks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029200"/>
            <a:ext cx="4937760" cy="777240"/>
          </a:xfrm>
          <a:prstGeom prst="roundRect">
            <a:avLst/>
          </a:prstGeom>
          <a:solidFill>
            <a:srgbClr val="2E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400" b="1">
                <a:solidFill>
                  <a:srgbClr val="FFFFFF"/>
                </a:solidFill>
                <a:latin typeface="Poppins"/>
              </a:rPr>
              <a:t>✓  MERCURY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286000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>
                <a:solidFill>
                  <a:srgbClr val="2D2A4A"/>
                </a:solidFill>
                <a:latin typeface="Poppins"/>
              </a:rPr>
              <a:t>Business banking was a wall of rejections — until Mercury said yes.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2D2A4A"/>
                </a:solidFill>
                <a:latin typeface="Poppins"/>
              </a:rPr>
              <a:t>March 28: Mercury becomes Dime Time's business bank. Sila's sandbox era ends. Plaid moves to production.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4A468F"/>
                </a:solidFill>
                <a:latin typeface="Poppins"/>
              </a:rPr>
              <a:t>The money infrastructure takes its final shape.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4A468F"/>
                </a:solidFill>
                <a:latin typeface="Poppins"/>
              </a:rPr>
              <a:t>MONTHS 9–10  •  APRIL – MAY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8778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2D2A4A"/>
                </a:solidFill>
                <a:latin typeface="Poppins"/>
              </a:rPr>
              <a:t>Finding the Rails</a:t>
            </a:r>
          </a:p>
        </p:txBody>
      </p:sp>
      <p:sp>
        <p:nvSpPr>
          <p:cNvPr id="6" name="Oval 5"/>
          <p:cNvSpPr/>
          <p:nvPr/>
        </p:nvSpPr>
        <p:spPr>
          <a:xfrm>
            <a:off x="9784080" y="548640"/>
            <a:ext cx="1828800" cy="1828800"/>
          </a:xfrm>
          <a:prstGeom prst="ellipse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Poppins"/>
              </a:rPr>
              <a:t>108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Poppins"/>
              </a:rPr>
              <a:t>commits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03120"/>
            <a:ext cx="502920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6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31720"/>
            <a:ext cx="4480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D63A3A"/>
                </a:solidFill>
                <a:latin typeface="Poppins"/>
              </a:rPr>
              <a:t>Plaid said no.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D2A4A"/>
                </a:solidFill>
                <a:latin typeface="Poppins"/>
              </a:rPr>
              <a:t>Rejected for ACH transfers. Dwolla and others evaluated next.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03120"/>
            <a:ext cx="5029200" cy="1920240"/>
          </a:xfrm>
          <a:prstGeom prst="roundRect">
            <a:avLst/>
          </a:prstGeom>
          <a:solidFill>
            <a:srgbClr val="2E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331720"/>
            <a:ext cx="4480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Poppins"/>
              </a:rPr>
              <a:t>Stripe said yes.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Poppins"/>
              </a:rPr>
              <a:t>May 27, 2026: payment rails secured. Money movement had a home.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4340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2D2A4A"/>
                </a:solidFill>
                <a:latin typeface="Poppins"/>
              </a:rPr>
              <a:t>Also this stretch:  D-U-N-S number  •  provisional patent drafted (USPTO-ready)  •  patent deck + business plan  •  new marketing site with legal pages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A468F"/>
                </a:solidFill>
                <a:latin typeface="Poppins"/>
              </a:rPr>
              <a:t>And a security scare handled by the book — an internal config slip exposed an encryption key inside the project (never externally). Treated as compromised anyway: new key, every credential re-encrypted, zero user impact.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Poppins"/>
              </a:rPr>
              <a:t>MONTH 11  •  JUNE 2026  •  105 COMMITS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9600" b="1">
                <a:solidFill>
                  <a:srgbClr val="FFFFFF"/>
                </a:solidFill>
                <a:latin typeface="Poppins"/>
              </a:rPr>
              <a:t>JUNE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2D2A4A"/>
                </a:solidFill>
                <a:latin typeface="Poppins"/>
              </a:rPr>
              <a:t>DIME TIME GOES LIVE ON THE APPLE APP 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Poppins"/>
              </a:rPr>
              <a:t>Apple's last punch — a “duplicate app” rejection caused by the first app's ghost record — cleared through the Resolution Center.</a:t>
            </a:r>
          </a:p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D2A4A"/>
                </a:solidFill>
                <a:latin typeface="Poppins"/>
              </a:rPr>
              <a:t>283 days after the birthday rejection, the answer flipped to yes.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4A468F"/>
                </a:solidFill>
                <a:latin typeface="Poppins"/>
              </a:rPr>
              <a:t>MONTH 12  •  JULY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8778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2D2A4A"/>
                </a:solidFill>
                <a:latin typeface="Poppins"/>
              </a:rPr>
              <a:t>Real Money</a:t>
            </a:r>
          </a:p>
        </p:txBody>
      </p:sp>
      <p:sp>
        <p:nvSpPr>
          <p:cNvPr id="6" name="Oval 5"/>
          <p:cNvSpPr/>
          <p:nvPr/>
        </p:nvSpPr>
        <p:spPr>
          <a:xfrm>
            <a:off x="9784080" y="548640"/>
            <a:ext cx="1828800" cy="1828800"/>
          </a:xfrm>
          <a:prstGeom prst="ellipse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Poppins"/>
              </a:rPr>
              <a:t>137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Poppins"/>
              </a:rPr>
              <a:t>commits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2057400" cy="1737360"/>
          </a:xfrm>
          <a:prstGeom prst="round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Poppins"/>
              </a:rPr>
              <a:t>$1.00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Poppins"/>
              </a:rPr>
              <a:t>Real ACH debit — the founder's own account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42616" y="2880360"/>
            <a:ext cx="4206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2D2A4A"/>
                </a:solidFill>
                <a:latin typeface="Poppin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90087" y="2286000"/>
            <a:ext cx="2057400" cy="1737360"/>
          </a:xfrm>
          <a:prstGeom prst="round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Poppins"/>
              </a:rPr>
              <a:t>CHASE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Poppins"/>
              </a:rPr>
              <a:t>Pulled from a real consumer bank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2624" y="2880360"/>
            <a:ext cx="4206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2D2A4A"/>
                </a:solidFill>
                <a:latin typeface="Poppin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0096" y="2286000"/>
            <a:ext cx="2057400" cy="1737360"/>
          </a:xfrm>
          <a:prstGeom prst="round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Poppins"/>
              </a:rPr>
              <a:t>STRIPE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Poppins"/>
              </a:rPr>
              <a:t>Processed on live payment rails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42631" y="2880360"/>
            <a:ext cx="4206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2D2A4A"/>
                </a:solidFill>
                <a:latin typeface="Poppin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90104" y="2286000"/>
            <a:ext cx="2057400" cy="1737360"/>
          </a:xfrm>
          <a:prstGeom prst="round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Poppins"/>
              </a:rPr>
              <a:t>MERCURY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Poppins"/>
              </a:rPr>
              <a:t>Settled into the business bank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2880360"/>
            <a:ext cx="4206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2D2A4A"/>
                </a:solidFill>
                <a:latin typeface="Poppin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40112" y="2286000"/>
            <a:ext cx="2057400" cy="1737360"/>
          </a:xfrm>
          <a:prstGeom prst="roundRect">
            <a:avLst/>
          </a:prstGeom>
          <a:solidFill>
            <a:srgbClr val="2E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Poppins"/>
              </a:rPr>
              <a:t>PROVEN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Poppins"/>
              </a:rPr>
              <a:t>“DIME TIME LLC” on a real bank statement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72000"/>
            <a:ext cx="10789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4A468F"/>
                </a:solidFill>
                <a:latin typeface="Poppins"/>
              </a:rPr>
              <a:t>July 7–8: initiated  •  July 13–14: settled  •  July 15: payout landed in Mercury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D2A4A"/>
                </a:solidFill>
                <a:latin typeface="Poppins"/>
              </a:rPr>
              <a:t>Also this month: v1.0.4 redesign approved by Apple, admin money controls, automatic debt import built, AI-readable web guides.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2D2A4A"/>
                </a:solidFill>
                <a:latin typeface="Poppins"/>
              </a:rPr>
              <a:t>The machine works — proven with real money, 346 days after the first commit.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4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C9C7F9"/>
                </a:solidFill>
                <a:latin typeface="Poppins"/>
              </a:rPr>
              <a:t>WHY DIME TIME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200"/>
              </a:spcAft>
            </a:pPr>
            <a:r>
              <a:rPr sz="3400" b="1">
                <a:solidFill>
                  <a:srgbClr val="FFFFFF"/>
                </a:solidFill>
                <a:latin typeface="Poppins"/>
              </a:rPr>
              <a:t>Americans carry trillions of dollars of consumer debt.</a:t>
            </a:r>
          </a:p>
          <a:p>
            <a:pPr algn="ctr">
              <a:spcAft>
                <a:spcPts val="2200"/>
              </a:spcAft>
            </a:pPr>
            <a:r>
              <a:rPr sz="2600" b="0">
                <a:solidFill>
                  <a:srgbClr val="C9C7F9"/>
                </a:solidFill>
                <a:latin typeface="Poppins"/>
              </a:rPr>
              <a:t>Most financial apps help people save.</a:t>
            </a:r>
          </a:p>
          <a:p>
            <a:pPr algn="ctr">
              <a:spcAft>
                <a:spcPts val="600"/>
              </a:spcAft>
            </a:pPr>
            <a:r>
              <a:rPr sz="3400" b="1">
                <a:solidFill>
                  <a:srgbClr val="918EF4"/>
                </a:solidFill>
                <a:latin typeface="Poppins"/>
              </a:rPr>
              <a:t>Dime Time was built to help people owe less.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4A468F"/>
                </a:solidFill>
                <a:latin typeface="Poppins"/>
              </a:rPr>
              <a:t>THE GAUNTLET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2D2A4A"/>
                </a:solidFill>
                <a:latin typeface="Poppins"/>
              </a:rPr>
              <a:t>Every rejection was a redirect.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5029200" cy="4206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6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148840"/>
            <a:ext cx="4389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>
                <a:solidFill>
                  <a:srgbClr val="D63A3A"/>
                </a:solidFill>
                <a:latin typeface="Poppins"/>
              </a:rPr>
              <a:t>NO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2D2A4A"/>
                </a:solidFill>
                <a:latin typeface="Poppins"/>
              </a:rPr>
              <a:t>✗  Apple — birthday submission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2D2A4A"/>
                </a:solidFill>
                <a:latin typeface="Poppins"/>
              </a:rPr>
              <a:t>✗  Sila — $5,000/month pricing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2D2A4A"/>
                </a:solidFill>
                <a:latin typeface="Poppins"/>
              </a:rPr>
              <a:t>✗  Plaid — ACH transfers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2D2A4A"/>
                </a:solidFill>
                <a:latin typeface="Poppins"/>
              </a:rPr>
              <a:t>✗  Axos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2D2A4A"/>
                </a:solidFill>
                <a:latin typeface="Poppins"/>
              </a:rPr>
              <a:t>✗  Brex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2D2A4A"/>
                </a:solidFill>
                <a:latin typeface="Poppins"/>
              </a:rPr>
              <a:t>✗  Two more banks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920240"/>
            <a:ext cx="5029200" cy="4206240"/>
          </a:xfrm>
          <a:prstGeom prst="roundRect">
            <a:avLst/>
          </a:prstGeom>
          <a:solidFill>
            <a:srgbClr val="2E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2148840"/>
            <a:ext cx="4389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Poppins"/>
              </a:rPr>
              <a:t>YES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FFFFFF"/>
                </a:solidFill>
                <a:latin typeface="Poppins"/>
              </a:rPr>
              <a:t>✓  Mercury — business banking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FFFFFF"/>
                </a:solidFill>
                <a:latin typeface="Poppins"/>
              </a:rPr>
              <a:t>✓  Stripe — payment rails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FFFFFF"/>
                </a:solidFill>
                <a:latin typeface="Poppins"/>
              </a:rPr>
              <a:t>✓  Apple — June 29, 2026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FFFFFF"/>
                </a:solidFill>
                <a:latin typeface="Poppins"/>
              </a:rPr>
              <a:t>✓  USPTO — provisional patent drafted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FFFFFF"/>
                </a:solidFill>
                <a:latin typeface="Poppins"/>
              </a:rPr>
              <a:t>✓  The first real dollar — July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4A468F"/>
                </a:solidFill>
                <a:latin typeface="Poppins"/>
              </a:rPr>
              <a:t>DIME-TIME.COM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2D2A4A"/>
                </a:solidFill>
                <a:latin typeface="Poppins"/>
              </a:rPr>
              <a:t>The Storefront Before the Store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554480" cy="621792"/>
          </a:xfrm>
          <a:prstGeom prst="round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Poppins"/>
              </a:rPr>
              <a:t>Aug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2011679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D2A4A"/>
                </a:solidFill>
                <a:latin typeface="Poppins"/>
              </a:rPr>
              <a:t>Website live with the lavender brand — two weeks after the first commit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70632"/>
            <a:ext cx="1554480" cy="621792"/>
          </a:xfrm>
          <a:prstGeom prst="round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Poppins"/>
              </a:rPr>
              <a:t>Sep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2816351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D2A4A"/>
                </a:solidFill>
                <a:latin typeface="Poppins"/>
              </a:rPr>
              <a:t>Privacy policy, Google Analytics, veteran-owned badges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575303"/>
            <a:ext cx="1554480" cy="621792"/>
          </a:xfrm>
          <a:prstGeom prst="round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Poppins"/>
              </a:rPr>
              <a:t>Oct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3621023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D2A4A"/>
                </a:solidFill>
                <a:latin typeface="Poppins"/>
              </a:rPr>
              <a:t>QR codes handed out at a finance conference — before the app existed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379976"/>
            <a:ext cx="1554480" cy="621792"/>
          </a:xfrm>
          <a:prstGeom prst="round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Poppins"/>
              </a:rPr>
              <a:t>May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4425696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D2A4A"/>
                </a:solidFill>
                <a:latin typeface="Poppins"/>
              </a:rPr>
              <a:t>Full marketing site: FAQ, legal pages, bot-protected contact form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184648"/>
            <a:ext cx="1554480" cy="621792"/>
          </a:xfrm>
          <a:prstGeom prst="round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Poppins"/>
              </a:rPr>
              <a:t>Jul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5230368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D2A4A"/>
                </a:solidFill>
                <a:latin typeface="Poppins"/>
              </a:rPr>
              <a:t>SEO + AI-readable guides — built to be found by Google AND ChatGPT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4A468F"/>
                </a:solidFill>
                <a:latin typeface="Poppins"/>
              </a:rPr>
              <a:t>The storefront existed before the store — and it was already measuring visitors.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Poppins"/>
              </a:rPr>
              <a:t>BY THE NUMBERS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63040"/>
            <a:ext cx="30175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4A468F"/>
                </a:solidFill>
                <a:latin typeface="Poppins"/>
              </a:rPr>
              <a:t>1,160+</a:t>
            </a:r>
          </a:p>
          <a:p>
            <a:pPr algn="ctr"/>
            <a:r>
              <a:rPr sz="1800">
                <a:solidFill>
                  <a:srgbClr val="2D2A4A"/>
                </a:solidFill>
                <a:latin typeface="Poppins"/>
              </a:rPr>
              <a:t>commits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0" y="1463040"/>
            <a:ext cx="30175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4A468F"/>
                </a:solidFill>
                <a:latin typeface="Poppins"/>
              </a:rPr>
              <a:t>35,000+</a:t>
            </a:r>
          </a:p>
          <a:p>
            <a:pPr algn="ctr"/>
            <a:r>
              <a:rPr sz="1800">
                <a:solidFill>
                  <a:srgbClr val="2D2A4A"/>
                </a:solidFill>
                <a:latin typeface="Poppins"/>
              </a:rPr>
              <a:t>lines of 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463040"/>
            <a:ext cx="30175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4A468F"/>
                </a:solidFill>
                <a:latin typeface="Poppins"/>
              </a:rPr>
              <a:t>12</a:t>
            </a:r>
          </a:p>
          <a:p>
            <a:pPr algn="ctr"/>
            <a:r>
              <a:rPr sz="1800">
                <a:solidFill>
                  <a:srgbClr val="2D2A4A"/>
                </a:solidFill>
                <a:latin typeface="Poppins"/>
              </a:rPr>
              <a:t>months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977639"/>
            <a:ext cx="30175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4A468F"/>
                </a:solidFill>
                <a:latin typeface="Poppins"/>
              </a:rPr>
              <a:t>1</a:t>
            </a:r>
          </a:p>
          <a:p>
            <a:pPr algn="ctr"/>
            <a:r>
              <a:rPr sz="1800">
                <a:solidFill>
                  <a:srgbClr val="2D2A4A"/>
                </a:solidFill>
                <a:latin typeface="Poppins"/>
              </a:rPr>
              <a:t>founder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3977639"/>
            <a:ext cx="30175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4A468F"/>
                </a:solidFill>
                <a:latin typeface="Poppins"/>
              </a:rPr>
              <a:t>$0</a:t>
            </a:r>
          </a:p>
          <a:p>
            <a:pPr algn="ctr"/>
            <a:r>
              <a:rPr sz="1800">
                <a:solidFill>
                  <a:srgbClr val="2D2A4A"/>
                </a:solidFill>
                <a:latin typeface="Poppins"/>
              </a:rPr>
              <a:t>raised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3977639"/>
            <a:ext cx="30175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4A468F"/>
                </a:solidFill>
                <a:latin typeface="Poppins"/>
              </a:rPr>
              <a:t>1</a:t>
            </a:r>
          </a:p>
          <a:p>
            <a:pPr algn="ctr"/>
            <a:r>
              <a:rPr sz="1800">
                <a:solidFill>
                  <a:srgbClr val="2D2A4A"/>
                </a:solidFill>
                <a:latin typeface="Poppins"/>
              </a:rPr>
              <a:t>live fintech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263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Poppins"/>
              </a:rPr>
              <a:t>Built while working 30–40 hours a week on his feet.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4A468F"/>
                </a:solidFill>
                <a:latin typeface="Poppins"/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2D2A4A"/>
                </a:solidFill>
                <a:latin typeface="Poppins"/>
              </a:rPr>
              <a:t>The road from here is measured in users.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743200"/>
            <a:ext cx="2103120" cy="1280160"/>
          </a:xfrm>
          <a:prstGeom prst="roundRect">
            <a:avLst/>
          </a:prstGeom>
          <a:solidFill>
            <a:srgbClr val="C9C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2D2A4A"/>
                </a:solidFill>
                <a:latin typeface="Poppins"/>
              </a:rPr>
              <a:t>100 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88336" y="306324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2D2A4A"/>
                </a:solidFill>
                <a:latin typeface="Poppin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99232" y="2743200"/>
            <a:ext cx="2103120" cy="1280160"/>
          </a:xfrm>
          <a:prstGeom prst="roundRect">
            <a:avLst/>
          </a:prstGeom>
          <a:solidFill>
            <a:srgbClr val="C9C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2D2A4A"/>
                </a:solidFill>
                <a:latin typeface="Poppins"/>
              </a:rPr>
              <a:t>1,000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7488" y="306324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2D2A4A"/>
                </a:solidFill>
                <a:latin typeface="Poppin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58384" y="2743200"/>
            <a:ext cx="2103120" cy="1280160"/>
          </a:xfrm>
          <a:prstGeom prst="round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Poppins"/>
              </a:rPr>
              <a:t>National Launch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306324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2D2A4A"/>
                </a:solidFill>
                <a:latin typeface="Poppin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17536" y="2743200"/>
            <a:ext cx="2103120" cy="1280160"/>
          </a:xfrm>
          <a:prstGeom prst="roundRect">
            <a:avLst/>
          </a:prstGeom>
          <a:solidFill>
            <a:srgbClr val="918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Poppins"/>
              </a:rPr>
              <a:t>Institution Partnerships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65792" y="306324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2D2A4A"/>
                </a:solidFill>
                <a:latin typeface="Poppin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76688" y="2743200"/>
            <a:ext cx="2103120" cy="1280160"/>
          </a:xfrm>
          <a:prstGeom prst="roundRect">
            <a:avLst/>
          </a:prstGeom>
          <a:solidFill>
            <a:srgbClr val="4A4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Poppins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6344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2D2A4A"/>
                </a:solidFill>
                <a:latin typeface="Poppins"/>
              </a:rPr>
              <a:t>Near-term: automatic debt import in production  •  first paying subscribers ($2.99/mo)  •  the public launch announcement.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4A468F"/>
                </a:solidFill>
                <a:latin typeface="Poppins"/>
              </a:rPr>
              <a:t>Positioning: a case study in building a regulated fintech from scratch — while working full-time.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4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64008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286000"/>
            <a:ext cx="10332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Poppins"/>
              </a:rPr>
              <a:t>Built by one person.</a:t>
            </a:r>
          </a:p>
          <a:p>
            <a:pPr algn="ctr">
              <a:spcAft>
                <a:spcPts val="600"/>
              </a:spcAft>
            </a:pPr>
            <a:r>
              <a:rPr sz="3400" b="1">
                <a:solidFill>
                  <a:srgbClr val="C9C7F9"/>
                </a:solidFill>
                <a:latin typeface="Poppins"/>
              </a:rPr>
              <a:t>Nights.</a:t>
            </a:r>
          </a:p>
          <a:p>
            <a:pPr algn="ctr">
              <a:spcAft>
                <a:spcPts val="600"/>
              </a:spcAft>
            </a:pPr>
            <a:r>
              <a:rPr sz="3400" b="1">
                <a:solidFill>
                  <a:srgbClr val="C9C7F9"/>
                </a:solidFill>
                <a:latin typeface="Poppins"/>
              </a:rPr>
              <a:t>Weekends.</a:t>
            </a:r>
          </a:p>
          <a:p>
            <a:pPr algn="ctr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Poppins"/>
              </a:rPr>
              <a:t>Seven rejections.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918EF4"/>
                </a:solidFill>
                <a:latin typeface="Poppins"/>
              </a:rPr>
              <a:t>Still launched.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60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Poppins"/>
              </a:rPr>
              <a:t>dime-time.com   |   Available on the App Store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